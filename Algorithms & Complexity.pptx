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9"/>
  </p:notesMasterIdLst>
  <p:sldIdLst>
    <p:sldId id="256" r:id="rId2"/>
    <p:sldId id="257" r:id="rId3"/>
    <p:sldId id="259" r:id="rId4"/>
    <p:sldId id="260" r:id="rId5"/>
    <p:sldId id="262" r:id="rId6"/>
    <p:sldId id="263" r:id="rId7"/>
    <p:sldId id="261" r:id="rId8"/>
    <p:sldId id="279" r:id="rId9"/>
    <p:sldId id="291" r:id="rId10"/>
    <p:sldId id="264" r:id="rId11"/>
    <p:sldId id="295" r:id="rId12"/>
    <p:sldId id="265" r:id="rId13"/>
    <p:sldId id="266" r:id="rId14"/>
    <p:sldId id="269" r:id="rId15"/>
    <p:sldId id="267" r:id="rId16"/>
    <p:sldId id="268" r:id="rId17"/>
    <p:sldId id="270" r:id="rId18"/>
    <p:sldId id="271" r:id="rId19"/>
    <p:sldId id="272" r:id="rId20"/>
    <p:sldId id="273" r:id="rId21"/>
    <p:sldId id="278" r:id="rId22"/>
    <p:sldId id="277" r:id="rId23"/>
    <p:sldId id="276" r:id="rId24"/>
    <p:sldId id="274" r:id="rId25"/>
    <p:sldId id="280" r:id="rId26"/>
    <p:sldId id="281" r:id="rId27"/>
    <p:sldId id="282" r:id="rId28"/>
    <p:sldId id="283" r:id="rId29"/>
    <p:sldId id="286" r:id="rId30"/>
    <p:sldId id="287" r:id="rId31"/>
    <p:sldId id="289" r:id="rId32"/>
    <p:sldId id="288" r:id="rId33"/>
    <p:sldId id="290" r:id="rId34"/>
    <p:sldId id="294" r:id="rId35"/>
    <p:sldId id="296" r:id="rId36"/>
    <p:sldId id="297" r:id="rId37"/>
    <p:sldId id="298" r:id="rId38"/>
    <p:sldId id="300" r:id="rId39"/>
    <p:sldId id="301" r:id="rId40"/>
    <p:sldId id="302" r:id="rId41"/>
    <p:sldId id="303" r:id="rId42"/>
    <p:sldId id="304" r:id="rId43"/>
    <p:sldId id="305" r:id="rId44"/>
    <p:sldId id="307" r:id="rId45"/>
    <p:sldId id="310" r:id="rId46"/>
    <p:sldId id="311" r:id="rId47"/>
    <p:sldId id="312" r:id="rId48"/>
  </p:sldIdLst>
  <p:sldSz cx="18288000" cy="10287000"/>
  <p:notesSz cx="6858000" cy="9144000"/>
  <p:embeddedFontLst>
    <p:embeddedFont>
      <p:font typeface="Bahnschrift" panose="020B0502040204020203" pitchFamily="34" charset="0"/>
      <p:regular r:id="rId50"/>
      <p:bold r:id="rId51"/>
    </p:embeddedFont>
    <p:embeddedFont>
      <p:font typeface="Cambria Math" panose="02040503050406030204" pitchFamily="18" charset="0"/>
      <p:regular r:id="rId52"/>
    </p:embeddedFont>
    <p:embeddedFont>
      <p:font typeface="Heading Now 31-38 Bold" panose="020B0604020202020204" charset="0"/>
      <p:regular r:id="rId5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5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874" y="31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1A0EE8-1CF9-4182-8D53-0CFDBF66DE27}" type="datetimeFigureOut">
              <a:rPr lang="en-PH" smtClean="0"/>
              <a:t>2/6/2026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D815A7-BCB3-4979-8B39-68FCA901DECC}" type="slidenum">
              <a:rPr lang="en-PH" smtClean="0"/>
              <a:t>‹#›</a:t>
            </a:fld>
            <a:endParaRPr lang="en-PH"/>
          </a:p>
        </p:txBody>
      </p:sp>
    </p:spTree>
    <p:extLst>
      <p:ext uri="{BB962C8B-B14F-4D97-AF65-F5344CB8AC3E}">
        <p14:creationId xmlns:p14="http://schemas.microsoft.com/office/powerpoint/2010/main" val="39015002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9ED815A7-BCB3-4979-8B39-68FCA901DECC}" type="slidenum">
              <a:rPr lang="en-PH" smtClean="0"/>
              <a:t>19</a:t>
            </a:fld>
            <a:endParaRPr lang="en-PH"/>
          </a:p>
        </p:txBody>
      </p:sp>
    </p:spTree>
    <p:extLst>
      <p:ext uri="{BB962C8B-B14F-4D97-AF65-F5344CB8AC3E}">
        <p14:creationId xmlns:p14="http://schemas.microsoft.com/office/powerpoint/2010/main" val="35610329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9ED815A7-BCB3-4979-8B39-68FCA901DECC}" type="slidenum">
              <a:rPr lang="en-PH" smtClean="0"/>
              <a:t>30</a:t>
            </a:fld>
            <a:endParaRPr lang="en-PH"/>
          </a:p>
        </p:txBody>
      </p:sp>
    </p:spTree>
    <p:extLst>
      <p:ext uri="{BB962C8B-B14F-4D97-AF65-F5344CB8AC3E}">
        <p14:creationId xmlns:p14="http://schemas.microsoft.com/office/powerpoint/2010/main" val="1404884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DD21E-AE6A-25E7-C94B-3A70E42A31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69534D-A080-BCDD-BD99-2267196E92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25D1D5-3608-71A8-06F6-5B4A88D7BB69}"/>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2339A3CE-5DC3-69C9-F5D7-D962FB9673CF}"/>
              </a:ext>
            </a:extLst>
          </p:cNvPr>
          <p:cNvSpPr>
            <a:spLocks noGrp="1"/>
          </p:cNvSpPr>
          <p:nvPr>
            <p:ph type="sldNum" sz="quarter" idx="5"/>
          </p:nvPr>
        </p:nvSpPr>
        <p:spPr/>
        <p:txBody>
          <a:bodyPr/>
          <a:lstStyle/>
          <a:p>
            <a:fld id="{9ED815A7-BCB3-4979-8B39-68FCA901DECC}" type="slidenum">
              <a:rPr lang="en-PH" smtClean="0"/>
              <a:t>31</a:t>
            </a:fld>
            <a:endParaRPr lang="en-PH"/>
          </a:p>
        </p:txBody>
      </p:sp>
    </p:spTree>
    <p:extLst>
      <p:ext uri="{BB962C8B-B14F-4D97-AF65-F5344CB8AC3E}">
        <p14:creationId xmlns:p14="http://schemas.microsoft.com/office/powerpoint/2010/main" val="37343160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BD1F4-1AA1-34F9-A8E9-CCC21EA60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1A4827-9A8B-D4C1-9D75-7D79596D02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4AF6D9-24B7-3BF5-22CA-969B6658C42D}"/>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02A17100-FA03-830E-EF2F-6778608A883C}"/>
              </a:ext>
            </a:extLst>
          </p:cNvPr>
          <p:cNvSpPr>
            <a:spLocks noGrp="1"/>
          </p:cNvSpPr>
          <p:nvPr>
            <p:ph type="sldNum" sz="quarter" idx="5"/>
          </p:nvPr>
        </p:nvSpPr>
        <p:spPr/>
        <p:txBody>
          <a:bodyPr/>
          <a:lstStyle/>
          <a:p>
            <a:fld id="{9ED815A7-BCB3-4979-8B39-68FCA901DECC}" type="slidenum">
              <a:rPr lang="en-PH" smtClean="0"/>
              <a:t>32</a:t>
            </a:fld>
            <a:endParaRPr lang="en-PH"/>
          </a:p>
        </p:txBody>
      </p:sp>
    </p:spTree>
    <p:extLst>
      <p:ext uri="{BB962C8B-B14F-4D97-AF65-F5344CB8AC3E}">
        <p14:creationId xmlns:p14="http://schemas.microsoft.com/office/powerpoint/2010/main" val="27661125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9ED815A7-BCB3-4979-8B39-68FCA901DECC}" type="slidenum">
              <a:rPr lang="en-PH" smtClean="0"/>
              <a:t>37</a:t>
            </a:fld>
            <a:endParaRPr lang="en-PH"/>
          </a:p>
        </p:txBody>
      </p:sp>
    </p:spTree>
    <p:extLst>
      <p:ext uri="{BB962C8B-B14F-4D97-AF65-F5344CB8AC3E}">
        <p14:creationId xmlns:p14="http://schemas.microsoft.com/office/powerpoint/2010/main" val="37226545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hyperlink" Target="https://www.google.com/search?sca_esv=7da175bd9b925cd1&amp;sxsrf=ANbL-n4bZbUfS2Rjji9ungDDKss2EMMhQw%3A1770154273824&amp;q=Alan+Turing&amp;source=lnms&amp;fbs=ADc_l-bZnt6jMmErT-KRarIgXyuyzQTJF2PfkaOcTEalUPOVQOtlzownaoM46W2pScWjtBcKyqainOvZFRcARZ91nyFV48q8DPbYg6jH3VI7vPCEPKmiI_H3YyfVsJcTpAiu53JOpaSAJB3VmeyMwLL6vuf2XVetiUvFsr3ST8udGZmMn2RNVIBG_-ddt-3PaZkH7X5aJosmPJc7-d_sG8pvk_AHCWQ_LomiDCWg0BXaaX-i71MC2a0&amp;sa=X&amp;ved=2ahUKEwjMw7nto76SAxXVqVYBHav1FdQQgK4QegYIAQgAEAY&amp;biw=767&amp;bih=791&amp;dpr=1.25&amp;aic=0" TargetMode="External"/><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56E"/>
        </a:solidFill>
        <a:effectLst/>
      </p:bgPr>
    </p:bg>
    <p:spTree>
      <p:nvGrpSpPr>
        <p:cNvPr id="1" name=""/>
        <p:cNvGrpSpPr/>
        <p:nvPr/>
      </p:nvGrpSpPr>
      <p:grpSpPr>
        <a:xfrm>
          <a:off x="0" y="0"/>
          <a:ext cx="0" cy="0"/>
          <a:chOff x="0" y="0"/>
          <a:chExt cx="0" cy="0"/>
        </a:xfrm>
      </p:grpSpPr>
      <p:sp>
        <p:nvSpPr>
          <p:cNvPr id="2" name="Freeform 2"/>
          <p:cNvSpPr/>
          <p:nvPr/>
        </p:nvSpPr>
        <p:spPr>
          <a:xfrm rot="-1235434">
            <a:off x="5898947" y="-271115"/>
            <a:ext cx="14631364" cy="11503910"/>
          </a:xfrm>
          <a:custGeom>
            <a:avLst/>
            <a:gdLst/>
            <a:ahLst/>
            <a:cxnLst/>
            <a:rect l="l" t="t" r="r" b="b"/>
            <a:pathLst>
              <a:path w="14631364" h="11503910">
                <a:moveTo>
                  <a:pt x="0" y="0"/>
                </a:moveTo>
                <a:lnTo>
                  <a:pt x="14631363" y="0"/>
                </a:lnTo>
                <a:lnTo>
                  <a:pt x="14631363" y="11503910"/>
                </a:lnTo>
                <a:lnTo>
                  <a:pt x="0" y="11503910"/>
                </a:lnTo>
                <a:lnTo>
                  <a:pt x="0" y="0"/>
                </a:lnTo>
                <a:close/>
              </a:path>
            </a:pathLst>
          </a:custGeom>
          <a:blipFill>
            <a:blip r:embed="rId2"/>
            <a:stretch>
              <a:fillRect/>
            </a:stretch>
          </a:blipFill>
        </p:spPr>
      </p:sp>
      <p:sp>
        <p:nvSpPr>
          <p:cNvPr id="3" name="TextBox 3"/>
          <p:cNvSpPr txBox="1"/>
          <p:nvPr/>
        </p:nvSpPr>
        <p:spPr>
          <a:xfrm>
            <a:off x="728703" y="876300"/>
            <a:ext cx="8682795" cy="4286250"/>
          </a:xfrm>
          <a:prstGeom prst="rect">
            <a:avLst/>
          </a:prstGeom>
        </p:spPr>
        <p:txBody>
          <a:bodyPr lIns="0" tIns="0" rIns="0" bIns="0" rtlCol="0" anchor="t">
            <a:spAutoFit/>
          </a:bodyPr>
          <a:lstStyle/>
          <a:p>
            <a:pPr algn="l">
              <a:lnSpc>
                <a:spcPts val="15000"/>
              </a:lnSpc>
            </a:pPr>
            <a:r>
              <a:rPr lang="en-US" sz="15000" b="1" dirty="0">
                <a:solidFill>
                  <a:srgbClr val="000000"/>
                </a:solidFill>
                <a:latin typeface="Heading Now 31-38 Bold"/>
                <a:ea typeface="Heading Now 31-38 Bold"/>
                <a:cs typeface="Heading Now 31-38 Bold"/>
                <a:sym typeface="Heading Now 31-38 Bold"/>
              </a:rPr>
              <a:t>ALGORITHMS &amp;</a:t>
            </a:r>
          </a:p>
          <a:p>
            <a:pPr algn="l">
              <a:lnSpc>
                <a:spcPts val="15000"/>
              </a:lnSpc>
            </a:pPr>
            <a:r>
              <a:rPr lang="en-US" sz="15000" b="1" dirty="0">
                <a:solidFill>
                  <a:srgbClr val="000000"/>
                </a:solidFill>
                <a:latin typeface="Heading Now 31-38 Bold"/>
                <a:ea typeface="Heading Now 31-38 Bold"/>
                <a:cs typeface="Heading Now 31-38 Bold"/>
                <a:sym typeface="Heading Now 31-38 Bold"/>
              </a:rPr>
              <a:t>COMPLEXITY</a:t>
            </a:r>
          </a:p>
        </p:txBody>
      </p:sp>
      <p:sp>
        <p:nvSpPr>
          <p:cNvPr id="4" name="TextBox 4"/>
          <p:cNvSpPr txBox="1"/>
          <p:nvPr/>
        </p:nvSpPr>
        <p:spPr>
          <a:xfrm>
            <a:off x="861897" y="349139"/>
            <a:ext cx="3071331" cy="789835"/>
          </a:xfrm>
          <a:prstGeom prst="rect">
            <a:avLst/>
          </a:prstGeom>
        </p:spPr>
        <p:txBody>
          <a:bodyPr lIns="0" tIns="0" rIns="0" bIns="0" rtlCol="0" anchor="t">
            <a:spAutoFit/>
          </a:bodyPr>
          <a:lstStyle/>
          <a:p>
            <a:pPr algn="l">
              <a:lnSpc>
                <a:spcPts val="5059"/>
              </a:lnSpc>
            </a:pPr>
            <a:r>
              <a:rPr lang="en-US" sz="5059" b="1">
                <a:solidFill>
                  <a:srgbClr val="000000"/>
                </a:solidFill>
                <a:latin typeface="Heading Now 31-38 Bold"/>
                <a:ea typeface="Heading Now 31-38 Bold"/>
                <a:cs typeface="Heading Now 31-38 Bold"/>
                <a:sym typeface="Heading Now 31-38 Bold"/>
              </a:rPr>
              <a:t>CSP05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56E"/>
        </a:solidFill>
        <a:effectLst/>
      </p:bgPr>
    </p:bg>
    <p:spTree>
      <p:nvGrpSpPr>
        <p:cNvPr id="1" name=""/>
        <p:cNvGrpSpPr/>
        <p:nvPr/>
      </p:nvGrpSpPr>
      <p:grpSpPr>
        <a:xfrm>
          <a:off x="0" y="0"/>
          <a:ext cx="0" cy="0"/>
          <a:chOff x="0" y="0"/>
          <a:chExt cx="0" cy="0"/>
        </a:xfrm>
      </p:grpSpPr>
      <p:sp>
        <p:nvSpPr>
          <p:cNvPr id="2" name="TextBox 2"/>
          <p:cNvSpPr txBox="1"/>
          <p:nvPr/>
        </p:nvSpPr>
        <p:spPr>
          <a:xfrm>
            <a:off x="762000" y="4610100"/>
            <a:ext cx="8682795" cy="2000932"/>
          </a:xfrm>
          <a:prstGeom prst="rect">
            <a:avLst/>
          </a:prstGeom>
        </p:spPr>
        <p:txBody>
          <a:bodyPr lIns="0" tIns="0" rIns="0" bIns="0" rtlCol="0" anchor="t">
            <a:spAutoFit/>
          </a:bodyPr>
          <a:lstStyle/>
          <a:p>
            <a:pPr algn="l">
              <a:lnSpc>
                <a:spcPts val="15000"/>
              </a:lnSpc>
            </a:pPr>
            <a:r>
              <a:rPr lang="en-US" sz="18000" b="1" dirty="0">
                <a:solidFill>
                  <a:srgbClr val="000000"/>
                </a:solidFill>
                <a:latin typeface="Heading Now 31-38 Bold"/>
                <a:ea typeface="Heading Now 31-38 Bold"/>
                <a:cs typeface="Heading Now 31-38 Bold"/>
                <a:sym typeface="Heading Now 31-38 Bold"/>
              </a:rPr>
              <a:t>PRELIMS</a:t>
            </a:r>
            <a:endParaRPr lang="en-US" sz="15000" b="1" dirty="0">
              <a:solidFill>
                <a:srgbClr val="000000"/>
              </a:solidFill>
              <a:latin typeface="Heading Now 31-38 Bold"/>
              <a:ea typeface="Heading Now 31-38 Bold"/>
              <a:cs typeface="Heading Now 31-38 Bold"/>
              <a:sym typeface="Heading Now 31-38 Bold"/>
            </a:endParaRPr>
          </a:p>
        </p:txBody>
      </p:sp>
      <p:sp>
        <p:nvSpPr>
          <p:cNvPr id="3" name="TextBox 3"/>
          <p:cNvSpPr txBox="1"/>
          <p:nvPr/>
        </p:nvSpPr>
        <p:spPr>
          <a:xfrm>
            <a:off x="6017798" y="4302804"/>
            <a:ext cx="11432013" cy="614592"/>
          </a:xfrm>
          <a:prstGeom prst="rect">
            <a:avLst/>
          </a:prstGeom>
        </p:spPr>
        <p:txBody>
          <a:bodyPr lIns="0" tIns="0" rIns="0" bIns="0" rtlCol="0" anchor="t">
            <a:spAutoFit/>
          </a:bodyPr>
          <a:lstStyle/>
          <a:p>
            <a:pPr algn="l">
              <a:lnSpc>
                <a:spcPts val="5059"/>
              </a:lnSpc>
              <a:spcBef>
                <a:spcPts val="600"/>
              </a:spcBef>
            </a:pPr>
            <a:r>
              <a:rPr lang="en-US" sz="4000" b="1" dirty="0">
                <a:solidFill>
                  <a:srgbClr val="000000"/>
                </a:solidFill>
                <a:latin typeface="Heading Now 31-38 Bold"/>
                <a:ea typeface="Heading Now 31-38 Bold"/>
                <a:cs typeface="Heading Now 31-38 Bold"/>
                <a:sym typeface="Heading Now 31-38 Bold"/>
              </a:rPr>
              <a:t>CHAPTER I: BASIC CONCEPTS ON ALGORITHMS AND COMPLEXITY</a:t>
            </a:r>
          </a:p>
        </p:txBody>
      </p:sp>
      <p:sp>
        <p:nvSpPr>
          <p:cNvPr id="4" name="TextBox 3">
            <a:extLst>
              <a:ext uri="{FF2B5EF4-FFF2-40B4-BE49-F238E27FC236}">
                <a16:creationId xmlns:a16="http://schemas.microsoft.com/office/drawing/2014/main" id="{5700723C-3E74-AB00-B50C-B3ADFA4B8E4C}"/>
              </a:ext>
            </a:extLst>
          </p:cNvPr>
          <p:cNvSpPr txBox="1"/>
          <p:nvPr/>
        </p:nvSpPr>
        <p:spPr>
          <a:xfrm>
            <a:off x="6017798" y="5518923"/>
            <a:ext cx="11432013" cy="847155"/>
          </a:xfrm>
          <a:prstGeom prst="rect">
            <a:avLst/>
          </a:prstGeom>
        </p:spPr>
        <p:txBody>
          <a:bodyPr lIns="0" tIns="0" rIns="0" bIns="0" rtlCol="0" anchor="t">
            <a:spAutoFit/>
          </a:bodyPr>
          <a:lstStyle/>
          <a:p>
            <a:pPr algn="l">
              <a:lnSpc>
                <a:spcPts val="5059"/>
              </a:lnSpc>
            </a:pPr>
            <a:r>
              <a:rPr lang="en-US" sz="11500" b="1" dirty="0">
                <a:solidFill>
                  <a:srgbClr val="000000"/>
                </a:solidFill>
                <a:latin typeface="Heading Now 31-38 Bold"/>
                <a:ea typeface="Heading Now 31-38 Bold"/>
                <a:cs typeface="Heading Now 31-38 Bold"/>
                <a:sym typeface="Heading Now 31-38 Bold"/>
              </a:rPr>
              <a:t>ALGORITHMS</a:t>
            </a:r>
          </a:p>
        </p:txBody>
      </p:sp>
      <p:sp>
        <p:nvSpPr>
          <p:cNvPr id="5" name="Rectangle 4">
            <a:extLst>
              <a:ext uri="{FF2B5EF4-FFF2-40B4-BE49-F238E27FC236}">
                <a16:creationId xmlns:a16="http://schemas.microsoft.com/office/drawing/2014/main" id="{4DFF01E2-4283-01D7-DABD-01FB63454C76}"/>
              </a:ext>
            </a:extLst>
          </p:cNvPr>
          <p:cNvSpPr/>
          <p:nvPr/>
        </p:nvSpPr>
        <p:spPr>
          <a:xfrm>
            <a:off x="5715011" y="4149493"/>
            <a:ext cx="76200" cy="200093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Tree>
  </p:cSld>
  <p:clrMapOvr>
    <a:masterClrMapping/>
  </p:clrMapOvr>
  <p:transition spd="slow">
    <p:push dir="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56E"/>
        </a:solidFill>
        <a:effectLst/>
      </p:bgPr>
    </p:bg>
    <p:spTree>
      <p:nvGrpSpPr>
        <p:cNvPr id="1" name="">
          <a:extLst>
            <a:ext uri="{FF2B5EF4-FFF2-40B4-BE49-F238E27FC236}">
              <a16:creationId xmlns:a16="http://schemas.microsoft.com/office/drawing/2014/main" id="{4FA5C45E-F892-0E13-A1C4-E29C7FD24B1C}"/>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0BA4DD30-423D-A5F8-B8D7-328B48B41B8B}"/>
              </a:ext>
            </a:extLst>
          </p:cNvPr>
          <p:cNvSpPr txBox="1"/>
          <p:nvPr/>
        </p:nvSpPr>
        <p:spPr>
          <a:xfrm>
            <a:off x="685800" y="6343218"/>
            <a:ext cx="15392400" cy="3077766"/>
          </a:xfrm>
          <a:prstGeom prst="rect">
            <a:avLst/>
          </a:prstGeom>
        </p:spPr>
        <p:txBody>
          <a:bodyPr wrap="square" lIns="0" tIns="0" rIns="0" bIns="0" rtlCol="0" anchor="t">
            <a:spAutoFit/>
          </a:bodyPr>
          <a:lstStyle/>
          <a:p>
            <a:pPr>
              <a:spcBef>
                <a:spcPts val="600"/>
              </a:spcBef>
            </a:pPr>
            <a:r>
              <a:rPr lang="en-US" sz="4000" dirty="0">
                <a:latin typeface="Bahnschrift" panose="020B0502040204020203" pitchFamily="34" charset="0"/>
              </a:rPr>
              <a:t>Algorithm is a set of finite, well-defined steps or instructions designed to solve a problem or perform a computation. It can also be defined as a procedure for solving a mathematical or computational problem in a finite number of steps, often involving repetitive or recursive operations.</a:t>
            </a:r>
            <a:endParaRPr lang="en-US" sz="7200" b="1" dirty="0">
              <a:solidFill>
                <a:srgbClr val="000000"/>
              </a:solidFill>
              <a:latin typeface="Bahnschrift" panose="020B0502040204020203" pitchFamily="34" charset="0"/>
              <a:ea typeface="Heading Now 31-38 Bold"/>
              <a:cs typeface="Heading Now 31-38 Bold"/>
              <a:sym typeface="Heading Now 31-38 Bold"/>
            </a:endParaRPr>
          </a:p>
        </p:txBody>
      </p:sp>
      <p:sp>
        <p:nvSpPr>
          <p:cNvPr id="2" name="TextBox 1">
            <a:extLst>
              <a:ext uri="{FF2B5EF4-FFF2-40B4-BE49-F238E27FC236}">
                <a16:creationId xmlns:a16="http://schemas.microsoft.com/office/drawing/2014/main" id="{6D3E286E-B5A4-E4DD-AAA0-A4D2F1518AB9}"/>
              </a:ext>
            </a:extLst>
          </p:cNvPr>
          <p:cNvSpPr txBox="1"/>
          <p:nvPr/>
        </p:nvSpPr>
        <p:spPr>
          <a:xfrm>
            <a:off x="836187" y="5515545"/>
            <a:ext cx="11432013" cy="847155"/>
          </a:xfrm>
          <a:prstGeom prst="rect">
            <a:avLst/>
          </a:prstGeom>
        </p:spPr>
        <p:txBody>
          <a:bodyPr lIns="0" tIns="0" rIns="0" bIns="0" rtlCol="0" anchor="t">
            <a:spAutoFit/>
          </a:bodyPr>
          <a:lstStyle/>
          <a:p>
            <a:pPr algn="l">
              <a:lnSpc>
                <a:spcPts val="5059"/>
              </a:lnSpc>
            </a:pPr>
            <a:r>
              <a:rPr lang="en-US" sz="11500" b="1" dirty="0">
                <a:solidFill>
                  <a:srgbClr val="000000"/>
                </a:solidFill>
                <a:latin typeface="Heading Now 31-38 Bold"/>
                <a:ea typeface="Heading Now 31-38 Bold"/>
                <a:cs typeface="Heading Now 31-38 Bold"/>
                <a:sym typeface="Heading Now 31-38 Bold"/>
              </a:rPr>
              <a:t>ALGORITHMS</a:t>
            </a:r>
          </a:p>
        </p:txBody>
      </p:sp>
      <p:sp>
        <p:nvSpPr>
          <p:cNvPr id="3" name="Rectangle 2">
            <a:extLst>
              <a:ext uri="{FF2B5EF4-FFF2-40B4-BE49-F238E27FC236}">
                <a16:creationId xmlns:a16="http://schemas.microsoft.com/office/drawing/2014/main" id="{AE04A525-0235-54DA-CEF8-73126B2315A2}"/>
              </a:ext>
            </a:extLst>
          </p:cNvPr>
          <p:cNvSpPr/>
          <p:nvPr/>
        </p:nvSpPr>
        <p:spPr>
          <a:xfrm>
            <a:off x="609600" y="4149493"/>
            <a:ext cx="76200" cy="200093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21552284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56E"/>
        </a:solidFill>
        <a:effectLst/>
      </p:bgPr>
    </p:bg>
    <p:spTree>
      <p:nvGrpSpPr>
        <p:cNvPr id="1" name="">
          <a:extLst>
            <a:ext uri="{FF2B5EF4-FFF2-40B4-BE49-F238E27FC236}">
              <a16:creationId xmlns:a16="http://schemas.microsoft.com/office/drawing/2014/main" id="{22EBECBD-C6CA-4F35-FC61-D30C1971DF02}"/>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FE3182B9-70F7-7A9A-39CB-01DDF7D82B5F}"/>
              </a:ext>
            </a:extLst>
          </p:cNvPr>
          <p:cNvSpPr txBox="1"/>
          <p:nvPr/>
        </p:nvSpPr>
        <p:spPr>
          <a:xfrm>
            <a:off x="838200" y="5327452"/>
            <a:ext cx="15392400" cy="3693319"/>
          </a:xfrm>
          <a:prstGeom prst="rect">
            <a:avLst/>
          </a:prstGeom>
        </p:spPr>
        <p:txBody>
          <a:bodyPr wrap="square" lIns="0" tIns="0" rIns="0" bIns="0" rtlCol="0" anchor="t">
            <a:spAutoFit/>
          </a:bodyPr>
          <a:lstStyle/>
          <a:p>
            <a:pPr>
              <a:spcBef>
                <a:spcPts val="600"/>
              </a:spcBef>
            </a:pPr>
            <a:r>
              <a:rPr lang="en-US" sz="4000" b="1" dirty="0">
                <a:latin typeface="Bahnschrift" panose="020B0502040204020203" pitchFamily="34" charset="0"/>
              </a:rPr>
              <a:t>Need for Algorithms:</a:t>
            </a:r>
          </a:p>
          <a:p>
            <a:pPr marL="571500" indent="-571500">
              <a:spcBef>
                <a:spcPts val="600"/>
              </a:spcBef>
              <a:buFont typeface="Arial" panose="020B0604020202020204" pitchFamily="34" charset="0"/>
              <a:buChar char="•"/>
            </a:pPr>
            <a:r>
              <a:rPr lang="en-US" sz="3600" dirty="0">
                <a:latin typeface="Bahnschrift" panose="020B0502040204020203" pitchFamily="34" charset="0"/>
              </a:rPr>
              <a:t>Solve complex problems efficiently and effectively.</a:t>
            </a:r>
          </a:p>
          <a:p>
            <a:pPr marL="571500" indent="-571500">
              <a:spcBef>
                <a:spcPts val="600"/>
              </a:spcBef>
              <a:buFont typeface="Arial" panose="020B0604020202020204" pitchFamily="34" charset="0"/>
              <a:buChar char="•"/>
            </a:pPr>
            <a:r>
              <a:rPr lang="en-US" sz="3600" dirty="0">
                <a:latin typeface="Bahnschrift" panose="020B0502040204020203" pitchFamily="34" charset="0"/>
              </a:rPr>
              <a:t>Automate processes, making them reliable, faster, and easier.</a:t>
            </a:r>
          </a:p>
          <a:p>
            <a:pPr marL="571500" indent="-571500">
              <a:spcBef>
                <a:spcPts val="600"/>
              </a:spcBef>
              <a:buFont typeface="Arial" panose="020B0604020202020204" pitchFamily="34" charset="0"/>
              <a:buChar char="•"/>
            </a:pPr>
            <a:r>
              <a:rPr lang="en-US" sz="3600" dirty="0">
                <a:latin typeface="Bahnschrift" panose="020B0502040204020203" pitchFamily="34" charset="0"/>
              </a:rPr>
              <a:t>Enable computers to perform tasks difficult or impossible for humans.</a:t>
            </a:r>
          </a:p>
          <a:p>
            <a:pPr marL="571500" indent="-571500">
              <a:spcBef>
                <a:spcPts val="600"/>
              </a:spcBef>
              <a:buFont typeface="Arial" panose="020B0604020202020204" pitchFamily="34" charset="0"/>
              <a:buChar char="•"/>
            </a:pPr>
            <a:r>
              <a:rPr lang="en-US" sz="3600" dirty="0">
                <a:latin typeface="Bahnschrift" panose="020B0502040204020203" pitchFamily="34" charset="0"/>
              </a:rPr>
              <a:t>Widely used in mathematics, computer science, engineering, finance, and data analysis.</a:t>
            </a:r>
            <a:endParaRPr lang="en-US" sz="6600" b="1" dirty="0">
              <a:solidFill>
                <a:srgbClr val="000000"/>
              </a:solidFill>
              <a:latin typeface="Bahnschrift" panose="020B0502040204020203" pitchFamily="34" charset="0"/>
              <a:ea typeface="Heading Now 31-38 Bold"/>
              <a:cs typeface="Heading Now 31-38 Bold"/>
              <a:sym typeface="Heading Now 31-38 Bold"/>
            </a:endParaRPr>
          </a:p>
        </p:txBody>
      </p:sp>
      <p:sp>
        <p:nvSpPr>
          <p:cNvPr id="2" name="TextBox 1">
            <a:extLst>
              <a:ext uri="{FF2B5EF4-FFF2-40B4-BE49-F238E27FC236}">
                <a16:creationId xmlns:a16="http://schemas.microsoft.com/office/drawing/2014/main" id="{24A1E22A-5659-44AF-2D86-213DBF68EC4B}"/>
              </a:ext>
            </a:extLst>
          </p:cNvPr>
          <p:cNvSpPr txBox="1"/>
          <p:nvPr/>
        </p:nvSpPr>
        <p:spPr>
          <a:xfrm>
            <a:off x="836187" y="4610100"/>
            <a:ext cx="11432013" cy="10096549"/>
          </a:xfrm>
          <a:prstGeom prst="rect">
            <a:avLst/>
          </a:prstGeom>
        </p:spPr>
        <p:txBody>
          <a:bodyPr lIns="0" tIns="0" rIns="0" bIns="0" rtlCol="0" anchor="t">
            <a:spAutoFit/>
          </a:bodyPr>
          <a:lstStyle/>
          <a:p>
            <a:pPr algn="l">
              <a:lnSpc>
                <a:spcPts val="5059"/>
              </a:lnSpc>
            </a:pPr>
            <a:r>
              <a:rPr lang="en-US" sz="11500" b="1" dirty="0">
                <a:solidFill>
                  <a:srgbClr val="000000"/>
                </a:solidFill>
                <a:latin typeface="Heading Now 31-38 Bold"/>
                <a:ea typeface="Heading Now 31-38 Bold"/>
                <a:cs typeface="Heading Now 31-38 Bold"/>
                <a:sym typeface="Heading Now 31-38 Bold"/>
              </a:rPr>
              <a:t>ALGORITHMS</a:t>
            </a:r>
          </a:p>
        </p:txBody>
      </p:sp>
      <p:sp>
        <p:nvSpPr>
          <p:cNvPr id="3" name="Rectangle 2">
            <a:extLst>
              <a:ext uri="{FF2B5EF4-FFF2-40B4-BE49-F238E27FC236}">
                <a16:creationId xmlns:a16="http://schemas.microsoft.com/office/drawing/2014/main" id="{5B0C6C75-CD28-67CC-52A9-9374A327F876}"/>
              </a:ext>
            </a:extLst>
          </p:cNvPr>
          <p:cNvSpPr/>
          <p:nvPr/>
        </p:nvSpPr>
        <p:spPr>
          <a:xfrm rot="5400000">
            <a:off x="609600" y="4257334"/>
            <a:ext cx="76200" cy="200093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17376525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56E"/>
        </a:solidFill>
        <a:effectLst/>
      </p:bgPr>
    </p:bg>
    <p:spTree>
      <p:nvGrpSpPr>
        <p:cNvPr id="1" name="">
          <a:extLst>
            <a:ext uri="{FF2B5EF4-FFF2-40B4-BE49-F238E27FC236}">
              <a16:creationId xmlns:a16="http://schemas.microsoft.com/office/drawing/2014/main" id="{031073DD-44EE-3835-3399-8A0D94F134C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41AA66A-B961-F802-B0AB-B62269699C12}"/>
              </a:ext>
            </a:extLst>
          </p:cNvPr>
          <p:cNvSpPr txBox="1"/>
          <p:nvPr/>
        </p:nvSpPr>
        <p:spPr>
          <a:xfrm>
            <a:off x="836187" y="1028700"/>
            <a:ext cx="11432013" cy="847155"/>
          </a:xfrm>
          <a:prstGeom prst="rect">
            <a:avLst/>
          </a:prstGeom>
        </p:spPr>
        <p:txBody>
          <a:bodyPr lIns="0" tIns="0" rIns="0" bIns="0" rtlCol="0" anchor="t">
            <a:spAutoFit/>
          </a:bodyPr>
          <a:lstStyle/>
          <a:p>
            <a:pPr algn="l">
              <a:lnSpc>
                <a:spcPts val="5059"/>
              </a:lnSpc>
            </a:pPr>
            <a:r>
              <a:rPr lang="en-US" sz="11500" b="1" dirty="0">
                <a:solidFill>
                  <a:srgbClr val="000000"/>
                </a:solidFill>
                <a:latin typeface="Heading Now 31-38 Bold"/>
                <a:ea typeface="Heading Now 31-38 Bold"/>
                <a:cs typeface="Heading Now 31-38 Bold"/>
                <a:sym typeface="Heading Now 31-38 Bold"/>
              </a:rPr>
              <a:t>ALGORITHMS</a:t>
            </a:r>
          </a:p>
        </p:txBody>
      </p:sp>
      <p:sp>
        <p:nvSpPr>
          <p:cNvPr id="3" name="Rectangle 2">
            <a:extLst>
              <a:ext uri="{FF2B5EF4-FFF2-40B4-BE49-F238E27FC236}">
                <a16:creationId xmlns:a16="http://schemas.microsoft.com/office/drawing/2014/main" id="{67C18515-294C-8D0E-00BF-8B9D08679E93}"/>
              </a:ext>
            </a:extLst>
          </p:cNvPr>
          <p:cNvSpPr/>
          <p:nvPr/>
        </p:nvSpPr>
        <p:spPr>
          <a:xfrm>
            <a:off x="609600" y="4149493"/>
            <a:ext cx="76200" cy="200093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Flowchart: Data 4">
            <a:extLst>
              <a:ext uri="{FF2B5EF4-FFF2-40B4-BE49-F238E27FC236}">
                <a16:creationId xmlns:a16="http://schemas.microsoft.com/office/drawing/2014/main" id="{E2701B92-CCCF-FE5B-D2D2-4A3F5AA0FD66}"/>
              </a:ext>
            </a:extLst>
          </p:cNvPr>
          <p:cNvSpPr/>
          <p:nvPr/>
        </p:nvSpPr>
        <p:spPr>
          <a:xfrm>
            <a:off x="3200400" y="5010407"/>
            <a:ext cx="3193576" cy="653318"/>
          </a:xfrm>
          <a:prstGeom prst="flowChartInputOutpu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H" sz="4000" dirty="0"/>
              <a:t>INPUT</a:t>
            </a:r>
          </a:p>
        </p:txBody>
      </p:sp>
      <p:sp>
        <p:nvSpPr>
          <p:cNvPr id="6" name="Diamond 5">
            <a:extLst>
              <a:ext uri="{FF2B5EF4-FFF2-40B4-BE49-F238E27FC236}">
                <a16:creationId xmlns:a16="http://schemas.microsoft.com/office/drawing/2014/main" id="{7619F526-8D8E-9744-BAC3-C21B798DB181}"/>
              </a:ext>
            </a:extLst>
          </p:cNvPr>
          <p:cNvSpPr/>
          <p:nvPr/>
        </p:nvSpPr>
        <p:spPr>
          <a:xfrm>
            <a:off x="6781800" y="3654370"/>
            <a:ext cx="5486400" cy="3365392"/>
          </a:xfrm>
          <a:prstGeom prst="diamond">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dirty="0"/>
              <a:t>Set of rules to obtain the expected output from the given input</a:t>
            </a:r>
            <a:endParaRPr lang="en-PH" sz="2800" dirty="0"/>
          </a:p>
        </p:txBody>
      </p:sp>
      <p:sp>
        <p:nvSpPr>
          <p:cNvPr id="8" name="Flowchart: Data 7">
            <a:extLst>
              <a:ext uri="{FF2B5EF4-FFF2-40B4-BE49-F238E27FC236}">
                <a16:creationId xmlns:a16="http://schemas.microsoft.com/office/drawing/2014/main" id="{FD8E9F83-2E62-B10E-3D61-11DE5E63F522}"/>
              </a:ext>
            </a:extLst>
          </p:cNvPr>
          <p:cNvSpPr/>
          <p:nvPr/>
        </p:nvSpPr>
        <p:spPr>
          <a:xfrm>
            <a:off x="12656024" y="4992584"/>
            <a:ext cx="3193576" cy="653318"/>
          </a:xfrm>
          <a:prstGeom prst="flowChartInputOutpu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PH" sz="3600" dirty="0"/>
              <a:t>OUTPUT</a:t>
            </a:r>
          </a:p>
        </p:txBody>
      </p:sp>
      <p:cxnSp>
        <p:nvCxnSpPr>
          <p:cNvPr id="12" name="Straight Arrow Connector 11">
            <a:extLst>
              <a:ext uri="{FF2B5EF4-FFF2-40B4-BE49-F238E27FC236}">
                <a16:creationId xmlns:a16="http://schemas.microsoft.com/office/drawing/2014/main" id="{D22F767B-4976-0E53-9A8A-B86C046538AF}"/>
              </a:ext>
            </a:extLst>
          </p:cNvPr>
          <p:cNvCxnSpPr>
            <a:stCxn id="5" idx="5"/>
            <a:endCxn id="6" idx="1"/>
          </p:cNvCxnSpPr>
          <p:nvPr/>
        </p:nvCxnSpPr>
        <p:spPr>
          <a:xfrm>
            <a:off x="6074618" y="5337066"/>
            <a:ext cx="707182"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Arrow Connector 13">
            <a:extLst>
              <a:ext uri="{FF2B5EF4-FFF2-40B4-BE49-F238E27FC236}">
                <a16:creationId xmlns:a16="http://schemas.microsoft.com/office/drawing/2014/main" id="{B1D0BC13-2C40-160D-C645-DF89EC4CBFA0}"/>
              </a:ext>
            </a:extLst>
          </p:cNvPr>
          <p:cNvCxnSpPr>
            <a:cxnSpLocks/>
            <a:stCxn id="6" idx="3"/>
            <a:endCxn id="8" idx="2"/>
          </p:cNvCxnSpPr>
          <p:nvPr/>
        </p:nvCxnSpPr>
        <p:spPr>
          <a:xfrm flipV="1">
            <a:off x="12268200" y="5319243"/>
            <a:ext cx="707182" cy="1782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7650011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56E"/>
        </a:solidFill>
        <a:effectLst/>
      </p:bgPr>
    </p:bg>
    <p:spTree>
      <p:nvGrpSpPr>
        <p:cNvPr id="1" name="">
          <a:extLst>
            <a:ext uri="{FF2B5EF4-FFF2-40B4-BE49-F238E27FC236}">
              <a16:creationId xmlns:a16="http://schemas.microsoft.com/office/drawing/2014/main" id="{C57B7577-857C-0B3B-DB9B-28882E3ADEA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7D77FF8-04BF-AD55-D6E6-9AF54141458F}"/>
              </a:ext>
            </a:extLst>
          </p:cNvPr>
          <p:cNvSpPr txBox="1"/>
          <p:nvPr/>
        </p:nvSpPr>
        <p:spPr>
          <a:xfrm>
            <a:off x="836187" y="4991100"/>
            <a:ext cx="11432013" cy="847155"/>
          </a:xfrm>
          <a:prstGeom prst="rect">
            <a:avLst/>
          </a:prstGeom>
        </p:spPr>
        <p:txBody>
          <a:bodyPr lIns="0" tIns="0" rIns="0" bIns="0" rtlCol="0" anchor="t">
            <a:spAutoFit/>
          </a:bodyPr>
          <a:lstStyle/>
          <a:p>
            <a:pPr algn="l">
              <a:lnSpc>
                <a:spcPts val="5059"/>
              </a:lnSpc>
            </a:pPr>
            <a:r>
              <a:rPr lang="en-US" sz="11500" b="1" dirty="0">
                <a:solidFill>
                  <a:srgbClr val="000000"/>
                </a:solidFill>
                <a:latin typeface="Heading Now 31-38 Bold"/>
                <a:ea typeface="Heading Now 31-38 Bold"/>
                <a:cs typeface="Heading Now 31-38 Bold"/>
                <a:sym typeface="Heading Now 31-38 Bold"/>
              </a:rPr>
              <a:t>ALGORITHMS</a:t>
            </a:r>
          </a:p>
        </p:txBody>
      </p:sp>
      <p:sp>
        <p:nvSpPr>
          <p:cNvPr id="3" name="Rectangle 2">
            <a:extLst>
              <a:ext uri="{FF2B5EF4-FFF2-40B4-BE49-F238E27FC236}">
                <a16:creationId xmlns:a16="http://schemas.microsoft.com/office/drawing/2014/main" id="{D73F6581-A7C0-1A54-2440-30AD2B50AB2E}"/>
              </a:ext>
            </a:extLst>
          </p:cNvPr>
          <p:cNvSpPr/>
          <p:nvPr/>
        </p:nvSpPr>
        <p:spPr>
          <a:xfrm>
            <a:off x="19278600" y="4149493"/>
            <a:ext cx="76200" cy="200093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36514628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FF670F3-F691-D870-4FBA-34FF032556F8}"/>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74A97E53-C7B5-2DB1-D5EE-35D7AAA83F60}"/>
              </a:ext>
            </a:extLst>
          </p:cNvPr>
          <p:cNvSpPr txBox="1"/>
          <p:nvPr/>
        </p:nvSpPr>
        <p:spPr>
          <a:xfrm>
            <a:off x="685800" y="6343218"/>
            <a:ext cx="16611600" cy="2462213"/>
          </a:xfrm>
          <a:prstGeom prst="rect">
            <a:avLst/>
          </a:prstGeom>
        </p:spPr>
        <p:txBody>
          <a:bodyPr wrap="square" lIns="0" tIns="0" rIns="0" bIns="0" rtlCol="0" anchor="t">
            <a:spAutoFit/>
          </a:bodyPr>
          <a:lstStyle/>
          <a:p>
            <a:pPr>
              <a:spcBef>
                <a:spcPts val="600"/>
              </a:spcBef>
            </a:pPr>
            <a:r>
              <a:rPr lang="en-US" sz="4000" dirty="0">
                <a:solidFill>
                  <a:srgbClr val="FFF56E"/>
                </a:solidFill>
                <a:latin typeface="Bahnschrift" panose="020B0502040204020203" pitchFamily="34" charset="0"/>
              </a:rPr>
              <a:t>This refers to the </a:t>
            </a:r>
            <a:r>
              <a:rPr lang="en-US" sz="4000" b="1" i="1" dirty="0">
                <a:solidFill>
                  <a:srgbClr val="FFF56E"/>
                </a:solidFill>
                <a:latin typeface="Bahnschrift" panose="020B0502040204020203" pitchFamily="34" charset="0"/>
              </a:rPr>
              <a:t>amount of resources </a:t>
            </a:r>
            <a:r>
              <a:rPr lang="en-US" sz="4000" dirty="0">
                <a:solidFill>
                  <a:srgbClr val="FFF56E"/>
                </a:solidFill>
                <a:latin typeface="Bahnschrift" panose="020B0502040204020203" pitchFamily="34" charset="0"/>
              </a:rPr>
              <a:t>(usually time or memory) that an algorithm consumes as the size of the input increases. We don't measure this in seconds (because hardware varies), but in the growth of operations.</a:t>
            </a:r>
            <a:endParaRPr lang="en-US" sz="7200" b="1" dirty="0">
              <a:solidFill>
                <a:srgbClr val="FFF56E"/>
              </a:solidFill>
              <a:latin typeface="Bahnschrift" panose="020B0502040204020203" pitchFamily="34" charset="0"/>
              <a:ea typeface="Heading Now 31-38 Bold"/>
              <a:cs typeface="Heading Now 31-38 Bold"/>
              <a:sym typeface="Heading Now 31-38 Bold"/>
            </a:endParaRPr>
          </a:p>
        </p:txBody>
      </p:sp>
      <p:sp>
        <p:nvSpPr>
          <p:cNvPr id="2" name="TextBox 1">
            <a:extLst>
              <a:ext uri="{FF2B5EF4-FFF2-40B4-BE49-F238E27FC236}">
                <a16:creationId xmlns:a16="http://schemas.microsoft.com/office/drawing/2014/main" id="{D357272D-FBE3-D00A-C537-9E0A2FE822C6}"/>
              </a:ext>
            </a:extLst>
          </p:cNvPr>
          <p:cNvSpPr txBox="1"/>
          <p:nvPr/>
        </p:nvSpPr>
        <p:spPr>
          <a:xfrm>
            <a:off x="836187" y="5515545"/>
            <a:ext cx="11432013" cy="847155"/>
          </a:xfrm>
          <a:prstGeom prst="rect">
            <a:avLst/>
          </a:prstGeom>
        </p:spPr>
        <p:txBody>
          <a:bodyPr lIns="0" tIns="0" rIns="0" bIns="0" rtlCol="0" anchor="t">
            <a:spAutoFit/>
          </a:bodyPr>
          <a:lstStyle/>
          <a:p>
            <a:pPr algn="l">
              <a:lnSpc>
                <a:spcPts val="5059"/>
              </a:lnSpc>
            </a:pPr>
            <a:r>
              <a:rPr lang="en-US" sz="11500" b="1" dirty="0">
                <a:solidFill>
                  <a:srgbClr val="FFF56E"/>
                </a:solidFill>
                <a:latin typeface="Heading Now 31-38 Bold"/>
                <a:ea typeface="Heading Now 31-38 Bold"/>
                <a:cs typeface="Heading Now 31-38 Bold"/>
                <a:sym typeface="Heading Now 31-38 Bold"/>
              </a:rPr>
              <a:t>COMPLEXITY</a:t>
            </a:r>
          </a:p>
        </p:txBody>
      </p:sp>
      <p:sp>
        <p:nvSpPr>
          <p:cNvPr id="3" name="Rectangle 2">
            <a:extLst>
              <a:ext uri="{FF2B5EF4-FFF2-40B4-BE49-F238E27FC236}">
                <a16:creationId xmlns:a16="http://schemas.microsoft.com/office/drawing/2014/main" id="{3E8A6980-DBC7-54A6-0696-DC826654A501}"/>
              </a:ext>
            </a:extLst>
          </p:cNvPr>
          <p:cNvSpPr/>
          <p:nvPr/>
        </p:nvSpPr>
        <p:spPr>
          <a:xfrm>
            <a:off x="609600" y="4149493"/>
            <a:ext cx="76200" cy="2000932"/>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2324738473"/>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D926E8B-124B-3E01-9A66-FF3AE7C76FA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BBC3686-C910-C7FE-D0C7-B9703CE53DCF}"/>
              </a:ext>
            </a:extLst>
          </p:cNvPr>
          <p:cNvSpPr txBox="1"/>
          <p:nvPr/>
        </p:nvSpPr>
        <p:spPr>
          <a:xfrm>
            <a:off x="12496800" y="952500"/>
            <a:ext cx="11432013" cy="931871"/>
          </a:xfrm>
          <a:prstGeom prst="rect">
            <a:avLst/>
          </a:prstGeom>
        </p:spPr>
        <p:txBody>
          <a:bodyPr lIns="0" tIns="0" rIns="0" bIns="0" rtlCol="0" anchor="t">
            <a:spAutoFit/>
          </a:bodyPr>
          <a:lstStyle/>
          <a:p>
            <a:pPr algn="l">
              <a:lnSpc>
                <a:spcPts val="5059"/>
              </a:lnSpc>
            </a:pPr>
            <a:r>
              <a:rPr lang="en-US" sz="11500" b="1" dirty="0">
                <a:solidFill>
                  <a:srgbClr val="FFF56E"/>
                </a:solidFill>
                <a:latin typeface="Heading Now 31-38 Bold"/>
                <a:ea typeface="Heading Now 31-38 Bold"/>
                <a:cs typeface="Heading Now 31-38 Bold"/>
                <a:sym typeface="Heading Now 31-38 Bold"/>
              </a:rPr>
              <a:t>COMPLEXITY</a:t>
            </a:r>
          </a:p>
        </p:txBody>
      </p:sp>
      <p:sp>
        <p:nvSpPr>
          <p:cNvPr id="3" name="Rectangle 2">
            <a:extLst>
              <a:ext uri="{FF2B5EF4-FFF2-40B4-BE49-F238E27FC236}">
                <a16:creationId xmlns:a16="http://schemas.microsoft.com/office/drawing/2014/main" id="{2D7F94B9-16BE-D0C9-8264-375B94BEA1AD}"/>
              </a:ext>
            </a:extLst>
          </p:cNvPr>
          <p:cNvSpPr/>
          <p:nvPr/>
        </p:nvSpPr>
        <p:spPr>
          <a:xfrm>
            <a:off x="17221200" y="342900"/>
            <a:ext cx="76200" cy="2000932"/>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5" name="Picture 4">
            <a:extLst>
              <a:ext uri="{FF2B5EF4-FFF2-40B4-BE49-F238E27FC236}">
                <a16:creationId xmlns:a16="http://schemas.microsoft.com/office/drawing/2014/main" id="{8806D6A9-8AC0-71EB-F3D7-6465BBE228CC}"/>
              </a:ext>
            </a:extLst>
          </p:cNvPr>
          <p:cNvPicPr>
            <a:picLocks noChangeAspect="1"/>
          </p:cNvPicPr>
          <p:nvPr/>
        </p:nvPicPr>
        <p:blipFill>
          <a:blip r:embed="rId2">
            <a:extLst>
              <a:ext uri="{28A0092B-C50C-407E-A947-70E740481C1C}">
                <a14:useLocalDpi xmlns:a14="http://schemas.microsoft.com/office/drawing/2010/main" val="0"/>
              </a:ext>
            </a:extLst>
          </a:blip>
          <a:srcRect t="3611" b="2895"/>
          <a:stretch>
            <a:fillRect/>
          </a:stretch>
        </p:blipFill>
        <p:spPr>
          <a:xfrm>
            <a:off x="2025149" y="1485900"/>
            <a:ext cx="14237702" cy="8688646"/>
          </a:xfrm>
          <a:prstGeom prst="rect">
            <a:avLst/>
          </a:prstGeom>
        </p:spPr>
      </p:pic>
    </p:spTree>
    <p:extLst>
      <p:ext uri="{BB962C8B-B14F-4D97-AF65-F5344CB8AC3E}">
        <p14:creationId xmlns:p14="http://schemas.microsoft.com/office/powerpoint/2010/main" val="40864852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FD27C46-7060-B69C-2F24-06045DD0DD3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688141F-BA15-8139-F2E5-5007FBDA6F4A}"/>
              </a:ext>
            </a:extLst>
          </p:cNvPr>
          <p:cNvSpPr txBox="1"/>
          <p:nvPr/>
        </p:nvSpPr>
        <p:spPr>
          <a:xfrm>
            <a:off x="685800" y="723900"/>
            <a:ext cx="11432013" cy="931871"/>
          </a:xfrm>
          <a:prstGeom prst="rect">
            <a:avLst/>
          </a:prstGeom>
        </p:spPr>
        <p:txBody>
          <a:bodyPr lIns="0" tIns="0" rIns="0" bIns="0" rtlCol="0" anchor="t">
            <a:spAutoFit/>
          </a:bodyPr>
          <a:lstStyle/>
          <a:p>
            <a:pPr algn="l">
              <a:lnSpc>
                <a:spcPts val="5059"/>
              </a:lnSpc>
            </a:pPr>
            <a:r>
              <a:rPr lang="en-US" sz="11500" b="1" dirty="0">
                <a:solidFill>
                  <a:srgbClr val="FFF56E"/>
                </a:solidFill>
                <a:latin typeface="Heading Now 31-38 Bold"/>
                <a:ea typeface="Heading Now 31-38 Bold"/>
                <a:cs typeface="Heading Now 31-38 Bold"/>
                <a:sym typeface="Heading Now 31-38 Bold"/>
              </a:rPr>
              <a:t>COMPLEXITY</a:t>
            </a:r>
          </a:p>
        </p:txBody>
      </p:sp>
      <p:sp>
        <p:nvSpPr>
          <p:cNvPr id="3" name="Rectangle 2">
            <a:extLst>
              <a:ext uri="{FF2B5EF4-FFF2-40B4-BE49-F238E27FC236}">
                <a16:creationId xmlns:a16="http://schemas.microsoft.com/office/drawing/2014/main" id="{4BA51D22-ED13-0D2E-17FA-1382A6220E50}"/>
              </a:ext>
            </a:extLst>
          </p:cNvPr>
          <p:cNvSpPr/>
          <p:nvPr/>
        </p:nvSpPr>
        <p:spPr>
          <a:xfrm>
            <a:off x="533400" y="114300"/>
            <a:ext cx="76200" cy="2000932"/>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8194" name="Picture 2">
            <a:extLst>
              <a:ext uri="{FF2B5EF4-FFF2-40B4-BE49-F238E27FC236}">
                <a16:creationId xmlns:a16="http://schemas.microsoft.com/office/drawing/2014/main" id="{C9E81494-D260-B428-FC99-269E1B7AA06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82199" y="1650900"/>
            <a:ext cx="7742593" cy="774259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3">
                <a:extLst>
                  <a:ext uri="{FF2B5EF4-FFF2-40B4-BE49-F238E27FC236}">
                    <a16:creationId xmlns:a16="http://schemas.microsoft.com/office/drawing/2014/main" id="{14245B73-53C7-29B8-CA06-CAC35090BE5F}"/>
                  </a:ext>
                </a:extLst>
              </p:cNvPr>
              <p:cNvSpPr txBox="1"/>
              <p:nvPr/>
            </p:nvSpPr>
            <p:spPr>
              <a:xfrm>
                <a:off x="786826" y="1333500"/>
                <a:ext cx="8311454" cy="8673656"/>
              </a:xfrm>
              <a:prstGeom prst="rect">
                <a:avLst/>
              </a:prstGeom>
            </p:spPr>
            <p:txBody>
              <a:bodyPr wrap="square" lIns="0" tIns="0" rIns="0" bIns="0" rtlCol="0" anchor="t">
                <a:spAutoFit/>
              </a:bodyPr>
              <a:lstStyle/>
              <a:p>
                <a:pPr marL="457200" indent="-457200">
                  <a:spcBef>
                    <a:spcPts val="600"/>
                  </a:spcBef>
                  <a:buAutoNum type="arabicPeriod"/>
                </a:pPr>
                <a:r>
                  <a:rPr lang="en-US" b="1" dirty="0">
                    <a:solidFill>
                      <a:srgbClr val="FFF56E"/>
                    </a:solidFill>
                    <a:latin typeface="Bahnschrift" panose="020B0502040204020203" pitchFamily="34" charset="0"/>
                  </a:rPr>
                  <a:t>The Efficient Zone (Fast)</a:t>
                </a:r>
              </a:p>
              <a:p>
                <a:pPr marL="914400" lvl="1" indent="-457200">
                  <a:spcBef>
                    <a:spcPts val="600"/>
                  </a:spcBef>
                  <a:buFont typeface="Arial" panose="020B0604020202020204" pitchFamily="34" charset="0"/>
                  <a:buChar char="•"/>
                </a:pPr>
                <a14:m>
                  <m:oMath xmlns:m="http://schemas.openxmlformats.org/officeDocument/2006/math">
                    <m:r>
                      <a:rPr lang="en-PH" b="1" i="1">
                        <a:solidFill>
                          <a:srgbClr val="FFF56E"/>
                        </a:solidFill>
                        <a:latin typeface="Cambria Math" panose="02040503050406030204" pitchFamily="18" charset="0"/>
                      </a:rPr>
                      <m:t>𝑶</m:t>
                    </m:r>
                    <m:d>
                      <m:dPr>
                        <m:ctrlPr>
                          <a:rPr lang="en-PH" b="1" i="1">
                            <a:solidFill>
                              <a:srgbClr val="FFF56E"/>
                            </a:solidFill>
                            <a:latin typeface="Cambria Math" panose="02040503050406030204" pitchFamily="18" charset="0"/>
                          </a:rPr>
                        </m:ctrlPr>
                      </m:dPr>
                      <m:e>
                        <m:r>
                          <a:rPr lang="en-PH" b="1" i="1">
                            <a:solidFill>
                              <a:srgbClr val="FFF56E"/>
                            </a:solidFill>
                            <a:latin typeface="Cambria Math" panose="02040503050406030204" pitchFamily="18" charset="0"/>
                          </a:rPr>
                          <m:t>𝟏</m:t>
                        </m:r>
                      </m:e>
                    </m:d>
                  </m:oMath>
                </a14:m>
                <a:r>
                  <a:rPr lang="en-US" sz="800" b="1" dirty="0">
                    <a:solidFill>
                      <a:srgbClr val="FFF56E"/>
                    </a:solidFill>
                    <a:latin typeface="Bahnschrift" panose="020B0502040204020203" pitchFamily="34" charset="0"/>
                    <a:ea typeface="Heading Now 31-38 Bold"/>
                    <a:cs typeface="Heading Now 31-38 Bold"/>
                    <a:sym typeface="Heading Now 31-38 Bold"/>
                  </a:rPr>
                  <a:t> </a:t>
                </a:r>
                <a:r>
                  <a:rPr lang="en-US" dirty="0">
                    <a:solidFill>
                      <a:srgbClr val="FFF56E"/>
                    </a:solidFill>
                    <a:latin typeface="Bahnschrift" panose="020B0502040204020203" pitchFamily="34" charset="0"/>
                  </a:rPr>
                  <a:t>- Constant: The "gold standard." The execution time remains the same regardless of how much data you have. </a:t>
                </a:r>
                <a:r>
                  <a:rPr lang="en-US" i="1" dirty="0">
                    <a:solidFill>
                      <a:srgbClr val="FFF56E"/>
                    </a:solidFill>
                    <a:latin typeface="Bahnschrift" panose="020B0502040204020203" pitchFamily="34" charset="0"/>
                  </a:rPr>
                  <a:t>Example: Accessing an element in an array by its index.</a:t>
                </a:r>
              </a:p>
              <a:p>
                <a:pPr marL="914400" lvl="1" indent="-457200">
                  <a:spcBef>
                    <a:spcPts val="600"/>
                  </a:spcBef>
                  <a:buFont typeface="Arial" panose="020B0604020202020204" pitchFamily="34" charset="0"/>
                  <a:buChar char="•"/>
                </a:pPr>
                <a14:m>
                  <m:oMath xmlns:m="http://schemas.openxmlformats.org/officeDocument/2006/math">
                    <m:r>
                      <a:rPr lang="en-PH" b="1" i="1">
                        <a:solidFill>
                          <a:srgbClr val="FFF56E"/>
                        </a:solidFill>
                        <a:latin typeface="Cambria Math" panose="02040503050406030204" pitchFamily="18" charset="0"/>
                      </a:rPr>
                      <m:t>𝑶</m:t>
                    </m:r>
                    <m:d>
                      <m:dPr>
                        <m:ctrlPr>
                          <a:rPr lang="en-PH" b="1" i="1">
                            <a:solidFill>
                              <a:srgbClr val="FFF56E"/>
                            </a:solidFill>
                            <a:latin typeface="Cambria Math" panose="02040503050406030204" pitchFamily="18" charset="0"/>
                          </a:rPr>
                        </m:ctrlPr>
                      </m:dPr>
                      <m:e>
                        <m:func>
                          <m:funcPr>
                            <m:ctrlPr>
                              <a:rPr lang="en-PH" b="1" i="1">
                                <a:solidFill>
                                  <a:srgbClr val="FFF56E"/>
                                </a:solidFill>
                                <a:latin typeface="Cambria Math" panose="02040503050406030204" pitchFamily="18" charset="0"/>
                              </a:rPr>
                            </m:ctrlPr>
                          </m:funcPr>
                          <m:fName>
                            <m:r>
                              <m:rPr>
                                <m:sty m:val="p"/>
                              </m:rPr>
                              <a:rPr lang="en-PH">
                                <a:solidFill>
                                  <a:srgbClr val="FFF56E"/>
                                </a:solidFill>
                                <a:latin typeface="Cambria Math" panose="02040503050406030204" pitchFamily="18" charset="0"/>
                              </a:rPr>
                              <m:t>log</m:t>
                            </m:r>
                          </m:fName>
                          <m:e>
                            <m:r>
                              <a:rPr lang="en-PH" b="1" i="1">
                                <a:solidFill>
                                  <a:srgbClr val="FFF56E"/>
                                </a:solidFill>
                                <a:latin typeface="Cambria Math" panose="02040503050406030204" pitchFamily="18" charset="0"/>
                              </a:rPr>
                              <m:t>𝒏</m:t>
                            </m:r>
                          </m:e>
                        </m:func>
                      </m:e>
                    </m:d>
                  </m:oMath>
                </a14:m>
                <a:r>
                  <a:rPr lang="en-US" sz="800" b="1" dirty="0">
                    <a:solidFill>
                      <a:srgbClr val="FFF56E"/>
                    </a:solidFill>
                    <a:latin typeface="Bahnschrift" panose="020B0502040204020203" pitchFamily="34" charset="0"/>
                    <a:ea typeface="Heading Now 31-38 Bold"/>
                    <a:cs typeface="Heading Now 31-38 Bold"/>
                    <a:sym typeface="Heading Now 31-38 Bold"/>
                  </a:rPr>
                  <a:t> </a:t>
                </a:r>
                <a:r>
                  <a:rPr lang="en-US" dirty="0">
                    <a:solidFill>
                      <a:srgbClr val="FFF56E"/>
                    </a:solidFill>
                    <a:latin typeface="Bahnschrift" panose="020B0502040204020203" pitchFamily="34" charset="0"/>
                  </a:rPr>
                  <a:t>- Logarithmic: Highly efficient. As the data doubles, the time only increases by a tiny fraction. </a:t>
                </a:r>
                <a:r>
                  <a:rPr lang="en-US" i="1" dirty="0">
                    <a:solidFill>
                      <a:srgbClr val="FFF56E"/>
                    </a:solidFill>
                    <a:latin typeface="Bahnschrift" panose="020B0502040204020203" pitchFamily="34" charset="0"/>
                  </a:rPr>
                  <a:t>Example: Searching for a word in a physical dictionary or using Binary Search.</a:t>
                </a:r>
              </a:p>
              <a:p>
                <a:pPr marL="914400" lvl="1" indent="-457200">
                  <a:spcBef>
                    <a:spcPts val="600"/>
                  </a:spcBef>
                  <a:buFont typeface="Arial" panose="020B0604020202020204" pitchFamily="34" charset="0"/>
                  <a:buChar char="•"/>
                </a:pPr>
                <a14:m>
                  <m:oMath xmlns:m="http://schemas.openxmlformats.org/officeDocument/2006/math">
                    <m:r>
                      <a:rPr lang="en-PH" b="1" i="1">
                        <a:solidFill>
                          <a:srgbClr val="FFF56E"/>
                        </a:solidFill>
                        <a:latin typeface="Cambria Math" panose="02040503050406030204" pitchFamily="18" charset="0"/>
                      </a:rPr>
                      <m:t>𝑶</m:t>
                    </m:r>
                    <m:d>
                      <m:dPr>
                        <m:ctrlPr>
                          <a:rPr lang="en-PH" b="1" i="1">
                            <a:solidFill>
                              <a:srgbClr val="FFF56E"/>
                            </a:solidFill>
                            <a:latin typeface="Cambria Math" panose="02040503050406030204" pitchFamily="18" charset="0"/>
                          </a:rPr>
                        </m:ctrlPr>
                      </m:dPr>
                      <m:e>
                        <m:r>
                          <a:rPr lang="en-PH" b="1" i="1">
                            <a:solidFill>
                              <a:srgbClr val="FFF56E"/>
                            </a:solidFill>
                            <a:latin typeface="Cambria Math" panose="02040503050406030204" pitchFamily="18" charset="0"/>
                          </a:rPr>
                          <m:t>𝒏</m:t>
                        </m:r>
                      </m:e>
                    </m:d>
                  </m:oMath>
                </a14:m>
                <a:r>
                  <a:rPr lang="en-US" sz="800" b="1" dirty="0">
                    <a:solidFill>
                      <a:srgbClr val="FFF56E"/>
                    </a:solidFill>
                    <a:latin typeface="Bahnschrift" panose="020B0502040204020203" pitchFamily="34" charset="0"/>
                    <a:ea typeface="Heading Now 31-38 Bold"/>
                    <a:cs typeface="Heading Now 31-38 Bold"/>
                    <a:sym typeface="Heading Now 31-38 Bold"/>
                  </a:rPr>
                  <a:t> </a:t>
                </a:r>
                <a:r>
                  <a:rPr lang="en-US" dirty="0">
                    <a:solidFill>
                      <a:srgbClr val="FFF56E"/>
                    </a:solidFill>
                    <a:latin typeface="Bahnschrift" panose="020B0502040204020203" pitchFamily="34" charset="0"/>
                  </a:rPr>
                  <a:t>- Linear: Performance is directly proportional to the amount of data. If you have ten times more data, it takes ten times longer. </a:t>
                </a:r>
                <a:r>
                  <a:rPr lang="en-US" i="1" dirty="0">
                    <a:solidFill>
                      <a:srgbClr val="FFF56E"/>
                    </a:solidFill>
                    <a:latin typeface="Bahnschrift" panose="020B0502040204020203" pitchFamily="34" charset="0"/>
                  </a:rPr>
                  <a:t>Example: Reading every page in a book one by one.</a:t>
                </a:r>
              </a:p>
              <a:p>
                <a:pPr marL="457200" indent="-457200">
                  <a:spcBef>
                    <a:spcPts val="600"/>
                  </a:spcBef>
                  <a:buAutoNum type="arabicPeriod"/>
                </a:pPr>
                <a:r>
                  <a:rPr lang="en-US" b="1" dirty="0">
                    <a:solidFill>
                      <a:srgbClr val="FFF56E"/>
                    </a:solidFill>
                    <a:latin typeface="Bahnschrift" panose="020B0502040204020203" pitchFamily="34" charset="0"/>
                  </a:rPr>
                  <a:t>The Moderate Zone</a:t>
                </a:r>
              </a:p>
              <a:p>
                <a:pPr marL="914400" lvl="1" indent="-457200">
                  <a:spcBef>
                    <a:spcPts val="600"/>
                  </a:spcBef>
                  <a:buFont typeface="Arial" panose="020B0604020202020204" pitchFamily="34" charset="0"/>
                  <a:buChar char="•"/>
                </a:pPr>
                <a14:m>
                  <m:oMath xmlns:m="http://schemas.openxmlformats.org/officeDocument/2006/math">
                    <m:r>
                      <a:rPr lang="en-PH" b="1" i="1">
                        <a:solidFill>
                          <a:srgbClr val="FFF56E"/>
                        </a:solidFill>
                        <a:latin typeface="Cambria Math" panose="02040503050406030204" pitchFamily="18" charset="0"/>
                      </a:rPr>
                      <m:t>𝑶</m:t>
                    </m:r>
                    <m:d>
                      <m:dPr>
                        <m:ctrlPr>
                          <a:rPr lang="en-PH" b="1" i="1">
                            <a:solidFill>
                              <a:srgbClr val="FFF56E"/>
                            </a:solidFill>
                            <a:latin typeface="Cambria Math" panose="02040503050406030204" pitchFamily="18" charset="0"/>
                          </a:rPr>
                        </m:ctrlPr>
                      </m:dPr>
                      <m:e>
                        <m:r>
                          <a:rPr lang="en-PH" b="1" i="1">
                            <a:solidFill>
                              <a:srgbClr val="FFF56E"/>
                            </a:solidFill>
                            <a:latin typeface="Cambria Math" panose="02040503050406030204" pitchFamily="18" charset="0"/>
                          </a:rPr>
                          <m:t>𝒏</m:t>
                        </m:r>
                        <m:func>
                          <m:funcPr>
                            <m:ctrlPr>
                              <a:rPr lang="en-PH" b="1" i="1">
                                <a:solidFill>
                                  <a:srgbClr val="FFF56E"/>
                                </a:solidFill>
                                <a:latin typeface="Cambria Math" panose="02040503050406030204" pitchFamily="18" charset="0"/>
                              </a:rPr>
                            </m:ctrlPr>
                          </m:funcPr>
                          <m:fName>
                            <m:r>
                              <m:rPr>
                                <m:sty m:val="p"/>
                              </m:rPr>
                              <a:rPr lang="en-PH">
                                <a:solidFill>
                                  <a:srgbClr val="FFF56E"/>
                                </a:solidFill>
                                <a:latin typeface="Cambria Math" panose="02040503050406030204" pitchFamily="18" charset="0"/>
                              </a:rPr>
                              <m:t>log</m:t>
                            </m:r>
                          </m:fName>
                          <m:e>
                            <m:r>
                              <a:rPr lang="en-PH" i="1">
                                <a:solidFill>
                                  <a:srgbClr val="FFF56E"/>
                                </a:solidFill>
                                <a:latin typeface="Cambria Math" panose="02040503050406030204" pitchFamily="18" charset="0"/>
                              </a:rPr>
                              <m:t>(</m:t>
                            </m:r>
                            <m:r>
                              <a:rPr lang="en-PH" b="1" i="1">
                                <a:solidFill>
                                  <a:srgbClr val="FFF56E"/>
                                </a:solidFill>
                                <a:latin typeface="Cambria Math" panose="02040503050406030204" pitchFamily="18" charset="0"/>
                              </a:rPr>
                              <m:t>𝒏</m:t>
                            </m:r>
                            <m:r>
                              <a:rPr lang="en-PH" b="1" i="1">
                                <a:solidFill>
                                  <a:srgbClr val="FFF56E"/>
                                </a:solidFill>
                                <a:latin typeface="Cambria Math" panose="02040503050406030204" pitchFamily="18" charset="0"/>
                              </a:rPr>
                              <m:t>)</m:t>
                            </m:r>
                          </m:e>
                        </m:func>
                      </m:e>
                    </m:d>
                  </m:oMath>
                </a14:m>
                <a:r>
                  <a:rPr lang="en-US" sz="800" b="1" dirty="0">
                    <a:solidFill>
                      <a:srgbClr val="FFF56E"/>
                    </a:solidFill>
                    <a:latin typeface="Bahnschrift" panose="020B0502040204020203" pitchFamily="34" charset="0"/>
                    <a:ea typeface="Heading Now 31-38 Bold"/>
                    <a:cs typeface="Heading Now 31-38 Bold"/>
                    <a:sym typeface="Heading Now 31-38 Bold"/>
                  </a:rPr>
                  <a:t> </a:t>
                </a:r>
                <a:r>
                  <a:rPr lang="en-US" dirty="0">
                    <a:solidFill>
                      <a:srgbClr val="FFF56E"/>
                    </a:solidFill>
                    <a:latin typeface="Bahnschrift" panose="020B0502040204020203" pitchFamily="34" charset="0"/>
                  </a:rPr>
                  <a:t>- </a:t>
                </a:r>
                <a:r>
                  <a:rPr lang="en-US" dirty="0" err="1">
                    <a:solidFill>
                      <a:srgbClr val="FFF56E"/>
                    </a:solidFill>
                    <a:latin typeface="Bahnschrift" panose="020B0502040204020203" pitchFamily="34" charset="0"/>
                  </a:rPr>
                  <a:t>Linearithmic</a:t>
                </a:r>
                <a:r>
                  <a:rPr lang="en-US" dirty="0">
                    <a:solidFill>
                      <a:srgbClr val="FFF56E"/>
                    </a:solidFill>
                    <a:latin typeface="Bahnschrift" panose="020B0502040204020203" pitchFamily="34" charset="0"/>
                  </a:rPr>
                  <a:t>: This is the most common complexity for efficient sorting algorithms. It’s slightly worse than linear but much better than quadratic. </a:t>
                </a:r>
                <a:r>
                  <a:rPr lang="en-US" i="1" dirty="0">
                    <a:solidFill>
                      <a:srgbClr val="FFF56E"/>
                    </a:solidFill>
                    <a:latin typeface="Bahnschrift" panose="020B0502040204020203" pitchFamily="34" charset="0"/>
                  </a:rPr>
                  <a:t>Example: Merge Sort or Quick Sort.</a:t>
                </a:r>
              </a:p>
              <a:p>
                <a:pPr marL="457200" indent="-457200">
                  <a:spcBef>
                    <a:spcPts val="600"/>
                  </a:spcBef>
                  <a:buAutoNum type="arabicPeriod"/>
                </a:pPr>
                <a:r>
                  <a:rPr lang="en-US" b="1" dirty="0">
                    <a:solidFill>
                      <a:srgbClr val="FFF56E"/>
                    </a:solidFill>
                    <a:latin typeface="Bahnschrift" panose="020B0502040204020203" pitchFamily="34" charset="0"/>
                  </a:rPr>
                  <a:t>The "Danger" Zone (Slow)</a:t>
                </a:r>
              </a:p>
              <a:p>
                <a:pPr marL="914400" lvl="1" indent="-457200">
                  <a:spcBef>
                    <a:spcPts val="600"/>
                  </a:spcBef>
                  <a:buFont typeface="Arial" panose="020B0604020202020204" pitchFamily="34" charset="0"/>
                  <a:buChar char="•"/>
                </a:pPr>
                <a14:m>
                  <m:oMath xmlns:m="http://schemas.openxmlformats.org/officeDocument/2006/math">
                    <m:r>
                      <a:rPr lang="en-PH" b="1" i="1">
                        <a:solidFill>
                          <a:srgbClr val="FFF56E"/>
                        </a:solidFill>
                        <a:latin typeface="Cambria Math" panose="02040503050406030204" pitchFamily="18" charset="0"/>
                      </a:rPr>
                      <m:t>𝑶</m:t>
                    </m:r>
                    <m:d>
                      <m:dPr>
                        <m:ctrlPr>
                          <a:rPr lang="en-PH" b="1" i="1">
                            <a:solidFill>
                              <a:srgbClr val="FFF56E"/>
                            </a:solidFill>
                            <a:latin typeface="Cambria Math" panose="02040503050406030204" pitchFamily="18" charset="0"/>
                          </a:rPr>
                        </m:ctrlPr>
                      </m:dPr>
                      <m:e>
                        <m:sSup>
                          <m:sSupPr>
                            <m:ctrlPr>
                              <a:rPr lang="en-PH" b="1" i="1">
                                <a:solidFill>
                                  <a:srgbClr val="FFF56E"/>
                                </a:solidFill>
                                <a:latin typeface="Cambria Math" panose="02040503050406030204" pitchFamily="18" charset="0"/>
                              </a:rPr>
                            </m:ctrlPr>
                          </m:sSupPr>
                          <m:e>
                            <m:r>
                              <a:rPr lang="en-PH" b="1" i="1">
                                <a:solidFill>
                                  <a:srgbClr val="FFF56E"/>
                                </a:solidFill>
                                <a:latin typeface="Cambria Math" panose="02040503050406030204" pitchFamily="18" charset="0"/>
                              </a:rPr>
                              <m:t>𝒏</m:t>
                            </m:r>
                          </m:e>
                          <m:sup>
                            <m:r>
                              <a:rPr lang="en-PH" b="1" i="1">
                                <a:solidFill>
                                  <a:srgbClr val="FFF56E"/>
                                </a:solidFill>
                                <a:latin typeface="Cambria Math" panose="02040503050406030204" pitchFamily="18" charset="0"/>
                              </a:rPr>
                              <m:t>𝟐</m:t>
                            </m:r>
                          </m:sup>
                        </m:sSup>
                      </m:e>
                    </m:d>
                  </m:oMath>
                </a14:m>
                <a:r>
                  <a:rPr lang="en-US" sz="800" b="1" dirty="0">
                    <a:solidFill>
                      <a:srgbClr val="FFF56E"/>
                    </a:solidFill>
                    <a:latin typeface="Bahnschrift" panose="020B0502040204020203" pitchFamily="34" charset="0"/>
                    <a:ea typeface="Heading Now 31-38 Bold"/>
                    <a:cs typeface="Heading Now 31-38 Bold"/>
                    <a:sym typeface="Heading Now 31-38 Bold"/>
                  </a:rPr>
                  <a:t> </a:t>
                </a:r>
                <a:r>
                  <a:rPr lang="en-US" dirty="0">
                    <a:solidFill>
                      <a:srgbClr val="FFF56E"/>
                    </a:solidFill>
                    <a:latin typeface="Bahnschrift" panose="020B0502040204020203" pitchFamily="34" charset="0"/>
                  </a:rPr>
                  <a:t>- Quadratic: The time taken grows as the square of the input. These are usually acceptable for small datasets but become unusable for large ones. </a:t>
                </a:r>
                <a:r>
                  <a:rPr lang="en-US" i="1" dirty="0">
                    <a:solidFill>
                      <a:srgbClr val="FFF56E"/>
                    </a:solidFill>
                    <a:latin typeface="Bahnschrift" panose="020B0502040204020203" pitchFamily="34" charset="0"/>
                  </a:rPr>
                  <a:t>Example: Bubble Sort or nested loops.</a:t>
                </a:r>
              </a:p>
              <a:p>
                <a:pPr marL="914400" lvl="1" indent="-457200">
                  <a:spcBef>
                    <a:spcPts val="600"/>
                  </a:spcBef>
                  <a:buFont typeface="Arial" panose="020B0604020202020204" pitchFamily="34" charset="0"/>
                  <a:buChar char="•"/>
                </a:pPr>
                <a14:m>
                  <m:oMath xmlns:m="http://schemas.openxmlformats.org/officeDocument/2006/math">
                    <m:r>
                      <a:rPr lang="en-PH" b="1" i="1">
                        <a:solidFill>
                          <a:srgbClr val="FFF56E"/>
                        </a:solidFill>
                        <a:latin typeface="Cambria Math" panose="02040503050406030204" pitchFamily="18" charset="0"/>
                      </a:rPr>
                      <m:t>𝑶</m:t>
                    </m:r>
                    <m:d>
                      <m:dPr>
                        <m:ctrlPr>
                          <a:rPr lang="en-PH" b="1" i="1">
                            <a:solidFill>
                              <a:srgbClr val="FFF56E"/>
                            </a:solidFill>
                            <a:latin typeface="Cambria Math" panose="02040503050406030204" pitchFamily="18" charset="0"/>
                          </a:rPr>
                        </m:ctrlPr>
                      </m:dPr>
                      <m:e>
                        <m:sSup>
                          <m:sSupPr>
                            <m:ctrlPr>
                              <a:rPr lang="en-PH" b="1" i="1">
                                <a:solidFill>
                                  <a:srgbClr val="FFF56E"/>
                                </a:solidFill>
                                <a:latin typeface="Cambria Math" panose="02040503050406030204" pitchFamily="18" charset="0"/>
                              </a:rPr>
                            </m:ctrlPr>
                          </m:sSupPr>
                          <m:e>
                            <m:r>
                              <a:rPr lang="en-PH" b="1" i="1">
                                <a:solidFill>
                                  <a:srgbClr val="FFF56E"/>
                                </a:solidFill>
                                <a:latin typeface="Cambria Math" panose="02040503050406030204" pitchFamily="18" charset="0"/>
                              </a:rPr>
                              <m:t>𝒏</m:t>
                            </m:r>
                          </m:e>
                          <m:sup>
                            <m:r>
                              <a:rPr lang="en-PH" b="1" i="1" smtClean="0">
                                <a:solidFill>
                                  <a:srgbClr val="FFF56E"/>
                                </a:solidFill>
                                <a:latin typeface="Cambria Math" panose="02040503050406030204" pitchFamily="18" charset="0"/>
                              </a:rPr>
                              <m:t>𝟑</m:t>
                            </m:r>
                          </m:sup>
                        </m:sSup>
                      </m:e>
                    </m:d>
                  </m:oMath>
                </a14:m>
                <a:r>
                  <a:rPr lang="en-US" sz="800" b="1" dirty="0">
                    <a:solidFill>
                      <a:srgbClr val="FFF56E"/>
                    </a:solidFill>
                    <a:latin typeface="Bahnschrift" panose="020B0502040204020203" pitchFamily="34" charset="0"/>
                    <a:ea typeface="Heading Now 31-38 Bold"/>
                    <a:cs typeface="Heading Now 31-38 Bold"/>
                    <a:sym typeface="Heading Now 31-38 Bold"/>
                  </a:rPr>
                  <a:t> </a:t>
                </a:r>
                <a:r>
                  <a:rPr lang="en-US" dirty="0">
                    <a:solidFill>
                      <a:srgbClr val="FFF56E"/>
                    </a:solidFill>
                    <a:latin typeface="Bahnschrift" panose="020B0502040204020203" pitchFamily="34" charset="0"/>
                  </a:rPr>
                  <a:t>- Cubic: Often seen in algorithms that involve three nested loops (like basic matrix multiplication). These scale very poorly.</a:t>
                </a:r>
              </a:p>
              <a:p>
                <a:pPr marL="457200" indent="-457200">
                  <a:spcBef>
                    <a:spcPts val="600"/>
                  </a:spcBef>
                  <a:buAutoNum type="arabicPeriod"/>
                </a:pPr>
                <a:r>
                  <a:rPr lang="en-US" b="1" dirty="0">
                    <a:solidFill>
                      <a:srgbClr val="FFF56E"/>
                    </a:solidFill>
                    <a:latin typeface="Bahnschrift" panose="020B0502040204020203" pitchFamily="34" charset="0"/>
                  </a:rPr>
                  <a:t>The "Horrible" Zone (Explosive Growth)</a:t>
                </a:r>
              </a:p>
              <a:p>
                <a:pPr marL="914400" lvl="1" indent="-457200">
                  <a:spcBef>
                    <a:spcPts val="600"/>
                  </a:spcBef>
                  <a:buFont typeface="Arial" panose="020B0604020202020204" pitchFamily="34" charset="0"/>
                  <a:buChar char="•"/>
                </a:pPr>
                <a14:m>
                  <m:oMath xmlns:m="http://schemas.openxmlformats.org/officeDocument/2006/math">
                    <m:r>
                      <a:rPr lang="en-PH" b="1" i="1" smtClean="0">
                        <a:solidFill>
                          <a:srgbClr val="FFF56E"/>
                        </a:solidFill>
                        <a:latin typeface="Cambria Math" panose="02040503050406030204" pitchFamily="18" charset="0"/>
                      </a:rPr>
                      <m:t>𝑶</m:t>
                    </m:r>
                    <m:d>
                      <m:dPr>
                        <m:ctrlPr>
                          <a:rPr lang="en-PH" b="1" i="1">
                            <a:solidFill>
                              <a:srgbClr val="FFF56E"/>
                            </a:solidFill>
                            <a:latin typeface="Cambria Math" panose="02040503050406030204" pitchFamily="18" charset="0"/>
                          </a:rPr>
                        </m:ctrlPr>
                      </m:dPr>
                      <m:e>
                        <m:sSup>
                          <m:sSupPr>
                            <m:ctrlPr>
                              <a:rPr lang="en-PH" b="1" i="1">
                                <a:solidFill>
                                  <a:srgbClr val="FFF56E"/>
                                </a:solidFill>
                                <a:latin typeface="Cambria Math" panose="02040503050406030204" pitchFamily="18" charset="0"/>
                              </a:rPr>
                            </m:ctrlPr>
                          </m:sSupPr>
                          <m:e>
                            <m:r>
                              <a:rPr lang="en-PH" b="1" i="1">
                                <a:solidFill>
                                  <a:srgbClr val="FFF56E"/>
                                </a:solidFill>
                                <a:latin typeface="Cambria Math" panose="02040503050406030204" pitchFamily="18" charset="0"/>
                              </a:rPr>
                              <m:t>𝟐</m:t>
                            </m:r>
                          </m:e>
                          <m:sup>
                            <m:r>
                              <a:rPr lang="en-PH" b="1" i="1">
                                <a:solidFill>
                                  <a:srgbClr val="FFF56E"/>
                                </a:solidFill>
                                <a:latin typeface="Cambria Math" panose="02040503050406030204" pitchFamily="18" charset="0"/>
                              </a:rPr>
                              <m:t>𝒏</m:t>
                            </m:r>
                          </m:sup>
                        </m:sSup>
                      </m:e>
                    </m:d>
                  </m:oMath>
                </a14:m>
                <a:r>
                  <a:rPr lang="en-US" sz="800" b="1" dirty="0">
                    <a:solidFill>
                      <a:srgbClr val="FFF56E"/>
                    </a:solidFill>
                    <a:latin typeface="Bahnschrift" panose="020B0502040204020203" pitchFamily="34" charset="0"/>
                    <a:ea typeface="Heading Now 31-38 Bold"/>
                    <a:cs typeface="Heading Now 31-38 Bold"/>
                    <a:sym typeface="Heading Now 31-38 Bold"/>
                  </a:rPr>
                  <a:t> </a:t>
                </a:r>
                <a:r>
                  <a:rPr lang="en-US" dirty="0">
                    <a:solidFill>
                      <a:srgbClr val="FFF56E"/>
                    </a:solidFill>
                    <a:latin typeface="Bahnschrift" panose="020B0502040204020203" pitchFamily="34" charset="0"/>
                  </a:rPr>
                  <a:t>- Exponential: The time required doubles with every single addition to the input set. These are usually "brute force" solutions. </a:t>
                </a:r>
                <a:r>
                  <a:rPr lang="en-US" i="1" dirty="0">
                    <a:solidFill>
                      <a:srgbClr val="FFF56E"/>
                    </a:solidFill>
                    <a:latin typeface="Bahnschrift" panose="020B0502040204020203" pitchFamily="34" charset="0"/>
                  </a:rPr>
                  <a:t>Example: Solving the "Towers of Hanoi.“</a:t>
                </a:r>
              </a:p>
              <a:p>
                <a:pPr marL="914400" lvl="1" indent="-457200">
                  <a:spcBef>
                    <a:spcPts val="600"/>
                  </a:spcBef>
                  <a:buFont typeface="Arial" panose="020B0604020202020204" pitchFamily="34" charset="0"/>
                  <a:buChar char="•"/>
                </a:pPr>
                <a14:m>
                  <m:oMath xmlns:m="http://schemas.openxmlformats.org/officeDocument/2006/math">
                    <m:r>
                      <a:rPr lang="en-PH" b="1" i="1">
                        <a:solidFill>
                          <a:srgbClr val="FFF56E"/>
                        </a:solidFill>
                        <a:latin typeface="Cambria Math" panose="02040503050406030204" pitchFamily="18" charset="0"/>
                      </a:rPr>
                      <m:t>𝑶</m:t>
                    </m:r>
                    <m:d>
                      <m:dPr>
                        <m:ctrlPr>
                          <a:rPr lang="en-PH" b="1" i="1">
                            <a:solidFill>
                              <a:srgbClr val="FFF56E"/>
                            </a:solidFill>
                            <a:latin typeface="Cambria Math" panose="02040503050406030204" pitchFamily="18" charset="0"/>
                          </a:rPr>
                        </m:ctrlPr>
                      </m:dPr>
                      <m:e>
                        <m:r>
                          <a:rPr lang="en-PH" b="1" i="1">
                            <a:solidFill>
                              <a:srgbClr val="FFF56E"/>
                            </a:solidFill>
                            <a:latin typeface="Cambria Math" panose="02040503050406030204" pitchFamily="18" charset="0"/>
                          </a:rPr>
                          <m:t>𝒏</m:t>
                        </m:r>
                        <m:r>
                          <a:rPr lang="en-PH" b="1" i="1" smtClean="0">
                            <a:solidFill>
                              <a:srgbClr val="FFF56E"/>
                            </a:solidFill>
                            <a:latin typeface="Cambria Math" panose="02040503050406030204" pitchFamily="18" charset="0"/>
                          </a:rPr>
                          <m:t>!</m:t>
                        </m:r>
                      </m:e>
                    </m:d>
                  </m:oMath>
                </a14:m>
                <a:r>
                  <a:rPr lang="en-US" sz="800" b="1" dirty="0">
                    <a:solidFill>
                      <a:srgbClr val="FFF56E"/>
                    </a:solidFill>
                    <a:latin typeface="Bahnschrift" panose="020B0502040204020203" pitchFamily="34" charset="0"/>
                    <a:ea typeface="Heading Now 31-38 Bold"/>
                    <a:cs typeface="Heading Now 31-38 Bold"/>
                    <a:sym typeface="Heading Now 31-38 Bold"/>
                  </a:rPr>
                  <a:t> </a:t>
                </a:r>
                <a:r>
                  <a:rPr lang="en-US" dirty="0">
                    <a:solidFill>
                      <a:srgbClr val="FFF56E"/>
                    </a:solidFill>
                    <a:latin typeface="Bahnschrift" panose="020B0502040204020203" pitchFamily="34" charset="0"/>
                  </a:rPr>
                  <a:t>- Factorial: The worst of the worst. Even adding one or two items to $N$ can make the calculation take centuries for a computer to finish. </a:t>
                </a:r>
                <a:r>
                  <a:rPr lang="en-US" i="1" dirty="0">
                    <a:solidFill>
                      <a:srgbClr val="FFF56E"/>
                    </a:solidFill>
                    <a:latin typeface="Bahnschrift" panose="020B0502040204020203" pitchFamily="34" charset="0"/>
                  </a:rPr>
                  <a:t>Example: Solving the "Traveling Salesman Problem" by checking every possible route.</a:t>
                </a:r>
                <a:endParaRPr lang="en-US" sz="4000" b="1" i="1" dirty="0">
                  <a:solidFill>
                    <a:srgbClr val="FFF56E"/>
                  </a:solidFill>
                  <a:latin typeface="Bahnschrift" panose="020B0502040204020203" pitchFamily="34" charset="0"/>
                  <a:ea typeface="Heading Now 31-38 Bold"/>
                  <a:cs typeface="Heading Now 31-38 Bold"/>
                  <a:sym typeface="Heading Now 31-38 Bold"/>
                </a:endParaRPr>
              </a:p>
            </p:txBody>
          </p:sp>
        </mc:Choice>
        <mc:Fallback xmlns="">
          <p:sp>
            <p:nvSpPr>
              <p:cNvPr id="5" name="TextBox 3">
                <a:extLst>
                  <a:ext uri="{FF2B5EF4-FFF2-40B4-BE49-F238E27FC236}">
                    <a16:creationId xmlns:a16="http://schemas.microsoft.com/office/drawing/2014/main" id="{14245B73-53C7-29B8-CA06-CAC35090BE5F}"/>
                  </a:ext>
                </a:extLst>
              </p:cNvPr>
              <p:cNvSpPr txBox="1">
                <a:spLocks noRot="1" noChangeAspect="1" noMove="1" noResize="1" noEditPoints="1" noAdjustHandles="1" noChangeArrowheads="1" noChangeShapeType="1" noTextEdit="1"/>
              </p:cNvSpPr>
              <p:nvPr/>
            </p:nvSpPr>
            <p:spPr>
              <a:xfrm>
                <a:off x="786826" y="1333500"/>
                <a:ext cx="8311454" cy="8673656"/>
              </a:xfrm>
              <a:prstGeom prst="rect">
                <a:avLst/>
              </a:prstGeom>
              <a:blipFill>
                <a:blip r:embed="rId3"/>
                <a:stretch>
                  <a:fillRect l="-1393" t="-843" r="-1613" b="-703"/>
                </a:stretch>
              </a:blipFill>
            </p:spPr>
            <p:txBody>
              <a:bodyPr/>
              <a:lstStyle/>
              <a:p>
                <a:r>
                  <a:rPr lang="en-PH">
                    <a:noFill/>
                  </a:rPr>
                  <a:t> </a:t>
                </a:r>
              </a:p>
            </p:txBody>
          </p:sp>
        </mc:Fallback>
      </mc:AlternateContent>
      <p:sp>
        <p:nvSpPr>
          <p:cNvPr id="9" name="TextBox 8">
            <a:extLst>
              <a:ext uri="{FF2B5EF4-FFF2-40B4-BE49-F238E27FC236}">
                <a16:creationId xmlns:a16="http://schemas.microsoft.com/office/drawing/2014/main" id="{79ED15A5-CF3F-A049-170B-6A0925189457}"/>
              </a:ext>
            </a:extLst>
          </p:cNvPr>
          <p:cNvSpPr txBox="1"/>
          <p:nvPr/>
        </p:nvSpPr>
        <p:spPr>
          <a:xfrm>
            <a:off x="10134600" y="9393823"/>
            <a:ext cx="7742593" cy="338554"/>
          </a:xfrm>
          <a:prstGeom prst="rect">
            <a:avLst/>
          </a:prstGeom>
          <a:noFill/>
        </p:spPr>
        <p:txBody>
          <a:bodyPr wrap="square">
            <a:spAutoFit/>
          </a:bodyPr>
          <a:lstStyle/>
          <a:p>
            <a:pPr>
              <a:spcBef>
                <a:spcPts val="600"/>
              </a:spcBef>
            </a:pPr>
            <a:r>
              <a:rPr lang="en-US" sz="1600" i="1" dirty="0">
                <a:solidFill>
                  <a:srgbClr val="FFF56E"/>
                </a:solidFill>
                <a:latin typeface="Bahnschrift" panose="020B0502040204020203" pitchFamily="34" charset="0"/>
              </a:rPr>
              <a:t>The chart is organized from the most efficient (bottom) to the least efficient (top).</a:t>
            </a:r>
          </a:p>
        </p:txBody>
      </p:sp>
    </p:spTree>
    <p:extLst>
      <p:ext uri="{BB962C8B-B14F-4D97-AF65-F5344CB8AC3E}">
        <p14:creationId xmlns:p14="http://schemas.microsoft.com/office/powerpoint/2010/main" val="39769150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DB6A7F3-84C8-1C63-316B-4A97AA070CF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3">
                <a:extLst>
                  <a:ext uri="{FF2B5EF4-FFF2-40B4-BE49-F238E27FC236}">
                    <a16:creationId xmlns:a16="http://schemas.microsoft.com/office/drawing/2014/main" id="{B709132F-104C-682B-E5AF-FE293C97F725}"/>
                  </a:ext>
                </a:extLst>
              </p:cNvPr>
              <p:cNvSpPr txBox="1"/>
              <p:nvPr/>
            </p:nvSpPr>
            <p:spPr>
              <a:xfrm>
                <a:off x="685800" y="6343218"/>
                <a:ext cx="16611600" cy="2462213"/>
              </a:xfrm>
              <a:prstGeom prst="rect">
                <a:avLst/>
              </a:prstGeom>
            </p:spPr>
            <p:txBody>
              <a:bodyPr wrap="square" lIns="0" tIns="0" rIns="0" bIns="0" rtlCol="0" anchor="t">
                <a:spAutoFit/>
              </a:bodyPr>
              <a:lstStyle/>
              <a:p>
                <a:pPr algn="r">
                  <a:spcBef>
                    <a:spcPts val="600"/>
                  </a:spcBef>
                </a:pPr>
                <a:r>
                  <a:rPr lang="en-US" sz="4000" dirty="0">
                    <a:solidFill>
                      <a:srgbClr val="FFF56E"/>
                    </a:solidFill>
                    <a:latin typeface="Bahnschrift" panose="020B0502040204020203" pitchFamily="34" charset="0"/>
                  </a:rPr>
                  <a:t>In computer science, complexity is the study of the resources required by an algorithm to solve a problem. As the size of your data (</a:t>
                </a:r>
                <a14:m>
                  <m:oMath xmlns:m="http://schemas.openxmlformats.org/officeDocument/2006/math">
                    <m:r>
                      <a:rPr lang="en-PH" sz="4000" b="0" i="1" smtClean="0">
                        <a:solidFill>
                          <a:srgbClr val="FFF56E"/>
                        </a:solidFill>
                        <a:latin typeface="Cambria Math" panose="02040503050406030204" pitchFamily="18" charset="0"/>
                      </a:rPr>
                      <m:t>𝑛</m:t>
                    </m:r>
                  </m:oMath>
                </a14:m>
                <a:r>
                  <a:rPr lang="en-US" sz="4000" dirty="0">
                    <a:solidFill>
                      <a:srgbClr val="FFF56E"/>
                    </a:solidFill>
                    <a:latin typeface="Bahnschrift" panose="020B0502040204020203" pitchFamily="34" charset="0"/>
                  </a:rPr>
                  <a:t>) increases, complexity tells you if your program will still finish in your lifetime or if it will crash your system.</a:t>
                </a:r>
                <a:endParaRPr lang="en-US" sz="7200" b="1" dirty="0">
                  <a:solidFill>
                    <a:srgbClr val="FFF56E"/>
                  </a:solidFill>
                  <a:latin typeface="Bahnschrift" panose="020B0502040204020203" pitchFamily="34" charset="0"/>
                  <a:ea typeface="Heading Now 31-38 Bold"/>
                  <a:cs typeface="Heading Now 31-38 Bold"/>
                  <a:sym typeface="Heading Now 31-38 Bold"/>
                </a:endParaRPr>
              </a:p>
            </p:txBody>
          </p:sp>
        </mc:Choice>
        <mc:Fallback xmlns="">
          <p:sp>
            <p:nvSpPr>
              <p:cNvPr id="7" name="TextBox 3">
                <a:extLst>
                  <a:ext uri="{FF2B5EF4-FFF2-40B4-BE49-F238E27FC236}">
                    <a16:creationId xmlns:a16="http://schemas.microsoft.com/office/drawing/2014/main" id="{B709132F-104C-682B-E5AF-FE293C97F725}"/>
                  </a:ext>
                </a:extLst>
              </p:cNvPr>
              <p:cNvSpPr txBox="1">
                <a:spLocks noRot="1" noChangeAspect="1" noMove="1" noResize="1" noEditPoints="1" noAdjustHandles="1" noChangeArrowheads="1" noChangeShapeType="1" noTextEdit="1"/>
              </p:cNvSpPr>
              <p:nvPr/>
            </p:nvSpPr>
            <p:spPr>
              <a:xfrm>
                <a:off x="685800" y="6343218"/>
                <a:ext cx="16611600" cy="2462213"/>
              </a:xfrm>
              <a:prstGeom prst="rect">
                <a:avLst/>
              </a:prstGeom>
              <a:blipFill>
                <a:blip r:embed="rId2"/>
                <a:stretch>
                  <a:fillRect t="-6452" r="-2752" b="-11663"/>
                </a:stretch>
              </a:blipFill>
            </p:spPr>
            <p:txBody>
              <a:bodyPr/>
              <a:lstStyle/>
              <a:p>
                <a:r>
                  <a:rPr lang="en-PH">
                    <a:noFill/>
                  </a:rPr>
                  <a:t> </a:t>
                </a:r>
              </a:p>
            </p:txBody>
          </p:sp>
        </mc:Fallback>
      </mc:AlternateContent>
      <p:sp>
        <p:nvSpPr>
          <p:cNvPr id="3" name="Rectangle 2">
            <a:extLst>
              <a:ext uri="{FF2B5EF4-FFF2-40B4-BE49-F238E27FC236}">
                <a16:creationId xmlns:a16="http://schemas.microsoft.com/office/drawing/2014/main" id="{E4692921-D778-62DC-1C9D-EB3B6428C17E}"/>
              </a:ext>
            </a:extLst>
          </p:cNvPr>
          <p:cNvSpPr/>
          <p:nvPr/>
        </p:nvSpPr>
        <p:spPr>
          <a:xfrm>
            <a:off x="17221200" y="4149493"/>
            <a:ext cx="76200" cy="2000932"/>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TextBox 3">
            <a:extLst>
              <a:ext uri="{FF2B5EF4-FFF2-40B4-BE49-F238E27FC236}">
                <a16:creationId xmlns:a16="http://schemas.microsoft.com/office/drawing/2014/main" id="{29B513CB-ADF7-01EC-22FD-E7F2359F51F2}"/>
              </a:ext>
            </a:extLst>
          </p:cNvPr>
          <p:cNvSpPr txBox="1"/>
          <p:nvPr/>
        </p:nvSpPr>
        <p:spPr>
          <a:xfrm>
            <a:off x="12496800" y="5676900"/>
            <a:ext cx="11432013" cy="931871"/>
          </a:xfrm>
          <a:prstGeom prst="rect">
            <a:avLst/>
          </a:prstGeom>
        </p:spPr>
        <p:txBody>
          <a:bodyPr lIns="0" tIns="0" rIns="0" bIns="0" rtlCol="0" anchor="t">
            <a:spAutoFit/>
          </a:bodyPr>
          <a:lstStyle/>
          <a:p>
            <a:pPr algn="l">
              <a:lnSpc>
                <a:spcPts val="5059"/>
              </a:lnSpc>
            </a:pPr>
            <a:r>
              <a:rPr lang="en-US" sz="11500" b="1" dirty="0">
                <a:solidFill>
                  <a:srgbClr val="FFF56E"/>
                </a:solidFill>
                <a:latin typeface="Heading Now 31-38 Bold"/>
                <a:ea typeface="Heading Now 31-38 Bold"/>
                <a:cs typeface="Heading Now 31-38 Bold"/>
                <a:sym typeface="Heading Now 31-38 Bold"/>
              </a:rPr>
              <a:t>COMPLEXITY</a:t>
            </a:r>
          </a:p>
        </p:txBody>
      </p:sp>
    </p:spTree>
    <p:extLst>
      <p:ext uri="{BB962C8B-B14F-4D97-AF65-F5344CB8AC3E}">
        <p14:creationId xmlns:p14="http://schemas.microsoft.com/office/powerpoint/2010/main" val="33501336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056BEB0-CACA-5D40-DC77-0410A16755AA}"/>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F4051989-C256-C04C-4DC8-DA91A198D82F}"/>
              </a:ext>
            </a:extLst>
          </p:cNvPr>
          <p:cNvSpPr txBox="1"/>
          <p:nvPr/>
        </p:nvSpPr>
        <p:spPr>
          <a:xfrm>
            <a:off x="685800" y="5203625"/>
            <a:ext cx="16611600" cy="1554272"/>
          </a:xfrm>
          <a:prstGeom prst="rect">
            <a:avLst/>
          </a:prstGeom>
        </p:spPr>
        <p:txBody>
          <a:bodyPr wrap="square" lIns="0" tIns="0" rIns="0" bIns="0" rtlCol="0" anchor="t">
            <a:spAutoFit/>
          </a:bodyPr>
          <a:lstStyle/>
          <a:p>
            <a:pPr marL="571500" indent="-571500">
              <a:spcBef>
                <a:spcPts val="600"/>
              </a:spcBef>
              <a:buFont typeface="Arial" panose="020B0604020202020204" pitchFamily="34" charset="0"/>
              <a:buChar char="•"/>
            </a:pPr>
            <a:r>
              <a:rPr lang="en-US" sz="4800" dirty="0">
                <a:solidFill>
                  <a:srgbClr val="FFF56E"/>
                </a:solidFill>
                <a:latin typeface="Bahnschrift" panose="020B0502040204020203" pitchFamily="34" charset="0"/>
              </a:rPr>
              <a:t>CPU Time </a:t>
            </a:r>
            <a:r>
              <a:rPr lang="en-US" sz="4800" i="1" dirty="0">
                <a:solidFill>
                  <a:srgbClr val="FFF56E"/>
                </a:solidFill>
                <a:latin typeface="Bahnschrift" panose="020B0502040204020203" pitchFamily="34" charset="0"/>
              </a:rPr>
              <a:t>(Time Complexity)</a:t>
            </a:r>
          </a:p>
          <a:p>
            <a:pPr marL="571500" indent="-571500">
              <a:spcBef>
                <a:spcPts val="600"/>
              </a:spcBef>
              <a:buFont typeface="Arial" panose="020B0604020202020204" pitchFamily="34" charset="0"/>
              <a:buChar char="•"/>
            </a:pPr>
            <a:r>
              <a:rPr lang="en-US" sz="4800" dirty="0">
                <a:solidFill>
                  <a:srgbClr val="FFF56E"/>
                </a:solidFill>
                <a:latin typeface="Bahnschrift" panose="020B0502040204020203" pitchFamily="34" charset="0"/>
              </a:rPr>
              <a:t>Main memory space </a:t>
            </a:r>
            <a:r>
              <a:rPr lang="en-US" sz="4800" i="1" dirty="0">
                <a:solidFill>
                  <a:srgbClr val="FFF56E"/>
                </a:solidFill>
                <a:latin typeface="Bahnschrift" panose="020B0502040204020203" pitchFamily="34" charset="0"/>
              </a:rPr>
              <a:t>(Space Complexity)</a:t>
            </a:r>
            <a:endParaRPr lang="en-US" sz="8800" b="1" i="1" dirty="0">
              <a:solidFill>
                <a:srgbClr val="FFF56E"/>
              </a:solidFill>
              <a:latin typeface="Bahnschrift" panose="020B0502040204020203" pitchFamily="34" charset="0"/>
              <a:ea typeface="Heading Now 31-38 Bold"/>
              <a:cs typeface="Heading Now 31-38 Bold"/>
              <a:sym typeface="Heading Now 31-38 Bold"/>
            </a:endParaRPr>
          </a:p>
        </p:txBody>
      </p:sp>
      <p:sp>
        <p:nvSpPr>
          <p:cNvPr id="3" name="Rectangle 2">
            <a:extLst>
              <a:ext uri="{FF2B5EF4-FFF2-40B4-BE49-F238E27FC236}">
                <a16:creationId xmlns:a16="http://schemas.microsoft.com/office/drawing/2014/main" id="{787FAE6A-2C02-E466-819F-23DAC1C9F7D5}"/>
              </a:ext>
            </a:extLst>
          </p:cNvPr>
          <p:cNvSpPr/>
          <p:nvPr/>
        </p:nvSpPr>
        <p:spPr>
          <a:xfrm>
            <a:off x="714267" y="3009900"/>
            <a:ext cx="76200" cy="2000932"/>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TextBox 3">
            <a:extLst>
              <a:ext uri="{FF2B5EF4-FFF2-40B4-BE49-F238E27FC236}">
                <a16:creationId xmlns:a16="http://schemas.microsoft.com/office/drawing/2014/main" id="{BFB55134-DBF9-EB83-B4A3-F2ECF4A5F762}"/>
              </a:ext>
            </a:extLst>
          </p:cNvPr>
          <p:cNvSpPr txBox="1"/>
          <p:nvPr/>
        </p:nvSpPr>
        <p:spPr>
          <a:xfrm>
            <a:off x="988587" y="4537307"/>
            <a:ext cx="11432013" cy="931871"/>
          </a:xfrm>
          <a:prstGeom prst="rect">
            <a:avLst/>
          </a:prstGeom>
        </p:spPr>
        <p:txBody>
          <a:bodyPr lIns="0" tIns="0" rIns="0" bIns="0" rtlCol="0" anchor="t">
            <a:spAutoFit/>
          </a:bodyPr>
          <a:lstStyle/>
          <a:p>
            <a:pPr algn="l">
              <a:lnSpc>
                <a:spcPts val="5059"/>
              </a:lnSpc>
            </a:pPr>
            <a:r>
              <a:rPr lang="en-US" sz="11500" b="1" dirty="0">
                <a:solidFill>
                  <a:srgbClr val="FFF56E"/>
                </a:solidFill>
                <a:latin typeface="Heading Now 31-38 Bold"/>
                <a:ea typeface="Heading Now 31-38 Bold"/>
                <a:cs typeface="Heading Now 31-38 Bold"/>
                <a:sym typeface="Heading Now 31-38 Bold"/>
              </a:rPr>
              <a:t>COMPLEXITY</a:t>
            </a:r>
          </a:p>
        </p:txBody>
      </p:sp>
    </p:spTree>
    <p:extLst>
      <p:ext uri="{BB962C8B-B14F-4D97-AF65-F5344CB8AC3E}">
        <p14:creationId xmlns:p14="http://schemas.microsoft.com/office/powerpoint/2010/main" val="26776954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94136E5-CF94-D151-7D17-3CC9EDEFA22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3">
                <a:extLst>
                  <a:ext uri="{FF2B5EF4-FFF2-40B4-BE49-F238E27FC236}">
                    <a16:creationId xmlns:a16="http://schemas.microsoft.com/office/drawing/2014/main" id="{2BF542D5-C798-8E84-DF08-73A7D673BEAC}"/>
                  </a:ext>
                </a:extLst>
              </p:cNvPr>
              <p:cNvSpPr txBox="1"/>
              <p:nvPr/>
            </p:nvSpPr>
            <p:spPr>
              <a:xfrm>
                <a:off x="685800" y="3695475"/>
                <a:ext cx="16611600" cy="4924425"/>
              </a:xfrm>
              <a:prstGeom prst="rect">
                <a:avLst/>
              </a:prstGeom>
            </p:spPr>
            <p:txBody>
              <a:bodyPr wrap="square" lIns="0" tIns="0" rIns="0" bIns="0" rtlCol="0" anchor="t">
                <a:spAutoFit/>
              </a:bodyPr>
              <a:lstStyle/>
              <a:p>
                <a:pPr algn="just">
                  <a:spcBef>
                    <a:spcPts val="600"/>
                  </a:spcBef>
                </a:pPr>
                <a:r>
                  <a:rPr lang="en-US" sz="4000" dirty="0">
                    <a:solidFill>
                      <a:srgbClr val="FFF56E"/>
                    </a:solidFill>
                    <a:latin typeface="Bahnschrift" panose="020B0502040204020203" pitchFamily="34" charset="0"/>
                  </a:rPr>
                  <a:t>Complexity is often used to describe an algorithm. You often hear something like “my sorting algorithm runs in oh of </a:t>
                </a:r>
                <a14:m>
                  <m:oMath xmlns:m="http://schemas.openxmlformats.org/officeDocument/2006/math">
                    <m:sSup>
                      <m:sSupPr>
                        <m:ctrlPr>
                          <a:rPr lang="en-US" sz="4000" i="1">
                            <a:solidFill>
                              <a:srgbClr val="FFF56E"/>
                            </a:solidFill>
                            <a:latin typeface="Cambria Math" panose="02040503050406030204" pitchFamily="18" charset="0"/>
                          </a:rPr>
                        </m:ctrlPr>
                      </m:sSupPr>
                      <m:e>
                        <m:r>
                          <a:rPr lang="en-PH" sz="4000" i="1">
                            <a:solidFill>
                              <a:srgbClr val="FFF56E"/>
                            </a:solidFill>
                            <a:latin typeface="Cambria Math" panose="02040503050406030204" pitchFamily="18" charset="0"/>
                          </a:rPr>
                          <m:t>𝑛</m:t>
                        </m:r>
                      </m:e>
                      <m:sup>
                        <m:r>
                          <a:rPr lang="en-PH" sz="4000" i="1">
                            <a:solidFill>
                              <a:srgbClr val="FFF56E"/>
                            </a:solidFill>
                            <a:latin typeface="Cambria Math" panose="02040503050406030204" pitchFamily="18" charset="0"/>
                          </a:rPr>
                          <m:t>2</m:t>
                        </m:r>
                      </m:sup>
                    </m:sSup>
                  </m:oMath>
                </a14:m>
                <a:r>
                  <a:rPr lang="en-US" sz="4000" dirty="0">
                    <a:solidFill>
                      <a:srgbClr val="FFF56E"/>
                    </a:solidFill>
                    <a:latin typeface="Bahnschrift" panose="020B0502040204020203" pitchFamily="34" charset="0"/>
                  </a:rPr>
                  <a:t> time” in complexity, this is written as </a:t>
                </a:r>
                <a14:m>
                  <m:oMath xmlns:m="http://schemas.openxmlformats.org/officeDocument/2006/math">
                    <m:sSup>
                      <m:sSupPr>
                        <m:ctrlPr>
                          <a:rPr lang="en-US" sz="4000" i="1" smtClean="0">
                            <a:solidFill>
                              <a:srgbClr val="FFF56E"/>
                            </a:solidFill>
                            <a:latin typeface="Cambria Math" panose="02040503050406030204" pitchFamily="18" charset="0"/>
                          </a:rPr>
                        </m:ctrlPr>
                      </m:sSupPr>
                      <m:e>
                        <m:r>
                          <a:rPr lang="en-PH" sz="4000" b="0" i="1" smtClean="0">
                            <a:solidFill>
                              <a:srgbClr val="FFF56E"/>
                            </a:solidFill>
                            <a:latin typeface="Cambria Math" panose="02040503050406030204" pitchFamily="18" charset="0"/>
                          </a:rPr>
                          <m:t>𝑂</m:t>
                        </m:r>
                        <m:r>
                          <a:rPr lang="en-PH" sz="4000" b="0" i="1" smtClean="0">
                            <a:solidFill>
                              <a:srgbClr val="FFF56E"/>
                            </a:solidFill>
                            <a:latin typeface="Cambria Math" panose="02040503050406030204" pitchFamily="18" charset="0"/>
                          </a:rPr>
                          <m:t>(</m:t>
                        </m:r>
                        <m:r>
                          <a:rPr lang="en-PH" sz="4000" i="1">
                            <a:solidFill>
                              <a:srgbClr val="FFF56E"/>
                            </a:solidFill>
                            <a:latin typeface="Cambria Math" panose="02040503050406030204" pitchFamily="18" charset="0"/>
                          </a:rPr>
                          <m:t>𝑛</m:t>
                        </m:r>
                      </m:e>
                      <m:sup>
                        <m:r>
                          <a:rPr lang="en-PH" sz="4000" i="1">
                            <a:solidFill>
                              <a:srgbClr val="FFF56E"/>
                            </a:solidFill>
                            <a:latin typeface="Cambria Math" panose="02040503050406030204" pitchFamily="18" charset="0"/>
                          </a:rPr>
                          <m:t>2</m:t>
                        </m:r>
                      </m:sup>
                    </m:sSup>
                    <m:r>
                      <a:rPr lang="en-PH" sz="4000" b="0" i="1" smtClean="0">
                        <a:solidFill>
                          <a:srgbClr val="FFF56E"/>
                        </a:solidFill>
                        <a:latin typeface="Cambria Math" panose="02040503050406030204" pitchFamily="18" charset="0"/>
                      </a:rPr>
                      <m:t>)</m:t>
                    </m:r>
                  </m:oMath>
                </a14:m>
                <a:r>
                  <a:rPr lang="en-US" sz="4000" dirty="0">
                    <a:solidFill>
                      <a:srgbClr val="FFF56E"/>
                    </a:solidFill>
                    <a:latin typeface="Bahnschrift" panose="020B0502040204020203" pitchFamily="34" charset="0"/>
                  </a:rPr>
                  <a:t> and is polynomial running time. Complexity is used to describe resource use in algorithms. In general, the resources of concern are time and space. The time complexity of an algorithm represents the number of steps it has to take to complete. The space complexity of an algorithm represents the amount of memory the algorithm needs in order to work.</a:t>
                </a:r>
                <a:endParaRPr lang="en-US" sz="7200" b="1" dirty="0">
                  <a:solidFill>
                    <a:srgbClr val="FFF56E"/>
                  </a:solidFill>
                  <a:latin typeface="Bahnschrift" panose="020B0502040204020203" pitchFamily="34" charset="0"/>
                  <a:ea typeface="Heading Now 31-38 Bold"/>
                  <a:cs typeface="Heading Now 31-38 Bold"/>
                  <a:sym typeface="Heading Now 31-38 Bold"/>
                </a:endParaRPr>
              </a:p>
            </p:txBody>
          </p:sp>
        </mc:Choice>
        <mc:Fallback xmlns="">
          <p:sp>
            <p:nvSpPr>
              <p:cNvPr id="7" name="TextBox 3">
                <a:extLst>
                  <a:ext uri="{FF2B5EF4-FFF2-40B4-BE49-F238E27FC236}">
                    <a16:creationId xmlns:a16="http://schemas.microsoft.com/office/drawing/2014/main" id="{2BF542D5-C798-8E84-DF08-73A7D673BEAC}"/>
                  </a:ext>
                </a:extLst>
              </p:cNvPr>
              <p:cNvSpPr txBox="1">
                <a:spLocks noRot="1" noChangeAspect="1" noMove="1" noResize="1" noEditPoints="1" noAdjustHandles="1" noChangeArrowheads="1" noChangeShapeType="1" noTextEdit="1"/>
              </p:cNvSpPr>
              <p:nvPr/>
            </p:nvSpPr>
            <p:spPr>
              <a:xfrm>
                <a:off x="685800" y="3695475"/>
                <a:ext cx="16611600" cy="4924425"/>
              </a:xfrm>
              <a:prstGeom prst="rect">
                <a:avLst/>
              </a:prstGeom>
              <a:blipFill>
                <a:blip r:embed="rId2"/>
                <a:stretch>
                  <a:fillRect l="-1872" t="-3094" r="-2679" b="-5322"/>
                </a:stretch>
              </a:blipFill>
            </p:spPr>
            <p:txBody>
              <a:bodyPr/>
              <a:lstStyle/>
              <a:p>
                <a:r>
                  <a:rPr lang="en-PH">
                    <a:noFill/>
                  </a:rPr>
                  <a:t> </a:t>
                </a:r>
              </a:p>
            </p:txBody>
          </p:sp>
        </mc:Fallback>
      </mc:AlternateContent>
      <p:sp>
        <p:nvSpPr>
          <p:cNvPr id="2" name="TextBox 1">
            <a:extLst>
              <a:ext uri="{FF2B5EF4-FFF2-40B4-BE49-F238E27FC236}">
                <a16:creationId xmlns:a16="http://schemas.microsoft.com/office/drawing/2014/main" id="{A0A4AF45-A23E-22A3-A98F-E69B1622CF27}"/>
              </a:ext>
            </a:extLst>
          </p:cNvPr>
          <p:cNvSpPr txBox="1"/>
          <p:nvPr/>
        </p:nvSpPr>
        <p:spPr>
          <a:xfrm>
            <a:off x="12496800" y="3221029"/>
            <a:ext cx="11432013" cy="931871"/>
          </a:xfrm>
          <a:prstGeom prst="rect">
            <a:avLst/>
          </a:prstGeom>
        </p:spPr>
        <p:txBody>
          <a:bodyPr lIns="0" tIns="0" rIns="0" bIns="0" rtlCol="0" anchor="t">
            <a:spAutoFit/>
          </a:bodyPr>
          <a:lstStyle/>
          <a:p>
            <a:pPr algn="l">
              <a:lnSpc>
                <a:spcPts val="5059"/>
              </a:lnSpc>
            </a:pPr>
            <a:r>
              <a:rPr lang="en-US" sz="11500" b="1" dirty="0">
                <a:solidFill>
                  <a:srgbClr val="FFF56E"/>
                </a:solidFill>
                <a:latin typeface="Heading Now 31-38 Bold"/>
                <a:ea typeface="Heading Now 31-38 Bold"/>
                <a:cs typeface="Heading Now 31-38 Bold"/>
                <a:sym typeface="Heading Now 31-38 Bold"/>
              </a:rPr>
              <a:t>COMPLEXITY</a:t>
            </a:r>
          </a:p>
        </p:txBody>
      </p:sp>
      <p:sp>
        <p:nvSpPr>
          <p:cNvPr id="3" name="Rectangle 2">
            <a:extLst>
              <a:ext uri="{FF2B5EF4-FFF2-40B4-BE49-F238E27FC236}">
                <a16:creationId xmlns:a16="http://schemas.microsoft.com/office/drawing/2014/main" id="{7D762476-032B-593B-9741-F7D8FCEE4948}"/>
              </a:ext>
            </a:extLst>
          </p:cNvPr>
          <p:cNvSpPr/>
          <p:nvPr/>
        </p:nvSpPr>
        <p:spPr>
          <a:xfrm>
            <a:off x="17221200" y="1714500"/>
            <a:ext cx="76200" cy="2000932"/>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29185693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ADB8A05-0C7F-7DE1-1311-C7DE54C1F262}"/>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CD32309F-0FD6-1041-CD1D-13F4D5EF9E39}"/>
              </a:ext>
            </a:extLst>
          </p:cNvPr>
          <p:cNvSpPr txBox="1"/>
          <p:nvPr/>
        </p:nvSpPr>
        <p:spPr>
          <a:xfrm>
            <a:off x="685800" y="3912394"/>
            <a:ext cx="16611600" cy="1231106"/>
          </a:xfrm>
          <a:prstGeom prst="rect">
            <a:avLst/>
          </a:prstGeom>
        </p:spPr>
        <p:txBody>
          <a:bodyPr wrap="square" lIns="0" tIns="0" rIns="0" bIns="0" rtlCol="0" anchor="t">
            <a:spAutoFit/>
          </a:bodyPr>
          <a:lstStyle/>
          <a:p>
            <a:pPr algn="just">
              <a:spcBef>
                <a:spcPts val="600"/>
              </a:spcBef>
            </a:pPr>
            <a:r>
              <a:rPr lang="en-US" sz="4000" dirty="0">
                <a:solidFill>
                  <a:srgbClr val="FFF56E"/>
                </a:solidFill>
                <a:latin typeface="Bahnschrift" panose="020B0502040204020203" pitchFamily="34" charset="0"/>
              </a:rPr>
              <a:t>In short, Time complexity describes the number of steps an algorithm must take relative to the size of the input.</a:t>
            </a:r>
            <a:endParaRPr lang="en-US" sz="7200" b="1" dirty="0">
              <a:solidFill>
                <a:srgbClr val="FFF56E"/>
              </a:solidFill>
              <a:latin typeface="Bahnschrift" panose="020B0502040204020203" pitchFamily="34" charset="0"/>
              <a:ea typeface="Heading Now 31-38 Bold"/>
              <a:cs typeface="Heading Now 31-38 Bold"/>
              <a:sym typeface="Heading Now 31-38 Bold"/>
            </a:endParaRPr>
          </a:p>
        </p:txBody>
      </p:sp>
      <p:sp>
        <p:nvSpPr>
          <p:cNvPr id="2" name="TextBox 1">
            <a:extLst>
              <a:ext uri="{FF2B5EF4-FFF2-40B4-BE49-F238E27FC236}">
                <a16:creationId xmlns:a16="http://schemas.microsoft.com/office/drawing/2014/main" id="{BE7B0FD4-D69C-7541-A488-BC1082949AF7}"/>
              </a:ext>
            </a:extLst>
          </p:cNvPr>
          <p:cNvSpPr txBox="1"/>
          <p:nvPr/>
        </p:nvSpPr>
        <p:spPr>
          <a:xfrm>
            <a:off x="685800" y="3221029"/>
            <a:ext cx="11432013" cy="931871"/>
          </a:xfrm>
          <a:prstGeom prst="rect">
            <a:avLst/>
          </a:prstGeom>
        </p:spPr>
        <p:txBody>
          <a:bodyPr lIns="0" tIns="0" rIns="0" bIns="0" rtlCol="0" anchor="t">
            <a:spAutoFit/>
          </a:bodyPr>
          <a:lstStyle/>
          <a:p>
            <a:pPr algn="l">
              <a:lnSpc>
                <a:spcPts val="5059"/>
              </a:lnSpc>
            </a:pPr>
            <a:r>
              <a:rPr lang="en-US" sz="11500" b="1" dirty="0">
                <a:solidFill>
                  <a:srgbClr val="FFF56E"/>
                </a:solidFill>
                <a:latin typeface="Heading Now 31-38 Bold"/>
                <a:ea typeface="Heading Now 31-38 Bold"/>
                <a:cs typeface="Heading Now 31-38 Bold"/>
                <a:sym typeface="Heading Now 31-38 Bold"/>
              </a:rPr>
              <a:t>COMPLEXITY</a:t>
            </a:r>
          </a:p>
        </p:txBody>
      </p:sp>
      <p:sp>
        <p:nvSpPr>
          <p:cNvPr id="3" name="Rectangle 2">
            <a:extLst>
              <a:ext uri="{FF2B5EF4-FFF2-40B4-BE49-F238E27FC236}">
                <a16:creationId xmlns:a16="http://schemas.microsoft.com/office/drawing/2014/main" id="{8EAEBACB-8FBB-69B8-1C9A-2B7EE7367EA0}"/>
              </a:ext>
            </a:extLst>
          </p:cNvPr>
          <p:cNvSpPr/>
          <p:nvPr/>
        </p:nvSpPr>
        <p:spPr>
          <a:xfrm>
            <a:off x="533400" y="1714500"/>
            <a:ext cx="76200" cy="2000932"/>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TextBox 3">
            <a:extLst>
              <a:ext uri="{FF2B5EF4-FFF2-40B4-BE49-F238E27FC236}">
                <a16:creationId xmlns:a16="http://schemas.microsoft.com/office/drawing/2014/main" id="{97EBED0E-9B3A-A864-BBFE-32EC0B6E7BD7}"/>
              </a:ext>
            </a:extLst>
          </p:cNvPr>
          <p:cNvSpPr txBox="1"/>
          <p:nvPr/>
        </p:nvSpPr>
        <p:spPr>
          <a:xfrm>
            <a:off x="571500" y="5372100"/>
            <a:ext cx="16611600" cy="1846659"/>
          </a:xfrm>
          <a:prstGeom prst="rect">
            <a:avLst/>
          </a:prstGeom>
        </p:spPr>
        <p:txBody>
          <a:bodyPr wrap="square" lIns="0" tIns="0" rIns="0" bIns="0" rtlCol="0" anchor="t">
            <a:spAutoFit/>
          </a:bodyPr>
          <a:lstStyle/>
          <a:p>
            <a:pPr algn="just">
              <a:spcBef>
                <a:spcPts val="600"/>
              </a:spcBef>
            </a:pPr>
            <a:r>
              <a:rPr lang="en-US" sz="4000" b="1" u="sng" dirty="0">
                <a:solidFill>
                  <a:srgbClr val="FFF56E"/>
                </a:solidFill>
                <a:latin typeface="Bahnschrift" panose="020B0502040204020203" pitchFamily="34" charset="0"/>
              </a:rPr>
              <a:t>Constant Time:</a:t>
            </a:r>
            <a:r>
              <a:rPr lang="en-US" sz="4000" dirty="0">
                <a:solidFill>
                  <a:srgbClr val="FFF56E"/>
                </a:solidFill>
                <a:latin typeface="Bahnschrift" panose="020B0502040204020203" pitchFamily="34" charset="0"/>
                <a:ea typeface="Heading Now 31-38 Bold"/>
                <a:cs typeface="Heading Now 31-38 Bold"/>
                <a:sym typeface="Heading Now 31-38 Bold"/>
              </a:rPr>
              <a:t> An algorithm is considered constant time if it only </a:t>
            </a:r>
            <a:r>
              <a:rPr lang="en-US" sz="4000" b="1" i="1" dirty="0">
                <a:solidFill>
                  <a:srgbClr val="FFF56E"/>
                </a:solidFill>
                <a:latin typeface="Bahnschrift" panose="020B0502040204020203" pitchFamily="34" charset="0"/>
                <a:ea typeface="Heading Now 31-38 Bold"/>
                <a:cs typeface="Heading Now 31-38 Bold"/>
                <a:sym typeface="Heading Now 31-38 Bold"/>
              </a:rPr>
              <a:t>performs a single operation on one element</a:t>
            </a:r>
            <a:r>
              <a:rPr lang="en-US" sz="4000" dirty="0">
                <a:solidFill>
                  <a:srgbClr val="FFF56E"/>
                </a:solidFill>
                <a:latin typeface="Bahnschrift" panose="020B0502040204020203" pitchFamily="34" charset="0"/>
                <a:ea typeface="Heading Now 31-38 Bold"/>
                <a:cs typeface="Heading Now 31-38 Bold"/>
                <a:sym typeface="Heading Now 31-38 Bold"/>
              </a:rPr>
              <a:t>, regardless of how large the input size becomes.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1561C98-7B43-B992-2B1C-F64F5E01F386}"/>
                  </a:ext>
                </a:extLst>
              </p:cNvPr>
              <p:cNvSpPr txBox="1"/>
              <p:nvPr/>
            </p:nvSpPr>
            <p:spPr>
              <a:xfrm>
                <a:off x="6831623" y="7460040"/>
                <a:ext cx="4624753" cy="1415387"/>
              </a:xfrm>
              <a:prstGeom prst="rect">
                <a:avLst/>
              </a:prstGeom>
              <a:noFill/>
            </p:spPr>
            <p:txBody>
              <a:bodyPr wrap="square">
                <a:spAutoFit/>
              </a:bodyPr>
              <a:lstStyle/>
              <a:p>
                <a:pPr algn="ctr"/>
                <a14:m>
                  <m:oMath xmlns:m="http://schemas.openxmlformats.org/officeDocument/2006/math">
                    <m:r>
                      <a:rPr lang="en-PH" sz="8800" b="1" i="1" smtClean="0">
                        <a:solidFill>
                          <a:srgbClr val="FFF56E"/>
                        </a:solidFill>
                        <a:latin typeface="Cambria Math" panose="02040503050406030204" pitchFamily="18" charset="0"/>
                      </a:rPr>
                      <m:t>𝑶</m:t>
                    </m:r>
                    <m:d>
                      <m:dPr>
                        <m:ctrlPr>
                          <a:rPr lang="en-PH" sz="8800" b="1" i="1" smtClean="0">
                            <a:solidFill>
                              <a:srgbClr val="FFF56E"/>
                            </a:solidFill>
                            <a:latin typeface="Cambria Math" panose="02040503050406030204" pitchFamily="18" charset="0"/>
                          </a:rPr>
                        </m:ctrlPr>
                      </m:dPr>
                      <m:e>
                        <m:r>
                          <a:rPr lang="en-PH" sz="8800" b="1" i="1" smtClean="0">
                            <a:solidFill>
                              <a:srgbClr val="FFF56E"/>
                            </a:solidFill>
                            <a:latin typeface="Cambria Math" panose="02040503050406030204" pitchFamily="18" charset="0"/>
                          </a:rPr>
                          <m:t>𝟏</m:t>
                        </m:r>
                      </m:e>
                    </m:d>
                  </m:oMath>
                </a14:m>
                <a:r>
                  <a:rPr lang="en-US" sz="1800" b="1" dirty="0">
                    <a:solidFill>
                      <a:srgbClr val="FFF56E"/>
                    </a:solidFill>
                    <a:latin typeface="Bahnschrift" panose="020B0502040204020203" pitchFamily="34" charset="0"/>
                    <a:ea typeface="Heading Now 31-38 Bold"/>
                    <a:cs typeface="Heading Now 31-38 Bold"/>
                    <a:sym typeface="Heading Now 31-38 Bold"/>
                  </a:rPr>
                  <a:t> </a:t>
                </a:r>
                <a:endParaRPr lang="en-PH" b="1" dirty="0"/>
              </a:p>
            </p:txBody>
          </p:sp>
        </mc:Choice>
        <mc:Fallback xmlns="">
          <p:sp>
            <p:nvSpPr>
              <p:cNvPr id="6" name="TextBox 5">
                <a:extLst>
                  <a:ext uri="{FF2B5EF4-FFF2-40B4-BE49-F238E27FC236}">
                    <a16:creationId xmlns:a16="http://schemas.microsoft.com/office/drawing/2014/main" id="{B1561C98-7B43-B992-2B1C-F64F5E01F386}"/>
                  </a:ext>
                </a:extLst>
              </p:cNvPr>
              <p:cNvSpPr txBox="1">
                <a:spLocks noRot="1" noChangeAspect="1" noMove="1" noResize="1" noEditPoints="1" noAdjustHandles="1" noChangeArrowheads="1" noChangeShapeType="1" noTextEdit="1"/>
              </p:cNvSpPr>
              <p:nvPr/>
            </p:nvSpPr>
            <p:spPr>
              <a:xfrm>
                <a:off x="6831623" y="7460040"/>
                <a:ext cx="4624753" cy="1415387"/>
              </a:xfrm>
              <a:prstGeom prst="rect">
                <a:avLst/>
              </a:prstGeom>
              <a:blipFill>
                <a:blip r:embed="rId2"/>
                <a:stretch>
                  <a:fillRect/>
                </a:stretch>
              </a:blipFill>
            </p:spPr>
            <p:txBody>
              <a:bodyPr/>
              <a:lstStyle/>
              <a:p>
                <a:r>
                  <a:rPr lang="en-PH">
                    <a:noFill/>
                  </a:rPr>
                  <a:t> </a:t>
                </a:r>
              </a:p>
            </p:txBody>
          </p:sp>
        </mc:Fallback>
      </mc:AlternateContent>
    </p:spTree>
    <p:extLst>
      <p:ext uri="{BB962C8B-B14F-4D97-AF65-F5344CB8AC3E}">
        <p14:creationId xmlns:p14="http://schemas.microsoft.com/office/powerpoint/2010/main" val="20022758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1F7E1A2-7EEF-6BAF-2723-4E43930BA9CB}"/>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57F8021A-8249-9B7E-44F6-1073A3D381B4}"/>
              </a:ext>
            </a:extLst>
          </p:cNvPr>
          <p:cNvSpPr txBox="1"/>
          <p:nvPr/>
        </p:nvSpPr>
        <p:spPr>
          <a:xfrm>
            <a:off x="685800" y="3912394"/>
            <a:ext cx="16611600" cy="1231106"/>
          </a:xfrm>
          <a:prstGeom prst="rect">
            <a:avLst/>
          </a:prstGeom>
        </p:spPr>
        <p:txBody>
          <a:bodyPr wrap="square" lIns="0" tIns="0" rIns="0" bIns="0" rtlCol="0" anchor="t">
            <a:spAutoFit/>
          </a:bodyPr>
          <a:lstStyle/>
          <a:p>
            <a:pPr algn="just">
              <a:spcBef>
                <a:spcPts val="600"/>
              </a:spcBef>
            </a:pPr>
            <a:r>
              <a:rPr lang="en-US" sz="4000" dirty="0">
                <a:solidFill>
                  <a:srgbClr val="FFF56E"/>
                </a:solidFill>
                <a:latin typeface="Bahnschrift" panose="020B0502040204020203" pitchFamily="34" charset="0"/>
              </a:rPr>
              <a:t>In short, Time complexity describes the number of steps an algorithm must take relative to the size of the input.</a:t>
            </a:r>
            <a:endParaRPr lang="en-US" sz="7200" b="1" dirty="0">
              <a:solidFill>
                <a:srgbClr val="FFF56E"/>
              </a:solidFill>
              <a:latin typeface="Bahnschrift" panose="020B0502040204020203" pitchFamily="34" charset="0"/>
              <a:ea typeface="Heading Now 31-38 Bold"/>
              <a:cs typeface="Heading Now 31-38 Bold"/>
              <a:sym typeface="Heading Now 31-38 Bold"/>
            </a:endParaRPr>
          </a:p>
        </p:txBody>
      </p:sp>
      <p:sp>
        <p:nvSpPr>
          <p:cNvPr id="2" name="TextBox 1">
            <a:extLst>
              <a:ext uri="{FF2B5EF4-FFF2-40B4-BE49-F238E27FC236}">
                <a16:creationId xmlns:a16="http://schemas.microsoft.com/office/drawing/2014/main" id="{DCAEC27D-E174-8294-28EF-E95B95723616}"/>
              </a:ext>
            </a:extLst>
          </p:cNvPr>
          <p:cNvSpPr txBox="1"/>
          <p:nvPr/>
        </p:nvSpPr>
        <p:spPr>
          <a:xfrm>
            <a:off x="685800" y="3221029"/>
            <a:ext cx="11432013" cy="931871"/>
          </a:xfrm>
          <a:prstGeom prst="rect">
            <a:avLst/>
          </a:prstGeom>
        </p:spPr>
        <p:txBody>
          <a:bodyPr lIns="0" tIns="0" rIns="0" bIns="0" rtlCol="0" anchor="t">
            <a:spAutoFit/>
          </a:bodyPr>
          <a:lstStyle/>
          <a:p>
            <a:pPr algn="l">
              <a:lnSpc>
                <a:spcPts val="5059"/>
              </a:lnSpc>
            </a:pPr>
            <a:r>
              <a:rPr lang="en-US" sz="11500" b="1" dirty="0">
                <a:solidFill>
                  <a:srgbClr val="FFF56E"/>
                </a:solidFill>
                <a:latin typeface="Heading Now 31-38 Bold"/>
                <a:ea typeface="Heading Now 31-38 Bold"/>
                <a:cs typeface="Heading Now 31-38 Bold"/>
                <a:sym typeface="Heading Now 31-38 Bold"/>
              </a:rPr>
              <a:t>COMPLEXITY</a:t>
            </a:r>
          </a:p>
        </p:txBody>
      </p:sp>
      <p:sp>
        <p:nvSpPr>
          <p:cNvPr id="3" name="Rectangle 2">
            <a:extLst>
              <a:ext uri="{FF2B5EF4-FFF2-40B4-BE49-F238E27FC236}">
                <a16:creationId xmlns:a16="http://schemas.microsoft.com/office/drawing/2014/main" id="{2C031014-116A-8B70-F376-CD88C3D5AD7A}"/>
              </a:ext>
            </a:extLst>
          </p:cNvPr>
          <p:cNvSpPr/>
          <p:nvPr/>
        </p:nvSpPr>
        <p:spPr>
          <a:xfrm>
            <a:off x="533400" y="1714500"/>
            <a:ext cx="76200" cy="2000932"/>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TextBox 3">
            <a:extLst>
              <a:ext uri="{FF2B5EF4-FFF2-40B4-BE49-F238E27FC236}">
                <a16:creationId xmlns:a16="http://schemas.microsoft.com/office/drawing/2014/main" id="{6BEA4960-2983-7FB0-727B-DEFFC7304B3C}"/>
              </a:ext>
            </a:extLst>
          </p:cNvPr>
          <p:cNvSpPr txBox="1"/>
          <p:nvPr/>
        </p:nvSpPr>
        <p:spPr>
          <a:xfrm>
            <a:off x="571500" y="5372100"/>
            <a:ext cx="16611600" cy="1231106"/>
          </a:xfrm>
          <a:prstGeom prst="rect">
            <a:avLst/>
          </a:prstGeom>
        </p:spPr>
        <p:txBody>
          <a:bodyPr wrap="square" lIns="0" tIns="0" rIns="0" bIns="0" rtlCol="0" anchor="t">
            <a:spAutoFit/>
          </a:bodyPr>
          <a:lstStyle/>
          <a:p>
            <a:pPr algn="just">
              <a:spcBef>
                <a:spcPts val="600"/>
              </a:spcBef>
            </a:pPr>
            <a:r>
              <a:rPr lang="en-US" sz="4000" b="1" u="sng" dirty="0">
                <a:solidFill>
                  <a:srgbClr val="FFF56E"/>
                </a:solidFill>
                <a:latin typeface="Bahnschrift" panose="020B0502040204020203" pitchFamily="34" charset="0"/>
              </a:rPr>
              <a:t>Logarithmic:</a:t>
            </a:r>
            <a:r>
              <a:rPr lang="en-US" sz="4000" dirty="0">
                <a:solidFill>
                  <a:srgbClr val="FFF56E"/>
                </a:solidFill>
                <a:latin typeface="Bahnschrift" panose="020B0502040204020203" pitchFamily="34" charset="0"/>
                <a:ea typeface="Heading Now 31-38 Bold"/>
                <a:cs typeface="Heading Now 31-38 Bold"/>
                <a:sym typeface="Heading Now 31-38 Bold"/>
              </a:rPr>
              <a:t> Time grows </a:t>
            </a:r>
            <a:r>
              <a:rPr lang="en-US" sz="4000" b="1" dirty="0">
                <a:solidFill>
                  <a:srgbClr val="FFF56E"/>
                </a:solidFill>
                <a:latin typeface="Bahnschrift" panose="020B0502040204020203" pitchFamily="34" charset="0"/>
                <a:ea typeface="Heading Now 31-38 Bold"/>
                <a:cs typeface="Heading Now 31-38 Bold"/>
                <a:sym typeface="Heading Now 31-38 Bold"/>
              </a:rPr>
              <a:t>very slowly</a:t>
            </a:r>
            <a:r>
              <a:rPr lang="en-US" sz="4000" dirty="0">
                <a:solidFill>
                  <a:srgbClr val="FFF56E"/>
                </a:solidFill>
                <a:latin typeface="Bahnschrift" panose="020B0502040204020203" pitchFamily="34" charset="0"/>
                <a:ea typeface="Heading Now 31-38 Bold"/>
                <a:cs typeface="Heading Now 31-38 Bold"/>
                <a:sym typeface="Heading Now 31-38 Bold"/>
              </a:rPr>
              <a:t>. Every time you double the data, you only add one extra step </a:t>
            </a:r>
            <a:r>
              <a:rPr lang="en-US" sz="4000" i="1" dirty="0">
                <a:solidFill>
                  <a:srgbClr val="FFF56E"/>
                </a:solidFill>
                <a:latin typeface="Bahnschrift" panose="020B0502040204020203" pitchFamily="34" charset="0"/>
                <a:ea typeface="Heading Now 31-38 Bold"/>
                <a:cs typeface="Heading Now 31-38 Bold"/>
                <a:sym typeface="Heading Now 31-38 Bold"/>
              </a:rPr>
              <a:t>(e.g., Binary Search).</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5D120BE-BF46-838F-58F2-62CE56E9C386}"/>
                  </a:ext>
                </a:extLst>
              </p:cNvPr>
              <p:cNvSpPr txBox="1"/>
              <p:nvPr/>
            </p:nvSpPr>
            <p:spPr>
              <a:xfrm>
                <a:off x="6831623" y="7460040"/>
                <a:ext cx="4624753" cy="1415387"/>
              </a:xfrm>
              <a:prstGeom prst="rect">
                <a:avLst/>
              </a:prstGeom>
              <a:noFill/>
            </p:spPr>
            <p:txBody>
              <a:bodyPr wrap="square">
                <a:spAutoFit/>
              </a:bodyPr>
              <a:lstStyle/>
              <a:p>
                <a:pPr algn="ctr"/>
                <a14:m>
                  <m:oMath xmlns:m="http://schemas.openxmlformats.org/officeDocument/2006/math">
                    <m:r>
                      <a:rPr lang="en-PH" sz="8800" b="1" i="1" smtClean="0">
                        <a:solidFill>
                          <a:srgbClr val="FFF56E"/>
                        </a:solidFill>
                        <a:latin typeface="Cambria Math" panose="02040503050406030204" pitchFamily="18" charset="0"/>
                      </a:rPr>
                      <m:t>𝑶</m:t>
                    </m:r>
                    <m:d>
                      <m:dPr>
                        <m:ctrlPr>
                          <a:rPr lang="en-PH" sz="8800" b="1" i="1" smtClean="0">
                            <a:solidFill>
                              <a:srgbClr val="FFF56E"/>
                            </a:solidFill>
                            <a:latin typeface="Cambria Math" panose="02040503050406030204" pitchFamily="18" charset="0"/>
                          </a:rPr>
                        </m:ctrlPr>
                      </m:dPr>
                      <m:e>
                        <m:func>
                          <m:funcPr>
                            <m:ctrlPr>
                              <a:rPr lang="en-PH" sz="8800" b="1" i="1" smtClean="0">
                                <a:solidFill>
                                  <a:srgbClr val="FFF56E"/>
                                </a:solidFill>
                                <a:latin typeface="Cambria Math" panose="02040503050406030204" pitchFamily="18" charset="0"/>
                              </a:rPr>
                            </m:ctrlPr>
                          </m:funcPr>
                          <m:fName>
                            <m:r>
                              <m:rPr>
                                <m:sty m:val="p"/>
                              </m:rPr>
                              <a:rPr lang="en-PH" sz="8800" b="0" i="0" smtClean="0">
                                <a:solidFill>
                                  <a:srgbClr val="FFF56E"/>
                                </a:solidFill>
                                <a:latin typeface="Cambria Math" panose="02040503050406030204" pitchFamily="18" charset="0"/>
                              </a:rPr>
                              <m:t>log</m:t>
                            </m:r>
                          </m:fName>
                          <m:e>
                            <m:r>
                              <a:rPr lang="en-PH" sz="8800" b="1" i="1" smtClean="0">
                                <a:solidFill>
                                  <a:srgbClr val="FFF56E"/>
                                </a:solidFill>
                                <a:latin typeface="Cambria Math" panose="02040503050406030204" pitchFamily="18" charset="0"/>
                              </a:rPr>
                              <m:t>𝒏</m:t>
                            </m:r>
                          </m:e>
                        </m:func>
                      </m:e>
                    </m:d>
                  </m:oMath>
                </a14:m>
                <a:r>
                  <a:rPr lang="en-US" sz="1800" b="1" dirty="0">
                    <a:solidFill>
                      <a:srgbClr val="FFF56E"/>
                    </a:solidFill>
                    <a:latin typeface="Bahnschrift" panose="020B0502040204020203" pitchFamily="34" charset="0"/>
                    <a:ea typeface="Heading Now 31-38 Bold"/>
                    <a:cs typeface="Heading Now 31-38 Bold"/>
                    <a:sym typeface="Heading Now 31-38 Bold"/>
                  </a:rPr>
                  <a:t> </a:t>
                </a:r>
                <a:endParaRPr lang="en-PH" b="1" dirty="0"/>
              </a:p>
            </p:txBody>
          </p:sp>
        </mc:Choice>
        <mc:Fallback xmlns="">
          <p:sp>
            <p:nvSpPr>
              <p:cNvPr id="6" name="TextBox 5">
                <a:extLst>
                  <a:ext uri="{FF2B5EF4-FFF2-40B4-BE49-F238E27FC236}">
                    <a16:creationId xmlns:a16="http://schemas.microsoft.com/office/drawing/2014/main" id="{E5D120BE-BF46-838F-58F2-62CE56E9C386}"/>
                  </a:ext>
                </a:extLst>
              </p:cNvPr>
              <p:cNvSpPr txBox="1">
                <a:spLocks noRot="1" noChangeAspect="1" noMove="1" noResize="1" noEditPoints="1" noAdjustHandles="1" noChangeArrowheads="1" noChangeShapeType="1" noTextEdit="1"/>
              </p:cNvSpPr>
              <p:nvPr/>
            </p:nvSpPr>
            <p:spPr>
              <a:xfrm>
                <a:off x="6831623" y="7460040"/>
                <a:ext cx="4624753" cy="1415387"/>
              </a:xfrm>
              <a:prstGeom prst="rect">
                <a:avLst/>
              </a:prstGeom>
              <a:blipFill>
                <a:blip r:embed="rId2"/>
                <a:stretch>
                  <a:fillRect/>
                </a:stretch>
              </a:blipFill>
            </p:spPr>
            <p:txBody>
              <a:bodyPr/>
              <a:lstStyle/>
              <a:p>
                <a:r>
                  <a:rPr lang="en-PH">
                    <a:noFill/>
                  </a:rPr>
                  <a:t> </a:t>
                </a:r>
              </a:p>
            </p:txBody>
          </p:sp>
        </mc:Fallback>
      </mc:AlternateContent>
    </p:spTree>
    <p:extLst>
      <p:ext uri="{BB962C8B-B14F-4D97-AF65-F5344CB8AC3E}">
        <p14:creationId xmlns:p14="http://schemas.microsoft.com/office/powerpoint/2010/main" val="12119757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A1792F7-3667-B3A3-E915-E95E498BD019}"/>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FBF338A9-F2C4-7456-CDB4-05AE59B50834}"/>
              </a:ext>
            </a:extLst>
          </p:cNvPr>
          <p:cNvSpPr txBox="1"/>
          <p:nvPr/>
        </p:nvSpPr>
        <p:spPr>
          <a:xfrm>
            <a:off x="685800" y="3912394"/>
            <a:ext cx="16611600" cy="1231106"/>
          </a:xfrm>
          <a:prstGeom prst="rect">
            <a:avLst/>
          </a:prstGeom>
        </p:spPr>
        <p:txBody>
          <a:bodyPr wrap="square" lIns="0" tIns="0" rIns="0" bIns="0" rtlCol="0" anchor="t">
            <a:spAutoFit/>
          </a:bodyPr>
          <a:lstStyle/>
          <a:p>
            <a:pPr algn="just">
              <a:spcBef>
                <a:spcPts val="600"/>
              </a:spcBef>
            </a:pPr>
            <a:r>
              <a:rPr lang="en-US" sz="4000" dirty="0">
                <a:solidFill>
                  <a:srgbClr val="FFF56E"/>
                </a:solidFill>
                <a:latin typeface="Bahnschrift" panose="020B0502040204020203" pitchFamily="34" charset="0"/>
              </a:rPr>
              <a:t>In short, Time complexity describes the number of steps an algorithm must take relative to the size of the input.</a:t>
            </a:r>
            <a:endParaRPr lang="en-US" sz="7200" b="1" dirty="0">
              <a:solidFill>
                <a:srgbClr val="FFF56E"/>
              </a:solidFill>
              <a:latin typeface="Bahnschrift" panose="020B0502040204020203" pitchFamily="34" charset="0"/>
              <a:ea typeface="Heading Now 31-38 Bold"/>
              <a:cs typeface="Heading Now 31-38 Bold"/>
              <a:sym typeface="Heading Now 31-38 Bold"/>
            </a:endParaRPr>
          </a:p>
        </p:txBody>
      </p:sp>
      <p:sp>
        <p:nvSpPr>
          <p:cNvPr id="2" name="TextBox 1">
            <a:extLst>
              <a:ext uri="{FF2B5EF4-FFF2-40B4-BE49-F238E27FC236}">
                <a16:creationId xmlns:a16="http://schemas.microsoft.com/office/drawing/2014/main" id="{2B832868-5DF8-CF67-EA7B-099D1B2CABEF}"/>
              </a:ext>
            </a:extLst>
          </p:cNvPr>
          <p:cNvSpPr txBox="1"/>
          <p:nvPr/>
        </p:nvSpPr>
        <p:spPr>
          <a:xfrm>
            <a:off x="685800" y="3221029"/>
            <a:ext cx="11432013" cy="931871"/>
          </a:xfrm>
          <a:prstGeom prst="rect">
            <a:avLst/>
          </a:prstGeom>
        </p:spPr>
        <p:txBody>
          <a:bodyPr lIns="0" tIns="0" rIns="0" bIns="0" rtlCol="0" anchor="t">
            <a:spAutoFit/>
          </a:bodyPr>
          <a:lstStyle/>
          <a:p>
            <a:pPr algn="l">
              <a:lnSpc>
                <a:spcPts val="5059"/>
              </a:lnSpc>
            </a:pPr>
            <a:r>
              <a:rPr lang="en-US" sz="11500" b="1" dirty="0">
                <a:solidFill>
                  <a:srgbClr val="FFF56E"/>
                </a:solidFill>
                <a:latin typeface="Heading Now 31-38 Bold"/>
                <a:ea typeface="Heading Now 31-38 Bold"/>
                <a:cs typeface="Heading Now 31-38 Bold"/>
                <a:sym typeface="Heading Now 31-38 Bold"/>
              </a:rPr>
              <a:t>COMPLEXITY</a:t>
            </a:r>
          </a:p>
        </p:txBody>
      </p:sp>
      <p:sp>
        <p:nvSpPr>
          <p:cNvPr id="3" name="Rectangle 2">
            <a:extLst>
              <a:ext uri="{FF2B5EF4-FFF2-40B4-BE49-F238E27FC236}">
                <a16:creationId xmlns:a16="http://schemas.microsoft.com/office/drawing/2014/main" id="{A0DECDC3-4F5C-7EB8-6EBA-85E53ADE68EA}"/>
              </a:ext>
            </a:extLst>
          </p:cNvPr>
          <p:cNvSpPr/>
          <p:nvPr/>
        </p:nvSpPr>
        <p:spPr>
          <a:xfrm>
            <a:off x="533400" y="1714500"/>
            <a:ext cx="76200" cy="2000932"/>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51B788C-7A06-92B0-3AF1-BE4E355CBA30}"/>
                  </a:ext>
                </a:extLst>
              </p:cNvPr>
              <p:cNvSpPr txBox="1"/>
              <p:nvPr/>
            </p:nvSpPr>
            <p:spPr>
              <a:xfrm>
                <a:off x="571500" y="5372100"/>
                <a:ext cx="16611600" cy="1231106"/>
              </a:xfrm>
              <a:prstGeom prst="rect">
                <a:avLst/>
              </a:prstGeom>
            </p:spPr>
            <p:txBody>
              <a:bodyPr wrap="square" lIns="0" tIns="0" rIns="0" bIns="0" rtlCol="0" anchor="t">
                <a:spAutoFit/>
              </a:bodyPr>
              <a:lstStyle/>
              <a:p>
                <a:pPr algn="just">
                  <a:spcBef>
                    <a:spcPts val="600"/>
                  </a:spcBef>
                </a:pPr>
                <a:r>
                  <a:rPr lang="en-US" sz="4000" b="1" u="sng" dirty="0">
                    <a:solidFill>
                      <a:srgbClr val="FFF56E"/>
                    </a:solidFill>
                    <a:latin typeface="Bahnschrift" panose="020B0502040204020203" pitchFamily="34" charset="0"/>
                  </a:rPr>
                  <a:t>Linear Time:</a:t>
                </a:r>
                <a:r>
                  <a:rPr lang="en-US" sz="4000" dirty="0">
                    <a:solidFill>
                      <a:srgbClr val="FFF56E"/>
                    </a:solidFill>
                    <a:latin typeface="Bahnschrift" panose="020B0502040204020203" pitchFamily="34" charset="0"/>
                    <a:ea typeface="Heading Now 31-38 Bold"/>
                    <a:cs typeface="Heading Now 31-38 Bold"/>
                    <a:sym typeface="Heading Now 31-38 Bold"/>
                  </a:rPr>
                  <a:t> An algorithm takes linear time if each of the </a:t>
                </a:r>
                <a14:m>
                  <m:oMath xmlns:m="http://schemas.openxmlformats.org/officeDocument/2006/math">
                    <m:r>
                      <a:rPr lang="en-PH" sz="4000" b="0" i="1" dirty="0" smtClean="0">
                        <a:solidFill>
                          <a:srgbClr val="FFF56E"/>
                        </a:solidFill>
                        <a:latin typeface="Cambria Math" panose="02040503050406030204" pitchFamily="18" charset="0"/>
                        <a:ea typeface="Heading Now 31-38 Bold"/>
                        <a:cs typeface="Heading Now 31-38 Bold"/>
                        <a:sym typeface="Heading Now 31-38 Bold"/>
                      </a:rPr>
                      <m:t>𝑛</m:t>
                    </m:r>
                  </m:oMath>
                </a14:m>
                <a:r>
                  <a:rPr lang="en-US" sz="4000" dirty="0">
                    <a:solidFill>
                      <a:srgbClr val="FFF56E"/>
                    </a:solidFill>
                    <a:latin typeface="Bahnschrift" panose="020B0502040204020203" pitchFamily="34" charset="0"/>
                    <a:ea typeface="Heading Now 31-38 Bold"/>
                    <a:cs typeface="Heading Now 31-38 Bold"/>
                    <a:sym typeface="Heading Now 31-38 Bold"/>
                  </a:rPr>
                  <a:t> inputted elements is operated on exactly once.</a:t>
                </a:r>
              </a:p>
            </p:txBody>
          </p:sp>
        </mc:Choice>
        <mc:Fallback xmlns="">
          <p:sp>
            <p:nvSpPr>
              <p:cNvPr id="4" name="TextBox 3">
                <a:extLst>
                  <a:ext uri="{FF2B5EF4-FFF2-40B4-BE49-F238E27FC236}">
                    <a16:creationId xmlns:a16="http://schemas.microsoft.com/office/drawing/2014/main" id="{351B788C-7A06-92B0-3AF1-BE4E355CBA30}"/>
                  </a:ext>
                </a:extLst>
              </p:cNvPr>
              <p:cNvSpPr txBox="1">
                <a:spLocks noRot="1" noChangeAspect="1" noMove="1" noResize="1" noEditPoints="1" noAdjustHandles="1" noChangeArrowheads="1" noChangeShapeType="1" noTextEdit="1"/>
              </p:cNvSpPr>
              <p:nvPr/>
            </p:nvSpPr>
            <p:spPr>
              <a:xfrm>
                <a:off x="571500" y="5372100"/>
                <a:ext cx="16611600" cy="1231106"/>
              </a:xfrm>
              <a:prstGeom prst="rect">
                <a:avLst/>
              </a:prstGeom>
              <a:blipFill>
                <a:blip r:embed="rId2"/>
                <a:stretch>
                  <a:fillRect l="-1872" t="-13861" r="-2679" b="-24257"/>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9A4FA33-42BB-F5CF-327B-0854EF1B987F}"/>
                  </a:ext>
                </a:extLst>
              </p:cNvPr>
              <p:cNvSpPr txBox="1"/>
              <p:nvPr/>
            </p:nvSpPr>
            <p:spPr>
              <a:xfrm>
                <a:off x="6831623" y="7460040"/>
                <a:ext cx="4624753" cy="1415387"/>
              </a:xfrm>
              <a:prstGeom prst="rect">
                <a:avLst/>
              </a:prstGeom>
              <a:noFill/>
            </p:spPr>
            <p:txBody>
              <a:bodyPr wrap="square">
                <a:spAutoFit/>
              </a:bodyPr>
              <a:lstStyle/>
              <a:p>
                <a:pPr algn="ctr"/>
                <a14:m>
                  <m:oMath xmlns:m="http://schemas.openxmlformats.org/officeDocument/2006/math">
                    <m:r>
                      <a:rPr lang="en-PH" sz="8800" b="1" i="1" smtClean="0">
                        <a:solidFill>
                          <a:srgbClr val="FFF56E"/>
                        </a:solidFill>
                        <a:latin typeface="Cambria Math" panose="02040503050406030204" pitchFamily="18" charset="0"/>
                      </a:rPr>
                      <m:t>𝑶</m:t>
                    </m:r>
                    <m:d>
                      <m:dPr>
                        <m:ctrlPr>
                          <a:rPr lang="en-PH" sz="8800" b="1" i="1" smtClean="0">
                            <a:solidFill>
                              <a:srgbClr val="FFF56E"/>
                            </a:solidFill>
                            <a:latin typeface="Cambria Math" panose="02040503050406030204" pitchFamily="18" charset="0"/>
                          </a:rPr>
                        </m:ctrlPr>
                      </m:dPr>
                      <m:e>
                        <m:r>
                          <a:rPr lang="en-PH" sz="8800" b="1" i="1" smtClean="0">
                            <a:solidFill>
                              <a:srgbClr val="FFF56E"/>
                            </a:solidFill>
                            <a:latin typeface="Cambria Math" panose="02040503050406030204" pitchFamily="18" charset="0"/>
                          </a:rPr>
                          <m:t>𝒏</m:t>
                        </m:r>
                      </m:e>
                    </m:d>
                  </m:oMath>
                </a14:m>
                <a:r>
                  <a:rPr lang="en-US" sz="1800" b="1" dirty="0">
                    <a:solidFill>
                      <a:srgbClr val="FFF56E"/>
                    </a:solidFill>
                    <a:latin typeface="Bahnschrift" panose="020B0502040204020203" pitchFamily="34" charset="0"/>
                    <a:ea typeface="Heading Now 31-38 Bold"/>
                    <a:cs typeface="Heading Now 31-38 Bold"/>
                    <a:sym typeface="Heading Now 31-38 Bold"/>
                  </a:rPr>
                  <a:t> </a:t>
                </a:r>
                <a:endParaRPr lang="en-PH" b="1" dirty="0"/>
              </a:p>
            </p:txBody>
          </p:sp>
        </mc:Choice>
        <mc:Fallback xmlns="">
          <p:sp>
            <p:nvSpPr>
              <p:cNvPr id="6" name="TextBox 5">
                <a:extLst>
                  <a:ext uri="{FF2B5EF4-FFF2-40B4-BE49-F238E27FC236}">
                    <a16:creationId xmlns:a16="http://schemas.microsoft.com/office/drawing/2014/main" id="{19A4FA33-42BB-F5CF-327B-0854EF1B987F}"/>
                  </a:ext>
                </a:extLst>
              </p:cNvPr>
              <p:cNvSpPr txBox="1">
                <a:spLocks noRot="1" noChangeAspect="1" noMove="1" noResize="1" noEditPoints="1" noAdjustHandles="1" noChangeArrowheads="1" noChangeShapeType="1" noTextEdit="1"/>
              </p:cNvSpPr>
              <p:nvPr/>
            </p:nvSpPr>
            <p:spPr>
              <a:xfrm>
                <a:off x="6831623" y="7460040"/>
                <a:ext cx="4624753" cy="1415387"/>
              </a:xfrm>
              <a:prstGeom prst="rect">
                <a:avLst/>
              </a:prstGeom>
              <a:blipFill>
                <a:blip r:embed="rId3"/>
                <a:stretch>
                  <a:fillRect/>
                </a:stretch>
              </a:blipFill>
            </p:spPr>
            <p:txBody>
              <a:bodyPr/>
              <a:lstStyle/>
              <a:p>
                <a:r>
                  <a:rPr lang="en-PH">
                    <a:noFill/>
                  </a:rPr>
                  <a:t> </a:t>
                </a:r>
              </a:p>
            </p:txBody>
          </p:sp>
        </mc:Fallback>
      </mc:AlternateContent>
    </p:spTree>
    <p:extLst>
      <p:ext uri="{BB962C8B-B14F-4D97-AF65-F5344CB8AC3E}">
        <p14:creationId xmlns:p14="http://schemas.microsoft.com/office/powerpoint/2010/main" val="7889150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396A034-E244-0A06-DA6B-CB7157AF1114}"/>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538DA05E-99D7-BA2A-6AF7-F0FBDC9B634F}"/>
              </a:ext>
            </a:extLst>
          </p:cNvPr>
          <p:cNvSpPr txBox="1"/>
          <p:nvPr/>
        </p:nvSpPr>
        <p:spPr>
          <a:xfrm>
            <a:off x="685800" y="3912394"/>
            <a:ext cx="16611600" cy="1231106"/>
          </a:xfrm>
          <a:prstGeom prst="rect">
            <a:avLst/>
          </a:prstGeom>
        </p:spPr>
        <p:txBody>
          <a:bodyPr wrap="square" lIns="0" tIns="0" rIns="0" bIns="0" rtlCol="0" anchor="t">
            <a:spAutoFit/>
          </a:bodyPr>
          <a:lstStyle/>
          <a:p>
            <a:pPr algn="just">
              <a:spcBef>
                <a:spcPts val="600"/>
              </a:spcBef>
            </a:pPr>
            <a:r>
              <a:rPr lang="en-US" sz="4000" dirty="0">
                <a:solidFill>
                  <a:srgbClr val="FFF56E"/>
                </a:solidFill>
                <a:latin typeface="Bahnschrift" panose="020B0502040204020203" pitchFamily="34" charset="0"/>
              </a:rPr>
              <a:t>In short, Time complexity describes the number of steps an algorithm must take relative to the size of the input.</a:t>
            </a:r>
            <a:endParaRPr lang="en-US" sz="7200" b="1" dirty="0">
              <a:solidFill>
                <a:srgbClr val="FFF56E"/>
              </a:solidFill>
              <a:latin typeface="Bahnschrift" panose="020B0502040204020203" pitchFamily="34" charset="0"/>
              <a:ea typeface="Heading Now 31-38 Bold"/>
              <a:cs typeface="Heading Now 31-38 Bold"/>
              <a:sym typeface="Heading Now 31-38 Bold"/>
            </a:endParaRPr>
          </a:p>
        </p:txBody>
      </p:sp>
      <p:sp>
        <p:nvSpPr>
          <p:cNvPr id="2" name="TextBox 1">
            <a:extLst>
              <a:ext uri="{FF2B5EF4-FFF2-40B4-BE49-F238E27FC236}">
                <a16:creationId xmlns:a16="http://schemas.microsoft.com/office/drawing/2014/main" id="{F208B147-5D8A-A5FB-DA81-F292C2E46B8D}"/>
              </a:ext>
            </a:extLst>
          </p:cNvPr>
          <p:cNvSpPr txBox="1"/>
          <p:nvPr/>
        </p:nvSpPr>
        <p:spPr>
          <a:xfrm>
            <a:off x="685800" y="3221029"/>
            <a:ext cx="11432013" cy="931871"/>
          </a:xfrm>
          <a:prstGeom prst="rect">
            <a:avLst/>
          </a:prstGeom>
        </p:spPr>
        <p:txBody>
          <a:bodyPr lIns="0" tIns="0" rIns="0" bIns="0" rtlCol="0" anchor="t">
            <a:spAutoFit/>
          </a:bodyPr>
          <a:lstStyle/>
          <a:p>
            <a:pPr algn="l">
              <a:lnSpc>
                <a:spcPts val="5059"/>
              </a:lnSpc>
            </a:pPr>
            <a:r>
              <a:rPr lang="en-US" sz="11500" b="1" dirty="0">
                <a:solidFill>
                  <a:srgbClr val="FFF56E"/>
                </a:solidFill>
                <a:latin typeface="Heading Now 31-38 Bold"/>
                <a:ea typeface="Heading Now 31-38 Bold"/>
                <a:cs typeface="Heading Now 31-38 Bold"/>
                <a:sym typeface="Heading Now 31-38 Bold"/>
              </a:rPr>
              <a:t>COMPLEXITY</a:t>
            </a:r>
          </a:p>
        </p:txBody>
      </p:sp>
      <p:sp>
        <p:nvSpPr>
          <p:cNvPr id="3" name="Rectangle 2">
            <a:extLst>
              <a:ext uri="{FF2B5EF4-FFF2-40B4-BE49-F238E27FC236}">
                <a16:creationId xmlns:a16="http://schemas.microsoft.com/office/drawing/2014/main" id="{845B5157-80E3-AFD3-73B2-BC27C0ABA376}"/>
              </a:ext>
            </a:extLst>
          </p:cNvPr>
          <p:cNvSpPr/>
          <p:nvPr/>
        </p:nvSpPr>
        <p:spPr>
          <a:xfrm>
            <a:off x="533400" y="1714500"/>
            <a:ext cx="76200" cy="2000932"/>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TextBox 3">
            <a:extLst>
              <a:ext uri="{FF2B5EF4-FFF2-40B4-BE49-F238E27FC236}">
                <a16:creationId xmlns:a16="http://schemas.microsoft.com/office/drawing/2014/main" id="{985261D0-E9C7-CE72-5839-91B22542C841}"/>
              </a:ext>
            </a:extLst>
          </p:cNvPr>
          <p:cNvSpPr txBox="1"/>
          <p:nvPr/>
        </p:nvSpPr>
        <p:spPr>
          <a:xfrm>
            <a:off x="571500" y="5372100"/>
            <a:ext cx="16611600" cy="1231106"/>
          </a:xfrm>
          <a:prstGeom prst="rect">
            <a:avLst/>
          </a:prstGeom>
        </p:spPr>
        <p:txBody>
          <a:bodyPr wrap="square" lIns="0" tIns="0" rIns="0" bIns="0" rtlCol="0" anchor="t">
            <a:spAutoFit/>
          </a:bodyPr>
          <a:lstStyle/>
          <a:p>
            <a:pPr algn="just">
              <a:spcBef>
                <a:spcPts val="600"/>
              </a:spcBef>
            </a:pPr>
            <a:r>
              <a:rPr lang="en-US" sz="4000" b="1" u="sng" dirty="0">
                <a:solidFill>
                  <a:srgbClr val="FFF56E"/>
                </a:solidFill>
                <a:latin typeface="Bahnschrift" panose="020B0502040204020203" pitchFamily="34" charset="0"/>
              </a:rPr>
              <a:t>Quadratic:</a:t>
            </a:r>
            <a:r>
              <a:rPr lang="en-US" sz="4000" dirty="0">
                <a:solidFill>
                  <a:srgbClr val="FFF56E"/>
                </a:solidFill>
                <a:latin typeface="Bahnschrift" panose="020B0502040204020203" pitchFamily="34" charset="0"/>
                <a:ea typeface="Heading Now 31-38 Bold"/>
                <a:cs typeface="Heading Now 31-38 Bold"/>
                <a:sym typeface="Heading Now 31-38 Bold"/>
              </a:rPr>
              <a:t> Time </a:t>
            </a:r>
            <a:r>
              <a:rPr lang="en-US" sz="4000" b="1" dirty="0">
                <a:solidFill>
                  <a:srgbClr val="FFF56E"/>
                </a:solidFill>
                <a:latin typeface="Bahnschrift" panose="020B0502040204020203" pitchFamily="34" charset="0"/>
                <a:ea typeface="Heading Now 31-38 Bold"/>
                <a:cs typeface="Heading Now 31-38 Bold"/>
                <a:sym typeface="Heading Now 31-38 Bold"/>
              </a:rPr>
              <a:t>grows exponentially with the data</a:t>
            </a:r>
            <a:r>
              <a:rPr lang="en-US" sz="4000" dirty="0">
                <a:solidFill>
                  <a:srgbClr val="FFF56E"/>
                </a:solidFill>
                <a:latin typeface="Bahnschrift" panose="020B0502040204020203" pitchFamily="34" charset="0"/>
                <a:ea typeface="Heading Now 31-38 Bold"/>
                <a:cs typeface="Heading Now 31-38 Bold"/>
                <a:sym typeface="Heading Now 31-38 Bold"/>
              </a:rPr>
              <a:t>. If you double the data, the time </a:t>
            </a:r>
            <a:r>
              <a:rPr lang="en-US" sz="4000" i="1" dirty="0">
                <a:solidFill>
                  <a:srgbClr val="FFF56E"/>
                </a:solidFill>
                <a:latin typeface="Bahnschrift" panose="020B0502040204020203" pitchFamily="34" charset="0"/>
                <a:ea typeface="Heading Now 31-38 Bold"/>
                <a:cs typeface="Heading Now 31-38 Bold"/>
                <a:sym typeface="Heading Now 31-38 Bold"/>
              </a:rPr>
              <a:t>quadruples (e.g., nested loops like Bubble Sort).</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5F93387-6634-EBD0-02D4-EAC230AA8AD6}"/>
                  </a:ext>
                </a:extLst>
              </p:cNvPr>
              <p:cNvSpPr txBox="1"/>
              <p:nvPr/>
            </p:nvSpPr>
            <p:spPr>
              <a:xfrm>
                <a:off x="6831623" y="7460040"/>
                <a:ext cx="4624753" cy="1671035"/>
              </a:xfrm>
              <a:prstGeom prst="rect">
                <a:avLst/>
              </a:prstGeom>
              <a:noFill/>
            </p:spPr>
            <p:txBody>
              <a:bodyPr wrap="square">
                <a:spAutoFit/>
              </a:bodyPr>
              <a:lstStyle/>
              <a:p>
                <a:pPr algn="ctr"/>
                <a14:m>
                  <m:oMath xmlns:m="http://schemas.openxmlformats.org/officeDocument/2006/math">
                    <m:r>
                      <a:rPr lang="en-PH" sz="8800" b="1" i="1" smtClean="0">
                        <a:solidFill>
                          <a:srgbClr val="FFF56E"/>
                        </a:solidFill>
                        <a:latin typeface="Cambria Math" panose="02040503050406030204" pitchFamily="18" charset="0"/>
                      </a:rPr>
                      <m:t>𝑶</m:t>
                    </m:r>
                    <m:d>
                      <m:dPr>
                        <m:ctrlPr>
                          <a:rPr lang="en-PH" sz="8800" b="1" i="1" smtClean="0">
                            <a:solidFill>
                              <a:srgbClr val="FFF56E"/>
                            </a:solidFill>
                            <a:latin typeface="Cambria Math" panose="02040503050406030204" pitchFamily="18" charset="0"/>
                          </a:rPr>
                        </m:ctrlPr>
                      </m:dPr>
                      <m:e>
                        <m:sSup>
                          <m:sSupPr>
                            <m:ctrlPr>
                              <a:rPr lang="en-PH" sz="8800" b="1" i="1" smtClean="0">
                                <a:solidFill>
                                  <a:srgbClr val="FFF56E"/>
                                </a:solidFill>
                                <a:latin typeface="Cambria Math" panose="02040503050406030204" pitchFamily="18" charset="0"/>
                              </a:rPr>
                            </m:ctrlPr>
                          </m:sSupPr>
                          <m:e>
                            <m:r>
                              <a:rPr lang="en-PH" sz="8800" b="1" i="1" smtClean="0">
                                <a:solidFill>
                                  <a:srgbClr val="FFF56E"/>
                                </a:solidFill>
                                <a:latin typeface="Cambria Math" panose="02040503050406030204" pitchFamily="18" charset="0"/>
                              </a:rPr>
                              <m:t>𝒏</m:t>
                            </m:r>
                          </m:e>
                          <m:sup>
                            <m:r>
                              <a:rPr lang="en-PH" sz="8800" b="1" i="1" smtClean="0">
                                <a:solidFill>
                                  <a:srgbClr val="FFF56E"/>
                                </a:solidFill>
                                <a:latin typeface="Cambria Math" panose="02040503050406030204" pitchFamily="18" charset="0"/>
                              </a:rPr>
                              <m:t>𝟐</m:t>
                            </m:r>
                          </m:sup>
                        </m:sSup>
                      </m:e>
                    </m:d>
                  </m:oMath>
                </a14:m>
                <a:r>
                  <a:rPr lang="en-US" sz="1800" b="1" dirty="0">
                    <a:solidFill>
                      <a:srgbClr val="FFF56E"/>
                    </a:solidFill>
                    <a:latin typeface="Bahnschrift" panose="020B0502040204020203" pitchFamily="34" charset="0"/>
                    <a:ea typeface="Heading Now 31-38 Bold"/>
                    <a:cs typeface="Heading Now 31-38 Bold"/>
                    <a:sym typeface="Heading Now 31-38 Bold"/>
                  </a:rPr>
                  <a:t> </a:t>
                </a:r>
                <a:endParaRPr lang="en-PH" b="1" dirty="0"/>
              </a:p>
            </p:txBody>
          </p:sp>
        </mc:Choice>
        <mc:Fallback xmlns="">
          <p:sp>
            <p:nvSpPr>
              <p:cNvPr id="6" name="TextBox 5">
                <a:extLst>
                  <a:ext uri="{FF2B5EF4-FFF2-40B4-BE49-F238E27FC236}">
                    <a16:creationId xmlns:a16="http://schemas.microsoft.com/office/drawing/2014/main" id="{D5F93387-6634-EBD0-02D4-EAC230AA8AD6}"/>
                  </a:ext>
                </a:extLst>
              </p:cNvPr>
              <p:cNvSpPr txBox="1">
                <a:spLocks noRot="1" noChangeAspect="1" noMove="1" noResize="1" noEditPoints="1" noAdjustHandles="1" noChangeArrowheads="1" noChangeShapeType="1" noTextEdit="1"/>
              </p:cNvSpPr>
              <p:nvPr/>
            </p:nvSpPr>
            <p:spPr>
              <a:xfrm>
                <a:off x="6831623" y="7460040"/>
                <a:ext cx="4624753" cy="1671035"/>
              </a:xfrm>
              <a:prstGeom prst="rect">
                <a:avLst/>
              </a:prstGeom>
              <a:blipFill>
                <a:blip r:embed="rId2"/>
                <a:stretch>
                  <a:fillRect/>
                </a:stretch>
              </a:blipFill>
            </p:spPr>
            <p:txBody>
              <a:bodyPr/>
              <a:lstStyle/>
              <a:p>
                <a:r>
                  <a:rPr lang="en-PH">
                    <a:noFill/>
                  </a:rPr>
                  <a:t> </a:t>
                </a:r>
              </a:p>
            </p:txBody>
          </p:sp>
        </mc:Fallback>
      </mc:AlternateContent>
    </p:spTree>
    <p:extLst>
      <p:ext uri="{BB962C8B-B14F-4D97-AF65-F5344CB8AC3E}">
        <p14:creationId xmlns:p14="http://schemas.microsoft.com/office/powerpoint/2010/main" val="19192180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F3C8890-2603-CFF5-77D5-DA63BD5A549B}"/>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EA3CC503-7957-7DF2-5397-C63316E52A5A}"/>
              </a:ext>
            </a:extLst>
          </p:cNvPr>
          <p:cNvSpPr txBox="1"/>
          <p:nvPr/>
        </p:nvSpPr>
        <p:spPr>
          <a:xfrm>
            <a:off x="685800" y="3912394"/>
            <a:ext cx="16611600" cy="1231106"/>
          </a:xfrm>
          <a:prstGeom prst="rect">
            <a:avLst/>
          </a:prstGeom>
        </p:spPr>
        <p:txBody>
          <a:bodyPr wrap="square" lIns="0" tIns="0" rIns="0" bIns="0" rtlCol="0" anchor="t">
            <a:spAutoFit/>
          </a:bodyPr>
          <a:lstStyle/>
          <a:p>
            <a:pPr algn="just">
              <a:spcBef>
                <a:spcPts val="600"/>
              </a:spcBef>
            </a:pPr>
            <a:r>
              <a:rPr lang="en-US" sz="4000" dirty="0">
                <a:solidFill>
                  <a:srgbClr val="FFF56E"/>
                </a:solidFill>
                <a:latin typeface="Bahnschrift" panose="020B0502040204020203" pitchFamily="34" charset="0"/>
              </a:rPr>
              <a:t>In short, Time complexity describes the number of steps an algorithm must take relative to the size of the input.</a:t>
            </a:r>
            <a:endParaRPr lang="en-US" sz="7200" b="1" dirty="0">
              <a:solidFill>
                <a:srgbClr val="FFF56E"/>
              </a:solidFill>
              <a:latin typeface="Bahnschrift" panose="020B0502040204020203" pitchFamily="34" charset="0"/>
              <a:ea typeface="Heading Now 31-38 Bold"/>
              <a:cs typeface="Heading Now 31-38 Bold"/>
              <a:sym typeface="Heading Now 31-38 Bold"/>
            </a:endParaRPr>
          </a:p>
        </p:txBody>
      </p:sp>
      <p:sp>
        <p:nvSpPr>
          <p:cNvPr id="2" name="TextBox 1">
            <a:extLst>
              <a:ext uri="{FF2B5EF4-FFF2-40B4-BE49-F238E27FC236}">
                <a16:creationId xmlns:a16="http://schemas.microsoft.com/office/drawing/2014/main" id="{3477BF2A-9125-8670-54ED-CDDEED49CDB8}"/>
              </a:ext>
            </a:extLst>
          </p:cNvPr>
          <p:cNvSpPr txBox="1"/>
          <p:nvPr/>
        </p:nvSpPr>
        <p:spPr>
          <a:xfrm>
            <a:off x="685800" y="3221029"/>
            <a:ext cx="11432013" cy="931871"/>
          </a:xfrm>
          <a:prstGeom prst="rect">
            <a:avLst/>
          </a:prstGeom>
        </p:spPr>
        <p:txBody>
          <a:bodyPr lIns="0" tIns="0" rIns="0" bIns="0" rtlCol="0" anchor="t">
            <a:spAutoFit/>
          </a:bodyPr>
          <a:lstStyle/>
          <a:p>
            <a:pPr algn="l">
              <a:lnSpc>
                <a:spcPts val="5059"/>
              </a:lnSpc>
            </a:pPr>
            <a:r>
              <a:rPr lang="en-US" sz="11500" b="1" dirty="0">
                <a:solidFill>
                  <a:srgbClr val="FFF56E"/>
                </a:solidFill>
                <a:latin typeface="Heading Now 31-38 Bold"/>
                <a:ea typeface="Heading Now 31-38 Bold"/>
                <a:cs typeface="Heading Now 31-38 Bold"/>
                <a:sym typeface="Heading Now 31-38 Bold"/>
              </a:rPr>
              <a:t>COMPLEXITY</a:t>
            </a:r>
          </a:p>
        </p:txBody>
      </p:sp>
      <p:sp>
        <p:nvSpPr>
          <p:cNvPr id="3" name="Rectangle 2">
            <a:extLst>
              <a:ext uri="{FF2B5EF4-FFF2-40B4-BE49-F238E27FC236}">
                <a16:creationId xmlns:a16="http://schemas.microsoft.com/office/drawing/2014/main" id="{3616DC45-EDBF-6307-66E4-A54406D60051}"/>
              </a:ext>
            </a:extLst>
          </p:cNvPr>
          <p:cNvSpPr/>
          <p:nvPr/>
        </p:nvSpPr>
        <p:spPr>
          <a:xfrm>
            <a:off x="533400" y="1714500"/>
            <a:ext cx="76200" cy="2000932"/>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TextBox 3">
            <a:extLst>
              <a:ext uri="{FF2B5EF4-FFF2-40B4-BE49-F238E27FC236}">
                <a16:creationId xmlns:a16="http://schemas.microsoft.com/office/drawing/2014/main" id="{F6F30D8C-8416-9E0E-D3BD-350F65A54F0D}"/>
              </a:ext>
            </a:extLst>
          </p:cNvPr>
          <p:cNvSpPr txBox="1"/>
          <p:nvPr/>
        </p:nvSpPr>
        <p:spPr>
          <a:xfrm>
            <a:off x="571500" y="5372100"/>
            <a:ext cx="16611600" cy="1231106"/>
          </a:xfrm>
          <a:prstGeom prst="rect">
            <a:avLst/>
          </a:prstGeom>
        </p:spPr>
        <p:txBody>
          <a:bodyPr wrap="square" lIns="0" tIns="0" rIns="0" bIns="0" rtlCol="0" anchor="t">
            <a:spAutoFit/>
          </a:bodyPr>
          <a:lstStyle/>
          <a:p>
            <a:pPr algn="just">
              <a:spcBef>
                <a:spcPts val="600"/>
              </a:spcBef>
            </a:pPr>
            <a:r>
              <a:rPr lang="en-US" sz="4000" b="1" u="sng" dirty="0" err="1">
                <a:solidFill>
                  <a:srgbClr val="FFF56E"/>
                </a:solidFill>
                <a:latin typeface="Bahnschrift" panose="020B0502040204020203" pitchFamily="34" charset="0"/>
              </a:rPr>
              <a:t>Linearithmic</a:t>
            </a:r>
            <a:r>
              <a:rPr lang="en-US" sz="4000" b="1" u="sng" dirty="0">
                <a:solidFill>
                  <a:srgbClr val="FFF56E"/>
                </a:solidFill>
                <a:latin typeface="Bahnschrift" panose="020B0502040204020203" pitchFamily="34" charset="0"/>
              </a:rPr>
              <a:t>: </a:t>
            </a:r>
            <a:r>
              <a:rPr lang="en-US" sz="4000" dirty="0">
                <a:solidFill>
                  <a:srgbClr val="FFF56E"/>
                </a:solidFill>
                <a:latin typeface="Bahnschrift" panose="020B0502040204020203" pitchFamily="34" charset="0"/>
              </a:rPr>
              <a:t>The standard for efficient sorting </a:t>
            </a:r>
            <a:r>
              <a:rPr lang="en-US" sz="4000" i="1" dirty="0">
                <a:solidFill>
                  <a:srgbClr val="FFF56E"/>
                </a:solidFill>
                <a:latin typeface="Bahnschrift" panose="020B0502040204020203" pitchFamily="34" charset="0"/>
              </a:rPr>
              <a:t>(e.g., Merge Sort or Quick Sort).</a:t>
            </a:r>
            <a:endParaRPr lang="en-US" sz="4000" i="1" dirty="0">
              <a:solidFill>
                <a:srgbClr val="FFF56E"/>
              </a:solidFill>
              <a:latin typeface="Bahnschrift" panose="020B0502040204020203" pitchFamily="34" charset="0"/>
              <a:ea typeface="Heading Now 31-38 Bold"/>
              <a:cs typeface="Heading Now 31-38 Bold"/>
              <a:sym typeface="Heading Now 31-38 Bold"/>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1BE81B9-2B48-A4CE-BE89-99A4C1FA6EB5}"/>
                  </a:ext>
                </a:extLst>
              </p:cNvPr>
              <p:cNvSpPr txBox="1"/>
              <p:nvPr/>
            </p:nvSpPr>
            <p:spPr>
              <a:xfrm>
                <a:off x="6831623" y="7460040"/>
                <a:ext cx="4624753" cy="1415387"/>
              </a:xfrm>
              <a:prstGeom prst="rect">
                <a:avLst/>
              </a:prstGeom>
              <a:noFill/>
            </p:spPr>
            <p:txBody>
              <a:bodyPr wrap="square">
                <a:spAutoFit/>
              </a:bodyPr>
              <a:lstStyle/>
              <a:p>
                <a:pPr algn="ctr"/>
                <a14:m>
                  <m:oMath xmlns:m="http://schemas.openxmlformats.org/officeDocument/2006/math">
                    <m:r>
                      <a:rPr lang="en-PH" sz="8800" b="1" i="1" smtClean="0">
                        <a:solidFill>
                          <a:srgbClr val="FFF56E"/>
                        </a:solidFill>
                        <a:latin typeface="Cambria Math" panose="02040503050406030204" pitchFamily="18" charset="0"/>
                      </a:rPr>
                      <m:t>𝑶</m:t>
                    </m:r>
                    <m:d>
                      <m:dPr>
                        <m:ctrlPr>
                          <a:rPr lang="en-PH" sz="8800" b="1" i="1" smtClean="0">
                            <a:solidFill>
                              <a:srgbClr val="FFF56E"/>
                            </a:solidFill>
                            <a:latin typeface="Cambria Math" panose="02040503050406030204" pitchFamily="18" charset="0"/>
                          </a:rPr>
                        </m:ctrlPr>
                      </m:dPr>
                      <m:e>
                        <m:r>
                          <a:rPr lang="en-PH" sz="8800" b="1" i="1" smtClean="0">
                            <a:solidFill>
                              <a:srgbClr val="FFF56E"/>
                            </a:solidFill>
                            <a:latin typeface="Cambria Math" panose="02040503050406030204" pitchFamily="18" charset="0"/>
                          </a:rPr>
                          <m:t>𝒏</m:t>
                        </m:r>
                        <m:func>
                          <m:funcPr>
                            <m:ctrlPr>
                              <a:rPr lang="en-PH" sz="8800" b="1" i="1" smtClean="0">
                                <a:solidFill>
                                  <a:srgbClr val="FFF56E"/>
                                </a:solidFill>
                                <a:latin typeface="Cambria Math" panose="02040503050406030204" pitchFamily="18" charset="0"/>
                              </a:rPr>
                            </m:ctrlPr>
                          </m:funcPr>
                          <m:fName>
                            <m:r>
                              <m:rPr>
                                <m:sty m:val="p"/>
                              </m:rPr>
                              <a:rPr lang="en-PH" sz="8800" b="0" i="0" smtClean="0">
                                <a:solidFill>
                                  <a:srgbClr val="FFF56E"/>
                                </a:solidFill>
                                <a:latin typeface="Cambria Math" panose="02040503050406030204" pitchFamily="18" charset="0"/>
                              </a:rPr>
                              <m:t>log</m:t>
                            </m:r>
                          </m:fName>
                          <m:e>
                            <m:r>
                              <a:rPr lang="en-PH" sz="8800" b="0" i="1" smtClean="0">
                                <a:solidFill>
                                  <a:srgbClr val="FFF56E"/>
                                </a:solidFill>
                                <a:latin typeface="Cambria Math" panose="02040503050406030204" pitchFamily="18" charset="0"/>
                              </a:rPr>
                              <m:t>(</m:t>
                            </m:r>
                            <m:r>
                              <a:rPr lang="en-PH" sz="8800" b="1" i="1" smtClean="0">
                                <a:solidFill>
                                  <a:srgbClr val="FFF56E"/>
                                </a:solidFill>
                                <a:latin typeface="Cambria Math" panose="02040503050406030204" pitchFamily="18" charset="0"/>
                              </a:rPr>
                              <m:t>𝒏</m:t>
                            </m:r>
                            <m:r>
                              <a:rPr lang="en-PH" sz="8800" b="1" i="1" smtClean="0">
                                <a:solidFill>
                                  <a:srgbClr val="FFF56E"/>
                                </a:solidFill>
                                <a:latin typeface="Cambria Math" panose="02040503050406030204" pitchFamily="18" charset="0"/>
                              </a:rPr>
                              <m:t>)</m:t>
                            </m:r>
                          </m:e>
                        </m:func>
                      </m:e>
                    </m:d>
                  </m:oMath>
                </a14:m>
                <a:r>
                  <a:rPr lang="en-US" sz="1800" b="1" dirty="0">
                    <a:solidFill>
                      <a:srgbClr val="FFF56E"/>
                    </a:solidFill>
                    <a:latin typeface="Bahnschrift" panose="020B0502040204020203" pitchFamily="34" charset="0"/>
                    <a:ea typeface="Heading Now 31-38 Bold"/>
                    <a:cs typeface="Heading Now 31-38 Bold"/>
                    <a:sym typeface="Heading Now 31-38 Bold"/>
                  </a:rPr>
                  <a:t> </a:t>
                </a:r>
                <a:endParaRPr lang="en-PH" b="1" dirty="0"/>
              </a:p>
            </p:txBody>
          </p:sp>
        </mc:Choice>
        <mc:Fallback xmlns="">
          <p:sp>
            <p:nvSpPr>
              <p:cNvPr id="6" name="TextBox 5">
                <a:extLst>
                  <a:ext uri="{FF2B5EF4-FFF2-40B4-BE49-F238E27FC236}">
                    <a16:creationId xmlns:a16="http://schemas.microsoft.com/office/drawing/2014/main" id="{E1BE81B9-2B48-A4CE-BE89-99A4C1FA6EB5}"/>
                  </a:ext>
                </a:extLst>
              </p:cNvPr>
              <p:cNvSpPr txBox="1">
                <a:spLocks noRot="1" noChangeAspect="1" noMove="1" noResize="1" noEditPoints="1" noAdjustHandles="1" noChangeArrowheads="1" noChangeShapeType="1" noTextEdit="1"/>
              </p:cNvSpPr>
              <p:nvPr/>
            </p:nvSpPr>
            <p:spPr>
              <a:xfrm>
                <a:off x="6831623" y="7460040"/>
                <a:ext cx="4624753" cy="1415387"/>
              </a:xfrm>
              <a:prstGeom prst="rect">
                <a:avLst/>
              </a:prstGeom>
              <a:blipFill>
                <a:blip r:embed="rId2"/>
                <a:stretch>
                  <a:fillRect l="-10686" r="-16755"/>
                </a:stretch>
              </a:blipFill>
            </p:spPr>
            <p:txBody>
              <a:bodyPr/>
              <a:lstStyle/>
              <a:p>
                <a:r>
                  <a:rPr lang="en-PH">
                    <a:noFill/>
                  </a:rPr>
                  <a:t> </a:t>
                </a:r>
              </a:p>
            </p:txBody>
          </p:sp>
        </mc:Fallback>
      </mc:AlternateContent>
    </p:spTree>
    <p:extLst>
      <p:ext uri="{BB962C8B-B14F-4D97-AF65-F5344CB8AC3E}">
        <p14:creationId xmlns:p14="http://schemas.microsoft.com/office/powerpoint/2010/main" val="22514222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1BBE42B-0E36-6E24-07E2-D9BD7C03DC53}"/>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EE96C3E3-89C5-70D1-F19C-34D45AD7A4A7}"/>
              </a:ext>
            </a:extLst>
          </p:cNvPr>
          <p:cNvSpPr txBox="1"/>
          <p:nvPr/>
        </p:nvSpPr>
        <p:spPr>
          <a:xfrm>
            <a:off x="685800" y="3912394"/>
            <a:ext cx="16611600" cy="1231106"/>
          </a:xfrm>
          <a:prstGeom prst="rect">
            <a:avLst/>
          </a:prstGeom>
        </p:spPr>
        <p:txBody>
          <a:bodyPr wrap="square" lIns="0" tIns="0" rIns="0" bIns="0" rtlCol="0" anchor="t">
            <a:spAutoFit/>
          </a:bodyPr>
          <a:lstStyle/>
          <a:p>
            <a:pPr algn="just">
              <a:spcBef>
                <a:spcPts val="600"/>
              </a:spcBef>
            </a:pPr>
            <a:r>
              <a:rPr lang="en-US" sz="4000" dirty="0">
                <a:solidFill>
                  <a:srgbClr val="FFF56E"/>
                </a:solidFill>
                <a:latin typeface="Bahnschrift" panose="020B0502040204020203" pitchFamily="34" charset="0"/>
              </a:rPr>
              <a:t>In short, Time complexity describes the number of steps an algorithm must take relative to the size of the input.</a:t>
            </a:r>
            <a:endParaRPr lang="en-US" sz="7200" b="1" dirty="0">
              <a:solidFill>
                <a:srgbClr val="FFF56E"/>
              </a:solidFill>
              <a:latin typeface="Bahnschrift" panose="020B0502040204020203" pitchFamily="34" charset="0"/>
              <a:ea typeface="Heading Now 31-38 Bold"/>
              <a:cs typeface="Heading Now 31-38 Bold"/>
              <a:sym typeface="Heading Now 31-38 Bold"/>
            </a:endParaRPr>
          </a:p>
        </p:txBody>
      </p:sp>
      <p:sp>
        <p:nvSpPr>
          <p:cNvPr id="2" name="TextBox 1">
            <a:extLst>
              <a:ext uri="{FF2B5EF4-FFF2-40B4-BE49-F238E27FC236}">
                <a16:creationId xmlns:a16="http://schemas.microsoft.com/office/drawing/2014/main" id="{8CC5916C-950D-6AFB-F747-50B432D5815D}"/>
              </a:ext>
            </a:extLst>
          </p:cNvPr>
          <p:cNvSpPr txBox="1"/>
          <p:nvPr/>
        </p:nvSpPr>
        <p:spPr>
          <a:xfrm>
            <a:off x="685800" y="3221029"/>
            <a:ext cx="11432013" cy="931871"/>
          </a:xfrm>
          <a:prstGeom prst="rect">
            <a:avLst/>
          </a:prstGeom>
        </p:spPr>
        <p:txBody>
          <a:bodyPr lIns="0" tIns="0" rIns="0" bIns="0" rtlCol="0" anchor="t">
            <a:spAutoFit/>
          </a:bodyPr>
          <a:lstStyle/>
          <a:p>
            <a:pPr algn="l">
              <a:lnSpc>
                <a:spcPts val="5059"/>
              </a:lnSpc>
            </a:pPr>
            <a:r>
              <a:rPr lang="en-US" sz="11500" b="1" dirty="0">
                <a:solidFill>
                  <a:srgbClr val="FFF56E"/>
                </a:solidFill>
                <a:latin typeface="Heading Now 31-38 Bold"/>
                <a:ea typeface="Heading Now 31-38 Bold"/>
                <a:cs typeface="Heading Now 31-38 Bold"/>
                <a:sym typeface="Heading Now 31-38 Bold"/>
              </a:rPr>
              <a:t>COMPLEXITY</a:t>
            </a:r>
          </a:p>
        </p:txBody>
      </p:sp>
      <p:sp>
        <p:nvSpPr>
          <p:cNvPr id="3" name="Rectangle 2">
            <a:extLst>
              <a:ext uri="{FF2B5EF4-FFF2-40B4-BE49-F238E27FC236}">
                <a16:creationId xmlns:a16="http://schemas.microsoft.com/office/drawing/2014/main" id="{AE519815-081D-92DD-3969-5E99F20B2C54}"/>
              </a:ext>
            </a:extLst>
          </p:cNvPr>
          <p:cNvSpPr/>
          <p:nvPr/>
        </p:nvSpPr>
        <p:spPr>
          <a:xfrm>
            <a:off x="533400" y="1714500"/>
            <a:ext cx="76200" cy="2000932"/>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TextBox 3">
            <a:extLst>
              <a:ext uri="{FF2B5EF4-FFF2-40B4-BE49-F238E27FC236}">
                <a16:creationId xmlns:a16="http://schemas.microsoft.com/office/drawing/2014/main" id="{904AEE5F-F241-4117-7FA9-1E93B5E9FC51}"/>
              </a:ext>
            </a:extLst>
          </p:cNvPr>
          <p:cNvSpPr txBox="1"/>
          <p:nvPr/>
        </p:nvSpPr>
        <p:spPr>
          <a:xfrm>
            <a:off x="571500" y="5372100"/>
            <a:ext cx="16611600" cy="1231106"/>
          </a:xfrm>
          <a:prstGeom prst="rect">
            <a:avLst/>
          </a:prstGeom>
        </p:spPr>
        <p:txBody>
          <a:bodyPr wrap="square" lIns="0" tIns="0" rIns="0" bIns="0" rtlCol="0" anchor="t">
            <a:spAutoFit/>
          </a:bodyPr>
          <a:lstStyle/>
          <a:p>
            <a:pPr algn="just">
              <a:spcBef>
                <a:spcPts val="600"/>
              </a:spcBef>
            </a:pPr>
            <a:r>
              <a:rPr lang="en-US" sz="4000" b="1" u="sng" dirty="0">
                <a:solidFill>
                  <a:srgbClr val="FFF56E"/>
                </a:solidFill>
                <a:latin typeface="Bahnschrift" panose="020B0502040204020203" pitchFamily="34" charset="0"/>
              </a:rPr>
              <a:t>Exponential:</a:t>
            </a:r>
            <a:r>
              <a:rPr lang="en-US" sz="4000" dirty="0">
                <a:solidFill>
                  <a:srgbClr val="FFF56E"/>
                </a:solidFill>
                <a:latin typeface="Bahnschrift" panose="020B0502040204020203" pitchFamily="34" charset="0"/>
              </a:rPr>
              <a:t> Doubling the data makes the time grow by an astronomical amount </a:t>
            </a:r>
            <a:r>
              <a:rPr lang="en-US" sz="4000" i="1" dirty="0">
                <a:solidFill>
                  <a:srgbClr val="FFF56E"/>
                </a:solidFill>
                <a:latin typeface="Bahnschrift" panose="020B0502040204020203" pitchFamily="34" charset="0"/>
              </a:rPr>
              <a:t>(e.g., recursive Fibonacci)</a:t>
            </a:r>
            <a:endParaRPr lang="en-US" sz="4000" i="1" dirty="0">
              <a:solidFill>
                <a:srgbClr val="FFF56E"/>
              </a:solidFill>
              <a:latin typeface="Bahnschrift" panose="020B0502040204020203" pitchFamily="34" charset="0"/>
              <a:ea typeface="Heading Now 31-38 Bold"/>
              <a:cs typeface="Heading Now 31-38 Bold"/>
              <a:sym typeface="Heading Now 31-38 Bold"/>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AAB356D-3299-BB72-D0EB-6E19B57FD7A1}"/>
                  </a:ext>
                </a:extLst>
              </p:cNvPr>
              <p:cNvSpPr txBox="1"/>
              <p:nvPr/>
            </p:nvSpPr>
            <p:spPr>
              <a:xfrm>
                <a:off x="6831623" y="7460040"/>
                <a:ext cx="4624753" cy="1415387"/>
              </a:xfrm>
              <a:prstGeom prst="rect">
                <a:avLst/>
              </a:prstGeom>
              <a:noFill/>
            </p:spPr>
            <p:txBody>
              <a:bodyPr wrap="square">
                <a:spAutoFit/>
              </a:bodyPr>
              <a:lstStyle/>
              <a:p>
                <a:pPr algn="ctr"/>
                <a14:m>
                  <m:oMath xmlns:m="http://schemas.openxmlformats.org/officeDocument/2006/math">
                    <m:r>
                      <a:rPr lang="en-PH" sz="8800" b="1" i="1" smtClean="0">
                        <a:solidFill>
                          <a:srgbClr val="FFF56E"/>
                        </a:solidFill>
                        <a:latin typeface="Cambria Math" panose="02040503050406030204" pitchFamily="18" charset="0"/>
                      </a:rPr>
                      <m:t>𝑶</m:t>
                    </m:r>
                    <m:d>
                      <m:dPr>
                        <m:ctrlPr>
                          <a:rPr lang="en-PH" sz="8800" b="1" i="1" smtClean="0">
                            <a:solidFill>
                              <a:srgbClr val="FFF56E"/>
                            </a:solidFill>
                            <a:latin typeface="Cambria Math" panose="02040503050406030204" pitchFamily="18" charset="0"/>
                          </a:rPr>
                        </m:ctrlPr>
                      </m:dPr>
                      <m:e>
                        <m:sSup>
                          <m:sSupPr>
                            <m:ctrlPr>
                              <a:rPr lang="en-PH" sz="8800" b="1" i="1" smtClean="0">
                                <a:solidFill>
                                  <a:srgbClr val="FFF56E"/>
                                </a:solidFill>
                                <a:latin typeface="Cambria Math" panose="02040503050406030204" pitchFamily="18" charset="0"/>
                              </a:rPr>
                            </m:ctrlPr>
                          </m:sSupPr>
                          <m:e>
                            <m:r>
                              <a:rPr lang="en-PH" sz="8800" b="1" i="1" smtClean="0">
                                <a:solidFill>
                                  <a:srgbClr val="FFF56E"/>
                                </a:solidFill>
                                <a:latin typeface="Cambria Math" panose="02040503050406030204" pitchFamily="18" charset="0"/>
                              </a:rPr>
                              <m:t>𝟐</m:t>
                            </m:r>
                          </m:e>
                          <m:sup>
                            <m:r>
                              <a:rPr lang="en-PH" sz="8800" b="1" i="1" smtClean="0">
                                <a:solidFill>
                                  <a:srgbClr val="FFF56E"/>
                                </a:solidFill>
                                <a:latin typeface="Cambria Math" panose="02040503050406030204" pitchFamily="18" charset="0"/>
                              </a:rPr>
                              <m:t>𝒏</m:t>
                            </m:r>
                          </m:sup>
                        </m:sSup>
                      </m:e>
                    </m:d>
                  </m:oMath>
                </a14:m>
                <a:r>
                  <a:rPr lang="en-US" sz="1800" b="1" dirty="0">
                    <a:solidFill>
                      <a:srgbClr val="FFF56E"/>
                    </a:solidFill>
                    <a:latin typeface="Bahnschrift" panose="020B0502040204020203" pitchFamily="34" charset="0"/>
                    <a:ea typeface="Heading Now 31-38 Bold"/>
                    <a:cs typeface="Heading Now 31-38 Bold"/>
                    <a:sym typeface="Heading Now 31-38 Bold"/>
                  </a:rPr>
                  <a:t> </a:t>
                </a:r>
                <a:endParaRPr lang="en-PH" b="1" dirty="0"/>
              </a:p>
            </p:txBody>
          </p:sp>
        </mc:Choice>
        <mc:Fallback xmlns="">
          <p:sp>
            <p:nvSpPr>
              <p:cNvPr id="6" name="TextBox 5">
                <a:extLst>
                  <a:ext uri="{FF2B5EF4-FFF2-40B4-BE49-F238E27FC236}">
                    <a16:creationId xmlns:a16="http://schemas.microsoft.com/office/drawing/2014/main" id="{9AAB356D-3299-BB72-D0EB-6E19B57FD7A1}"/>
                  </a:ext>
                </a:extLst>
              </p:cNvPr>
              <p:cNvSpPr txBox="1">
                <a:spLocks noRot="1" noChangeAspect="1" noMove="1" noResize="1" noEditPoints="1" noAdjustHandles="1" noChangeArrowheads="1" noChangeShapeType="1" noTextEdit="1"/>
              </p:cNvSpPr>
              <p:nvPr/>
            </p:nvSpPr>
            <p:spPr>
              <a:xfrm>
                <a:off x="6831623" y="7460040"/>
                <a:ext cx="4624753" cy="1415387"/>
              </a:xfrm>
              <a:prstGeom prst="rect">
                <a:avLst/>
              </a:prstGeom>
              <a:blipFill>
                <a:blip r:embed="rId2"/>
                <a:stretch>
                  <a:fillRect/>
                </a:stretch>
              </a:blipFill>
            </p:spPr>
            <p:txBody>
              <a:bodyPr/>
              <a:lstStyle/>
              <a:p>
                <a:r>
                  <a:rPr lang="en-PH">
                    <a:noFill/>
                  </a:rPr>
                  <a:t> </a:t>
                </a:r>
              </a:p>
            </p:txBody>
          </p:sp>
        </mc:Fallback>
      </mc:AlternateContent>
    </p:spTree>
    <p:extLst>
      <p:ext uri="{BB962C8B-B14F-4D97-AF65-F5344CB8AC3E}">
        <p14:creationId xmlns:p14="http://schemas.microsoft.com/office/powerpoint/2010/main" val="25954176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56E"/>
        </a:solidFill>
        <a:effectLst/>
      </p:bgPr>
    </p:bg>
    <p:spTree>
      <p:nvGrpSpPr>
        <p:cNvPr id="1" name="">
          <a:extLst>
            <a:ext uri="{FF2B5EF4-FFF2-40B4-BE49-F238E27FC236}">
              <a16:creationId xmlns:a16="http://schemas.microsoft.com/office/drawing/2014/main" id="{2969A743-BC72-42CF-8188-C8D4B6D36EA2}"/>
            </a:ext>
          </a:extLst>
        </p:cNvPr>
        <p:cNvGrpSpPr/>
        <p:nvPr/>
      </p:nvGrpSpPr>
      <p:grpSpPr>
        <a:xfrm>
          <a:off x="0" y="0"/>
          <a:ext cx="0" cy="0"/>
          <a:chOff x="0" y="0"/>
          <a:chExt cx="0" cy="0"/>
        </a:xfrm>
      </p:grpSpPr>
      <p:sp>
        <p:nvSpPr>
          <p:cNvPr id="6" name="TextBox 3">
            <a:extLst>
              <a:ext uri="{FF2B5EF4-FFF2-40B4-BE49-F238E27FC236}">
                <a16:creationId xmlns:a16="http://schemas.microsoft.com/office/drawing/2014/main" id="{C41ED975-46C7-1264-53BF-4E41D0D83CA3}"/>
              </a:ext>
            </a:extLst>
          </p:cNvPr>
          <p:cNvSpPr txBox="1"/>
          <p:nvPr/>
        </p:nvSpPr>
        <p:spPr>
          <a:xfrm>
            <a:off x="836187" y="4988123"/>
            <a:ext cx="15392400" cy="615553"/>
          </a:xfrm>
          <a:prstGeom prst="rect">
            <a:avLst/>
          </a:prstGeom>
        </p:spPr>
        <p:txBody>
          <a:bodyPr wrap="square" lIns="0" tIns="0" rIns="0" bIns="0" rtlCol="0" anchor="t">
            <a:spAutoFit/>
          </a:bodyPr>
          <a:lstStyle/>
          <a:p>
            <a:pPr>
              <a:spcBef>
                <a:spcPts val="600"/>
              </a:spcBef>
            </a:pPr>
            <a:r>
              <a:rPr lang="en-PH" sz="4000" dirty="0"/>
              <a:t>Principles, Foundations, and Analysis</a:t>
            </a:r>
            <a:endParaRPr lang="en-US" sz="6600" b="1" dirty="0">
              <a:solidFill>
                <a:srgbClr val="000000"/>
              </a:solidFill>
              <a:latin typeface="Bahnschrift" panose="020B0502040204020203" pitchFamily="34" charset="0"/>
              <a:ea typeface="Heading Now 31-38 Bold"/>
              <a:cs typeface="Heading Now 31-38 Bold"/>
              <a:sym typeface="Heading Now 31-38 Bold"/>
            </a:endParaRPr>
          </a:p>
        </p:txBody>
      </p:sp>
      <p:sp>
        <p:nvSpPr>
          <p:cNvPr id="5" name="Rectangle 4">
            <a:extLst>
              <a:ext uri="{FF2B5EF4-FFF2-40B4-BE49-F238E27FC236}">
                <a16:creationId xmlns:a16="http://schemas.microsoft.com/office/drawing/2014/main" id="{896239D4-6073-716C-F478-3AC775B22197}"/>
              </a:ext>
            </a:extLst>
          </p:cNvPr>
          <p:cNvSpPr/>
          <p:nvPr/>
        </p:nvSpPr>
        <p:spPr>
          <a:xfrm>
            <a:off x="836187" y="5143500"/>
            <a:ext cx="8688813" cy="1524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H"/>
          </a:p>
        </p:txBody>
      </p:sp>
      <p:sp>
        <p:nvSpPr>
          <p:cNvPr id="4" name="Rectangle 3">
            <a:extLst>
              <a:ext uri="{FF2B5EF4-FFF2-40B4-BE49-F238E27FC236}">
                <a16:creationId xmlns:a16="http://schemas.microsoft.com/office/drawing/2014/main" id="{D12AA9C9-D60D-A7E2-58C2-9D7F5642E72F}"/>
              </a:ext>
            </a:extLst>
          </p:cNvPr>
          <p:cNvSpPr/>
          <p:nvPr/>
        </p:nvSpPr>
        <p:spPr>
          <a:xfrm>
            <a:off x="493286" y="4838701"/>
            <a:ext cx="9374614" cy="1447799"/>
          </a:xfrm>
          <a:prstGeom prst="rect">
            <a:avLst/>
          </a:prstGeom>
          <a:solidFill>
            <a:srgbClr val="FFF56E"/>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H"/>
          </a:p>
        </p:txBody>
      </p:sp>
      <p:sp>
        <p:nvSpPr>
          <p:cNvPr id="2" name="TextBox 1">
            <a:extLst>
              <a:ext uri="{FF2B5EF4-FFF2-40B4-BE49-F238E27FC236}">
                <a16:creationId xmlns:a16="http://schemas.microsoft.com/office/drawing/2014/main" id="{731FFA9A-405D-533D-E9AB-945ECE9E222B}"/>
              </a:ext>
            </a:extLst>
          </p:cNvPr>
          <p:cNvSpPr txBox="1"/>
          <p:nvPr/>
        </p:nvSpPr>
        <p:spPr>
          <a:xfrm>
            <a:off x="836187" y="5591745"/>
            <a:ext cx="11432013" cy="847155"/>
          </a:xfrm>
          <a:prstGeom prst="rect">
            <a:avLst/>
          </a:prstGeom>
        </p:spPr>
        <p:txBody>
          <a:bodyPr lIns="0" tIns="0" rIns="0" bIns="0" rtlCol="0" anchor="t">
            <a:spAutoFit/>
          </a:bodyPr>
          <a:lstStyle/>
          <a:p>
            <a:pPr algn="l">
              <a:lnSpc>
                <a:spcPts val="5059"/>
              </a:lnSpc>
            </a:pPr>
            <a:r>
              <a:rPr lang="en-US" sz="11500" b="1" dirty="0">
                <a:solidFill>
                  <a:srgbClr val="000000"/>
                </a:solidFill>
                <a:latin typeface="Heading Now 31-38 Bold"/>
                <a:ea typeface="Heading Now 31-38 Bold"/>
                <a:cs typeface="Heading Now 31-38 Bold"/>
                <a:sym typeface="Heading Now 31-38 Bold"/>
              </a:rPr>
              <a:t>ALGORITHMS</a:t>
            </a:r>
          </a:p>
        </p:txBody>
      </p:sp>
      <p:sp>
        <p:nvSpPr>
          <p:cNvPr id="3" name="Rectangle 2">
            <a:extLst>
              <a:ext uri="{FF2B5EF4-FFF2-40B4-BE49-F238E27FC236}">
                <a16:creationId xmlns:a16="http://schemas.microsoft.com/office/drawing/2014/main" id="{6F23FBE3-6F80-4D9A-7E15-908BBB602E5B}"/>
              </a:ext>
            </a:extLst>
          </p:cNvPr>
          <p:cNvSpPr/>
          <p:nvPr/>
        </p:nvSpPr>
        <p:spPr>
          <a:xfrm>
            <a:off x="19278600" y="4149493"/>
            <a:ext cx="76200" cy="200093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9" name="TextBox 3">
            <a:extLst>
              <a:ext uri="{FF2B5EF4-FFF2-40B4-BE49-F238E27FC236}">
                <a16:creationId xmlns:a16="http://schemas.microsoft.com/office/drawing/2014/main" id="{E26E6FBA-DEAC-2B43-51CC-9B2161CE71DB}"/>
              </a:ext>
            </a:extLst>
          </p:cNvPr>
          <p:cNvSpPr txBox="1"/>
          <p:nvPr/>
        </p:nvSpPr>
        <p:spPr>
          <a:xfrm>
            <a:off x="846347" y="3464841"/>
            <a:ext cx="6849853" cy="738664"/>
          </a:xfrm>
          <a:prstGeom prst="rect">
            <a:avLst/>
          </a:prstGeom>
        </p:spPr>
        <p:txBody>
          <a:bodyPr wrap="square" lIns="0" tIns="0" rIns="0" bIns="0" rtlCol="0" anchor="t">
            <a:spAutoFit/>
          </a:bodyPr>
          <a:lstStyle/>
          <a:p>
            <a:r>
              <a:rPr lang="en-US" sz="2400" dirty="0"/>
              <a:t>To build a skyscraper, you need physics and to build a great algorithm, you need these three pillars:</a:t>
            </a:r>
          </a:p>
        </p:txBody>
      </p:sp>
    </p:spTree>
    <p:extLst>
      <p:ext uri="{BB962C8B-B14F-4D97-AF65-F5344CB8AC3E}">
        <p14:creationId xmlns:p14="http://schemas.microsoft.com/office/powerpoint/2010/main" val="2612818540"/>
      </p:ext>
    </p:extLst>
  </p:cSld>
  <p:clrMapOvr>
    <a:masterClrMapping/>
  </p:clrMapOvr>
  <p:transition spd="slow" advClick="0" advTm="0">
    <p:push dir="u"/>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56E"/>
        </a:solidFill>
        <a:effectLst/>
      </p:bgPr>
    </p:bg>
    <p:spTree>
      <p:nvGrpSpPr>
        <p:cNvPr id="1" name="">
          <a:extLst>
            <a:ext uri="{FF2B5EF4-FFF2-40B4-BE49-F238E27FC236}">
              <a16:creationId xmlns:a16="http://schemas.microsoft.com/office/drawing/2014/main" id="{4CB4CE7C-FD62-B70E-3E71-49B74634520E}"/>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63214149-BB23-BC93-AE66-4F73D920468E}"/>
              </a:ext>
            </a:extLst>
          </p:cNvPr>
          <p:cNvSpPr txBox="1"/>
          <p:nvPr/>
        </p:nvSpPr>
        <p:spPr>
          <a:xfrm>
            <a:off x="846347" y="5753101"/>
            <a:ext cx="15392400" cy="615553"/>
          </a:xfrm>
          <a:prstGeom prst="rect">
            <a:avLst/>
          </a:prstGeom>
        </p:spPr>
        <p:txBody>
          <a:bodyPr wrap="square" lIns="0" tIns="0" rIns="0" bIns="0" rtlCol="0" anchor="t">
            <a:spAutoFit/>
          </a:bodyPr>
          <a:lstStyle/>
          <a:p>
            <a:pPr>
              <a:spcBef>
                <a:spcPts val="600"/>
              </a:spcBef>
            </a:pPr>
            <a:r>
              <a:rPr lang="en-PH" sz="4000" dirty="0"/>
              <a:t>Principles, Foundations, and Analysis</a:t>
            </a:r>
            <a:endParaRPr lang="en-US" sz="6600" b="1" dirty="0">
              <a:solidFill>
                <a:srgbClr val="000000"/>
              </a:solidFill>
              <a:latin typeface="Bahnschrift" panose="020B0502040204020203" pitchFamily="34" charset="0"/>
              <a:ea typeface="Heading Now 31-38 Bold"/>
              <a:cs typeface="Heading Now 31-38 Bold"/>
              <a:sym typeface="Heading Now 31-38 Bold"/>
            </a:endParaRPr>
          </a:p>
        </p:txBody>
      </p:sp>
      <p:sp>
        <p:nvSpPr>
          <p:cNvPr id="4" name="Rectangle 3">
            <a:extLst>
              <a:ext uri="{FF2B5EF4-FFF2-40B4-BE49-F238E27FC236}">
                <a16:creationId xmlns:a16="http://schemas.microsoft.com/office/drawing/2014/main" id="{ECEA44AE-3044-6D03-DA3F-674C4840E504}"/>
              </a:ext>
            </a:extLst>
          </p:cNvPr>
          <p:cNvSpPr/>
          <p:nvPr/>
        </p:nvSpPr>
        <p:spPr>
          <a:xfrm>
            <a:off x="836187" y="5600701"/>
            <a:ext cx="7622013" cy="1524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H"/>
          </a:p>
        </p:txBody>
      </p:sp>
      <p:sp>
        <p:nvSpPr>
          <p:cNvPr id="6" name="Rectangle 5">
            <a:extLst>
              <a:ext uri="{FF2B5EF4-FFF2-40B4-BE49-F238E27FC236}">
                <a16:creationId xmlns:a16="http://schemas.microsoft.com/office/drawing/2014/main" id="{47332471-849B-2A90-D615-774A01A8B3AC}"/>
              </a:ext>
            </a:extLst>
          </p:cNvPr>
          <p:cNvSpPr/>
          <p:nvPr/>
        </p:nvSpPr>
        <p:spPr>
          <a:xfrm>
            <a:off x="493286" y="4149493"/>
            <a:ext cx="9374614" cy="1447799"/>
          </a:xfrm>
          <a:prstGeom prst="rect">
            <a:avLst/>
          </a:prstGeom>
          <a:solidFill>
            <a:srgbClr val="FFF56E"/>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H"/>
          </a:p>
        </p:txBody>
      </p:sp>
      <p:sp>
        <p:nvSpPr>
          <p:cNvPr id="2" name="TextBox 1">
            <a:extLst>
              <a:ext uri="{FF2B5EF4-FFF2-40B4-BE49-F238E27FC236}">
                <a16:creationId xmlns:a16="http://schemas.microsoft.com/office/drawing/2014/main" id="{9741B15A-850A-D38D-E597-00C26125FCCB}"/>
              </a:ext>
            </a:extLst>
          </p:cNvPr>
          <p:cNvSpPr txBox="1"/>
          <p:nvPr/>
        </p:nvSpPr>
        <p:spPr>
          <a:xfrm>
            <a:off x="836187" y="4991100"/>
            <a:ext cx="11432013" cy="847155"/>
          </a:xfrm>
          <a:prstGeom prst="rect">
            <a:avLst/>
          </a:prstGeom>
        </p:spPr>
        <p:txBody>
          <a:bodyPr lIns="0" tIns="0" rIns="0" bIns="0" rtlCol="0" anchor="t">
            <a:spAutoFit/>
          </a:bodyPr>
          <a:lstStyle/>
          <a:p>
            <a:pPr algn="l">
              <a:lnSpc>
                <a:spcPts val="5059"/>
              </a:lnSpc>
            </a:pPr>
            <a:r>
              <a:rPr lang="en-US" sz="11500" b="1" dirty="0">
                <a:solidFill>
                  <a:srgbClr val="000000"/>
                </a:solidFill>
                <a:latin typeface="Heading Now 31-38 Bold"/>
                <a:ea typeface="Heading Now 31-38 Bold"/>
                <a:cs typeface="Heading Now 31-38 Bold"/>
                <a:sym typeface="Heading Now 31-38 Bold"/>
              </a:rPr>
              <a:t>ALGORITHMS</a:t>
            </a:r>
          </a:p>
        </p:txBody>
      </p:sp>
      <p:sp>
        <p:nvSpPr>
          <p:cNvPr id="3" name="Rectangle 2">
            <a:extLst>
              <a:ext uri="{FF2B5EF4-FFF2-40B4-BE49-F238E27FC236}">
                <a16:creationId xmlns:a16="http://schemas.microsoft.com/office/drawing/2014/main" id="{802A11D6-A6AF-9DE1-3129-373FF339E5B2}"/>
              </a:ext>
            </a:extLst>
          </p:cNvPr>
          <p:cNvSpPr/>
          <p:nvPr/>
        </p:nvSpPr>
        <p:spPr>
          <a:xfrm>
            <a:off x="19278600" y="4149493"/>
            <a:ext cx="76200" cy="200093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TextBox 3">
            <a:extLst>
              <a:ext uri="{FF2B5EF4-FFF2-40B4-BE49-F238E27FC236}">
                <a16:creationId xmlns:a16="http://schemas.microsoft.com/office/drawing/2014/main" id="{9B54FD85-4A03-A222-4B0F-58A5CF4BB0BD}"/>
              </a:ext>
            </a:extLst>
          </p:cNvPr>
          <p:cNvSpPr txBox="1"/>
          <p:nvPr/>
        </p:nvSpPr>
        <p:spPr>
          <a:xfrm>
            <a:off x="846347" y="3464841"/>
            <a:ext cx="6849853" cy="738664"/>
          </a:xfrm>
          <a:prstGeom prst="rect">
            <a:avLst/>
          </a:prstGeom>
        </p:spPr>
        <p:txBody>
          <a:bodyPr wrap="square" lIns="0" tIns="0" rIns="0" bIns="0" rtlCol="0" anchor="t">
            <a:spAutoFit/>
          </a:bodyPr>
          <a:lstStyle/>
          <a:p>
            <a:r>
              <a:rPr lang="en-US" sz="2400" dirty="0"/>
              <a:t>To build a skyscraper, you need physics and to build a great algorithm, you need these three pillars:</a:t>
            </a:r>
          </a:p>
        </p:txBody>
      </p:sp>
    </p:spTree>
    <p:extLst>
      <p:ext uri="{BB962C8B-B14F-4D97-AF65-F5344CB8AC3E}">
        <p14:creationId xmlns:p14="http://schemas.microsoft.com/office/powerpoint/2010/main" val="42152113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56E"/>
        </a:solidFill>
        <a:effectLst/>
      </p:bgPr>
    </p:bg>
    <p:spTree>
      <p:nvGrpSpPr>
        <p:cNvPr id="1" name="">
          <a:extLst>
            <a:ext uri="{FF2B5EF4-FFF2-40B4-BE49-F238E27FC236}">
              <a16:creationId xmlns:a16="http://schemas.microsoft.com/office/drawing/2014/main" id="{3D253583-8116-762B-E853-90F8D4DBF23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1456836-AA59-608A-4BFA-C46DA8F43D0C}"/>
              </a:ext>
            </a:extLst>
          </p:cNvPr>
          <p:cNvSpPr/>
          <p:nvPr/>
        </p:nvSpPr>
        <p:spPr>
          <a:xfrm rot="5400000">
            <a:off x="-2898620" y="6074224"/>
            <a:ext cx="7622013" cy="1524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AE9FD810-832C-0EAC-64EF-50AC331EA760}"/>
              </a:ext>
            </a:extLst>
          </p:cNvPr>
          <p:cNvSpPr/>
          <p:nvPr/>
        </p:nvSpPr>
        <p:spPr>
          <a:xfrm>
            <a:off x="19278600" y="4149493"/>
            <a:ext cx="76200" cy="200093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TextBox 4">
            <a:extLst>
              <a:ext uri="{FF2B5EF4-FFF2-40B4-BE49-F238E27FC236}">
                <a16:creationId xmlns:a16="http://schemas.microsoft.com/office/drawing/2014/main" id="{C91C2922-9FA9-5A0C-7FD9-57D5435B58BC}"/>
              </a:ext>
            </a:extLst>
          </p:cNvPr>
          <p:cNvSpPr txBox="1"/>
          <p:nvPr/>
        </p:nvSpPr>
        <p:spPr>
          <a:xfrm>
            <a:off x="836187" y="1790700"/>
            <a:ext cx="11432013" cy="10096549"/>
          </a:xfrm>
          <a:prstGeom prst="rect">
            <a:avLst/>
          </a:prstGeom>
        </p:spPr>
        <p:txBody>
          <a:bodyPr lIns="0" tIns="0" rIns="0" bIns="0" rtlCol="0" anchor="t">
            <a:spAutoFit/>
          </a:bodyPr>
          <a:lstStyle/>
          <a:p>
            <a:pPr algn="l">
              <a:lnSpc>
                <a:spcPts val="5059"/>
              </a:lnSpc>
            </a:pPr>
            <a:r>
              <a:rPr lang="en-US" sz="11500" b="1" dirty="0">
                <a:solidFill>
                  <a:srgbClr val="000000"/>
                </a:solidFill>
                <a:latin typeface="Heading Now 31-38 Bold"/>
                <a:ea typeface="Heading Now 31-38 Bold"/>
                <a:cs typeface="Heading Now 31-38 Bold"/>
                <a:sym typeface="Heading Now 31-38 Bold"/>
              </a:rPr>
              <a:t>ALGORITHMS</a:t>
            </a:r>
          </a:p>
        </p:txBody>
      </p:sp>
    </p:spTree>
    <p:extLst>
      <p:ext uri="{BB962C8B-B14F-4D97-AF65-F5344CB8AC3E}">
        <p14:creationId xmlns:p14="http://schemas.microsoft.com/office/powerpoint/2010/main" val="11990135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56E"/>
        </a:solidFill>
        <a:effectLst/>
      </p:bgPr>
    </p:bg>
    <p:spTree>
      <p:nvGrpSpPr>
        <p:cNvPr id="1" name="">
          <a:extLst>
            <a:ext uri="{FF2B5EF4-FFF2-40B4-BE49-F238E27FC236}">
              <a16:creationId xmlns:a16="http://schemas.microsoft.com/office/drawing/2014/main" id="{B1D1D2FB-2B4C-BCFC-F001-B72E9F06CA6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3">
                <a:extLst>
                  <a:ext uri="{FF2B5EF4-FFF2-40B4-BE49-F238E27FC236}">
                    <a16:creationId xmlns:a16="http://schemas.microsoft.com/office/drawing/2014/main" id="{1D3013ED-BB4A-F319-5693-A15F8FB01DBA}"/>
                  </a:ext>
                </a:extLst>
              </p:cNvPr>
              <p:cNvSpPr txBox="1"/>
              <p:nvPr/>
            </p:nvSpPr>
            <p:spPr>
              <a:xfrm>
                <a:off x="1219200" y="3390900"/>
                <a:ext cx="15392400" cy="1923604"/>
              </a:xfrm>
              <a:prstGeom prst="rect">
                <a:avLst/>
              </a:prstGeom>
            </p:spPr>
            <p:txBody>
              <a:bodyPr wrap="square" lIns="0" tIns="0" rIns="0" bIns="0" rtlCol="0" anchor="t">
                <a:spAutoFit/>
              </a:bodyPr>
              <a:lstStyle/>
              <a:p>
                <a:pPr>
                  <a:spcBef>
                    <a:spcPts val="600"/>
                  </a:spcBef>
                </a:pPr>
                <a:r>
                  <a:rPr lang="en-US" sz="4000" dirty="0">
                    <a:latin typeface="Bahnschrift" panose="020B0502040204020203" pitchFamily="34" charset="0"/>
                  </a:rPr>
                  <a:t>An algorithm must remain efficient as the data grows </a:t>
                </a:r>
                <a14:m>
                  <m:oMath xmlns:m="http://schemas.openxmlformats.org/officeDocument/2006/math">
                    <m:r>
                      <a:rPr lang="en-PH" sz="4000" b="0" i="1" smtClean="0">
                        <a:latin typeface="Cambria Math" panose="02040503050406030204" pitchFamily="18" charset="0"/>
                      </a:rPr>
                      <m:t>(</m:t>
                    </m:r>
                    <m:r>
                      <a:rPr lang="en-PH" sz="4000" b="0" i="1" smtClean="0">
                        <a:latin typeface="Cambria Math" panose="02040503050406030204" pitchFamily="18" charset="0"/>
                      </a:rPr>
                      <m:t>𝑛</m:t>
                    </m:r>
                    <m:r>
                      <a:rPr lang="en-PH" sz="4000" b="0" i="1" smtClean="0">
                        <a:latin typeface="Cambria Math" panose="02040503050406030204" pitchFamily="18" charset="0"/>
                      </a:rPr>
                      <m:t> → ∞)</m:t>
                    </m:r>
                  </m:oMath>
                </a14:m>
                <a:r>
                  <a:rPr lang="en-US" sz="4000" dirty="0">
                    <a:latin typeface="Bahnschrift" panose="020B0502040204020203" pitchFamily="34" charset="0"/>
                  </a:rPr>
                  <a:t>. </a:t>
                </a:r>
              </a:p>
              <a:p>
                <a:pPr>
                  <a:spcBef>
                    <a:spcPts val="600"/>
                  </a:spcBef>
                </a:pPr>
                <a:r>
                  <a:rPr lang="en-US" sz="4000" dirty="0">
                    <a:latin typeface="Bahnschrift" panose="020B0502040204020203" pitchFamily="34" charset="0"/>
                  </a:rPr>
                  <a:t>A solution that works for 10 items but crashes for 1 million is fundamentally flawed.</a:t>
                </a:r>
                <a:endParaRPr lang="en-US" sz="6600" dirty="0">
                  <a:solidFill>
                    <a:srgbClr val="000000"/>
                  </a:solidFill>
                  <a:latin typeface="Bahnschrift" panose="020B0502040204020203" pitchFamily="34" charset="0"/>
                  <a:ea typeface="Heading Now 31-38 Bold"/>
                  <a:cs typeface="Heading Now 31-38 Bold"/>
                  <a:sym typeface="Heading Now 31-38 Bold"/>
                </a:endParaRPr>
              </a:p>
            </p:txBody>
          </p:sp>
        </mc:Choice>
        <mc:Fallback xmlns="">
          <p:sp>
            <p:nvSpPr>
              <p:cNvPr id="7" name="TextBox 3">
                <a:extLst>
                  <a:ext uri="{FF2B5EF4-FFF2-40B4-BE49-F238E27FC236}">
                    <a16:creationId xmlns:a16="http://schemas.microsoft.com/office/drawing/2014/main" id="{1D3013ED-BB4A-F319-5693-A15F8FB01DBA}"/>
                  </a:ext>
                </a:extLst>
              </p:cNvPr>
              <p:cNvSpPr txBox="1">
                <a:spLocks noRot="1" noChangeAspect="1" noMove="1" noResize="1" noEditPoints="1" noAdjustHandles="1" noChangeArrowheads="1" noChangeShapeType="1" noTextEdit="1"/>
              </p:cNvSpPr>
              <p:nvPr/>
            </p:nvSpPr>
            <p:spPr>
              <a:xfrm>
                <a:off x="1219200" y="3390900"/>
                <a:ext cx="15392400" cy="1923604"/>
              </a:xfrm>
              <a:prstGeom prst="rect">
                <a:avLst/>
              </a:prstGeom>
              <a:blipFill>
                <a:blip r:embed="rId2"/>
                <a:stretch>
                  <a:fillRect l="-1980" t="-8228" b="-14873"/>
                </a:stretch>
              </a:blipFill>
            </p:spPr>
            <p:txBody>
              <a:bodyPr/>
              <a:lstStyle/>
              <a:p>
                <a:r>
                  <a:rPr lang="en-PH">
                    <a:noFill/>
                  </a:rPr>
                  <a:t> </a:t>
                </a:r>
              </a:p>
            </p:txBody>
          </p:sp>
        </mc:Fallback>
      </mc:AlternateContent>
      <p:sp>
        <p:nvSpPr>
          <p:cNvPr id="2" name="TextBox 1">
            <a:extLst>
              <a:ext uri="{FF2B5EF4-FFF2-40B4-BE49-F238E27FC236}">
                <a16:creationId xmlns:a16="http://schemas.microsoft.com/office/drawing/2014/main" id="{0BE10981-7369-A403-476D-D941C2C7987C}"/>
              </a:ext>
            </a:extLst>
          </p:cNvPr>
          <p:cNvSpPr txBox="1"/>
          <p:nvPr/>
        </p:nvSpPr>
        <p:spPr>
          <a:xfrm>
            <a:off x="836187" y="1790700"/>
            <a:ext cx="11432013" cy="10096549"/>
          </a:xfrm>
          <a:prstGeom prst="rect">
            <a:avLst/>
          </a:prstGeom>
        </p:spPr>
        <p:txBody>
          <a:bodyPr lIns="0" tIns="0" rIns="0" bIns="0" rtlCol="0" anchor="t">
            <a:spAutoFit/>
          </a:bodyPr>
          <a:lstStyle/>
          <a:p>
            <a:pPr algn="l">
              <a:lnSpc>
                <a:spcPts val="5059"/>
              </a:lnSpc>
            </a:pPr>
            <a:r>
              <a:rPr lang="en-US" sz="11500" b="1" dirty="0">
                <a:solidFill>
                  <a:srgbClr val="000000"/>
                </a:solidFill>
                <a:latin typeface="Heading Now 31-38 Bold"/>
                <a:ea typeface="Heading Now 31-38 Bold"/>
                <a:cs typeface="Heading Now 31-38 Bold"/>
                <a:sym typeface="Heading Now 31-38 Bold"/>
              </a:rPr>
              <a:t>ALGORITHMS</a:t>
            </a:r>
          </a:p>
        </p:txBody>
      </p:sp>
      <p:sp>
        <p:nvSpPr>
          <p:cNvPr id="4" name="TextBox 3">
            <a:extLst>
              <a:ext uri="{FF2B5EF4-FFF2-40B4-BE49-F238E27FC236}">
                <a16:creationId xmlns:a16="http://schemas.microsoft.com/office/drawing/2014/main" id="{98BDF1F6-76F1-9FBA-DDD1-0966B8484DDC}"/>
              </a:ext>
            </a:extLst>
          </p:cNvPr>
          <p:cNvSpPr txBox="1"/>
          <p:nvPr/>
        </p:nvSpPr>
        <p:spPr>
          <a:xfrm>
            <a:off x="1219200" y="2652236"/>
            <a:ext cx="15392400" cy="738664"/>
          </a:xfrm>
          <a:prstGeom prst="rect">
            <a:avLst/>
          </a:prstGeom>
        </p:spPr>
        <p:txBody>
          <a:bodyPr wrap="square" lIns="0" tIns="0" rIns="0" bIns="0" rtlCol="0" anchor="t">
            <a:spAutoFit/>
          </a:bodyPr>
          <a:lstStyle/>
          <a:p>
            <a:pPr>
              <a:spcBef>
                <a:spcPts val="600"/>
              </a:spcBef>
            </a:pPr>
            <a:r>
              <a:rPr lang="en-PH" sz="4800" b="1" i="1" dirty="0"/>
              <a:t>Scalability First: </a:t>
            </a:r>
            <a:endParaRPr lang="en-US" sz="8000" b="1" i="1" dirty="0">
              <a:solidFill>
                <a:srgbClr val="000000"/>
              </a:solidFill>
              <a:latin typeface="Bahnschrift" panose="020B0502040204020203" pitchFamily="34" charset="0"/>
              <a:ea typeface="Heading Now 31-38 Bold"/>
              <a:cs typeface="Heading Now 31-38 Bold"/>
              <a:sym typeface="Heading Now 31-38 Bold"/>
            </a:endParaRPr>
          </a:p>
        </p:txBody>
      </p:sp>
      <p:sp>
        <p:nvSpPr>
          <p:cNvPr id="8" name="TextBox 3">
            <a:extLst>
              <a:ext uri="{FF2B5EF4-FFF2-40B4-BE49-F238E27FC236}">
                <a16:creationId xmlns:a16="http://schemas.microsoft.com/office/drawing/2014/main" id="{E22449CA-816E-F536-6213-751858E1475B}"/>
              </a:ext>
            </a:extLst>
          </p:cNvPr>
          <p:cNvSpPr txBox="1"/>
          <p:nvPr/>
        </p:nvSpPr>
        <p:spPr>
          <a:xfrm>
            <a:off x="1193800" y="6482080"/>
            <a:ext cx="15392400" cy="1231106"/>
          </a:xfrm>
          <a:prstGeom prst="rect">
            <a:avLst/>
          </a:prstGeom>
        </p:spPr>
        <p:txBody>
          <a:bodyPr wrap="square" lIns="0" tIns="0" rIns="0" bIns="0" rtlCol="0" anchor="t">
            <a:spAutoFit/>
          </a:bodyPr>
          <a:lstStyle/>
          <a:p>
            <a:pPr>
              <a:spcBef>
                <a:spcPts val="600"/>
              </a:spcBef>
            </a:pPr>
            <a:r>
              <a:rPr lang="en-US" sz="4000" dirty="0">
                <a:latin typeface="Bahnschrift" panose="020B0502040204020203" pitchFamily="34" charset="0"/>
              </a:rPr>
              <a:t>Principles should focus on the "logic" rather than the hardware. We measure "operations" instead of "milliseconds."</a:t>
            </a:r>
            <a:endParaRPr lang="en-US" sz="6600" dirty="0">
              <a:solidFill>
                <a:srgbClr val="000000"/>
              </a:solidFill>
              <a:latin typeface="Bahnschrift" panose="020B0502040204020203" pitchFamily="34" charset="0"/>
              <a:ea typeface="Heading Now 31-38 Bold"/>
              <a:cs typeface="Heading Now 31-38 Bold"/>
              <a:sym typeface="Heading Now 31-38 Bold"/>
            </a:endParaRPr>
          </a:p>
        </p:txBody>
      </p:sp>
      <p:sp>
        <p:nvSpPr>
          <p:cNvPr id="9" name="TextBox 8">
            <a:extLst>
              <a:ext uri="{FF2B5EF4-FFF2-40B4-BE49-F238E27FC236}">
                <a16:creationId xmlns:a16="http://schemas.microsoft.com/office/drawing/2014/main" id="{1AB85153-6C37-0E0F-0CF9-B942A819795C}"/>
              </a:ext>
            </a:extLst>
          </p:cNvPr>
          <p:cNvSpPr txBox="1"/>
          <p:nvPr/>
        </p:nvSpPr>
        <p:spPr>
          <a:xfrm>
            <a:off x="1193800" y="5743416"/>
            <a:ext cx="15392400" cy="738664"/>
          </a:xfrm>
          <a:prstGeom prst="rect">
            <a:avLst/>
          </a:prstGeom>
        </p:spPr>
        <p:txBody>
          <a:bodyPr wrap="square" lIns="0" tIns="0" rIns="0" bIns="0" rtlCol="0" anchor="t">
            <a:spAutoFit/>
          </a:bodyPr>
          <a:lstStyle/>
          <a:p>
            <a:pPr>
              <a:spcBef>
                <a:spcPts val="600"/>
              </a:spcBef>
            </a:pPr>
            <a:r>
              <a:rPr lang="en-PH" sz="4800" b="1" i="1" dirty="0"/>
              <a:t>Machine Independence:</a:t>
            </a:r>
            <a:endParaRPr lang="en-US" sz="8000" b="1" i="1" dirty="0">
              <a:solidFill>
                <a:srgbClr val="000000"/>
              </a:solidFill>
              <a:latin typeface="Bahnschrift" panose="020B0502040204020203" pitchFamily="34" charset="0"/>
              <a:ea typeface="Heading Now 31-38 Bold"/>
              <a:cs typeface="Heading Now 31-38 Bold"/>
              <a:sym typeface="Heading Now 31-38 Bold"/>
            </a:endParaRPr>
          </a:p>
        </p:txBody>
      </p:sp>
      <p:sp>
        <p:nvSpPr>
          <p:cNvPr id="10" name="Rectangle 9">
            <a:extLst>
              <a:ext uri="{FF2B5EF4-FFF2-40B4-BE49-F238E27FC236}">
                <a16:creationId xmlns:a16="http://schemas.microsoft.com/office/drawing/2014/main" id="{D22E9B54-1DF6-AF96-07C5-FF04591EA040}"/>
              </a:ext>
            </a:extLst>
          </p:cNvPr>
          <p:cNvSpPr/>
          <p:nvPr/>
        </p:nvSpPr>
        <p:spPr>
          <a:xfrm rot="5400000">
            <a:off x="-2898620" y="6074224"/>
            <a:ext cx="7622013" cy="1524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13002738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1000"/>
                                        <p:tgtEl>
                                          <p:spTgt spid="4"/>
                                        </p:tgtEl>
                                      </p:cBhvr>
                                    </p:animEffect>
                                  </p:childTnLst>
                                </p:cTn>
                              </p:par>
                              <p:par>
                                <p:cTn id="8" presetID="22" presetClass="entr" presetSubtype="8" fill="hold" grpId="0" nodeType="withEffect">
                                  <p:stCondLst>
                                    <p:cond delay="25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1000"/>
                                        <p:tgtEl>
                                          <p:spTgt spid="7"/>
                                        </p:tgtEl>
                                      </p:cBhvr>
                                    </p:animEffect>
                                  </p:childTnLst>
                                </p:cTn>
                              </p:par>
                              <p:par>
                                <p:cTn id="11" presetID="22" presetClass="entr" presetSubtype="8" fill="hold" grpId="0" nodeType="withEffect">
                                  <p:stCondLst>
                                    <p:cond delay="25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1000"/>
                                        <p:tgtEl>
                                          <p:spTgt spid="9"/>
                                        </p:tgtEl>
                                      </p:cBhvr>
                                    </p:animEffect>
                                  </p:childTnLst>
                                </p:cTn>
                              </p:par>
                              <p:par>
                                <p:cTn id="14" presetID="22" presetClass="entr" presetSubtype="8" fill="hold" grpId="0" nodeType="withEffect">
                                  <p:stCondLst>
                                    <p:cond delay="25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1000"/>
                                        <p:tgtEl>
                                          <p:spTgt spid="8"/>
                                        </p:tgtEl>
                                      </p:cBhvr>
                                    </p:animEffect>
                                  </p:childTnLst>
                                </p:cTn>
                              </p:par>
                              <p:par>
                                <p:cTn id="17" presetID="63" presetClass="path" presetSubtype="0" accel="50000" decel="50000" fill="hold" grpId="0" nodeType="withEffect">
                                  <p:stCondLst>
                                    <p:cond delay="100"/>
                                  </p:stCondLst>
                                  <p:childTnLst>
                                    <p:animMotion origin="layout" path="M 3.61111E-6 4.93827E-7 L 0.97934 4.93827E-7 " pathEditMode="relative" rAng="0" ptsTypes="AA">
                                      <p:cBhvr>
                                        <p:cTn id="18" dur="1000" fill="hold"/>
                                        <p:tgtEl>
                                          <p:spTgt spid="10"/>
                                        </p:tgtEl>
                                        <p:attrNameLst>
                                          <p:attrName>ppt_x</p:attrName>
                                          <p:attrName>ppt_y</p:attrName>
                                        </p:attrNameLst>
                                      </p:cBhvr>
                                      <p:rCtr x="48967" y="0"/>
                                    </p:animMotion>
                                  </p:childTnLst>
                                </p:cTn>
                              </p:par>
                            </p:childTnLst>
                          </p:cTn>
                        </p:par>
                      </p:childTnLst>
                    </p:cTn>
                  </p:par>
                  <p:par>
                    <p:cTn id="19" fill="hold">
                      <p:stCondLst>
                        <p:cond delay="indefinite"/>
                      </p:stCondLst>
                      <p:childTnLst>
                        <p:par>
                          <p:cTn id="20" fill="hold">
                            <p:stCondLst>
                              <p:cond delay="0"/>
                            </p:stCondLst>
                            <p:childTnLst>
                              <p:par>
                                <p:cTn id="21" presetID="16" presetClass="exit" presetSubtype="21" fill="hold" grpId="1" nodeType="clickEffect">
                                  <p:stCondLst>
                                    <p:cond delay="0"/>
                                  </p:stCondLst>
                                  <p:childTnLst>
                                    <p:animEffect transition="out" filter="barn(inVertical)">
                                      <p:cBhvr>
                                        <p:cTn id="22" dur="500"/>
                                        <p:tgtEl>
                                          <p:spTgt spid="4"/>
                                        </p:tgtEl>
                                      </p:cBhvr>
                                    </p:animEffect>
                                    <p:set>
                                      <p:cBhvr>
                                        <p:cTn id="23" dur="1" fill="hold">
                                          <p:stCondLst>
                                            <p:cond delay="499"/>
                                          </p:stCondLst>
                                        </p:cTn>
                                        <p:tgtEl>
                                          <p:spTgt spid="4"/>
                                        </p:tgtEl>
                                        <p:attrNameLst>
                                          <p:attrName>style.visibility</p:attrName>
                                        </p:attrNameLst>
                                      </p:cBhvr>
                                      <p:to>
                                        <p:strVal val="hidden"/>
                                      </p:to>
                                    </p:set>
                                  </p:childTnLst>
                                </p:cTn>
                              </p:par>
                              <p:par>
                                <p:cTn id="24" presetID="22" presetClass="exit" presetSubtype="4" fill="hold" grpId="1" nodeType="withEffect">
                                  <p:stCondLst>
                                    <p:cond delay="0"/>
                                  </p:stCondLst>
                                  <p:childTnLst>
                                    <p:animEffect transition="out" filter="wipe(down)">
                                      <p:cBhvr>
                                        <p:cTn id="25" dur="500"/>
                                        <p:tgtEl>
                                          <p:spTgt spid="7"/>
                                        </p:tgtEl>
                                      </p:cBhvr>
                                    </p:animEffect>
                                    <p:set>
                                      <p:cBhvr>
                                        <p:cTn id="26" dur="1" fill="hold">
                                          <p:stCondLst>
                                            <p:cond delay="499"/>
                                          </p:stCondLst>
                                        </p:cTn>
                                        <p:tgtEl>
                                          <p:spTgt spid="7"/>
                                        </p:tgtEl>
                                        <p:attrNameLst>
                                          <p:attrName>style.visibility</p:attrName>
                                        </p:attrNameLst>
                                      </p:cBhvr>
                                      <p:to>
                                        <p:strVal val="hidden"/>
                                      </p:to>
                                    </p:set>
                                  </p:childTnLst>
                                </p:cTn>
                              </p:par>
                              <p:par>
                                <p:cTn id="27" presetID="16" presetClass="exit" presetSubtype="21" fill="hold" grpId="1" nodeType="withEffect">
                                  <p:stCondLst>
                                    <p:cond delay="0"/>
                                  </p:stCondLst>
                                  <p:childTnLst>
                                    <p:animEffect transition="out" filter="barn(inVertical)">
                                      <p:cBhvr>
                                        <p:cTn id="28" dur="500"/>
                                        <p:tgtEl>
                                          <p:spTgt spid="9"/>
                                        </p:tgtEl>
                                      </p:cBhvr>
                                    </p:animEffect>
                                    <p:set>
                                      <p:cBhvr>
                                        <p:cTn id="29" dur="1" fill="hold">
                                          <p:stCondLst>
                                            <p:cond delay="499"/>
                                          </p:stCondLst>
                                        </p:cTn>
                                        <p:tgtEl>
                                          <p:spTgt spid="9"/>
                                        </p:tgtEl>
                                        <p:attrNameLst>
                                          <p:attrName>style.visibility</p:attrName>
                                        </p:attrNameLst>
                                      </p:cBhvr>
                                      <p:to>
                                        <p:strVal val="hidden"/>
                                      </p:to>
                                    </p:set>
                                  </p:childTnLst>
                                </p:cTn>
                              </p:par>
                              <p:par>
                                <p:cTn id="30" presetID="22" presetClass="exit" presetSubtype="4" fill="hold" grpId="1" nodeType="withEffect">
                                  <p:stCondLst>
                                    <p:cond delay="0"/>
                                  </p:stCondLst>
                                  <p:childTnLst>
                                    <p:animEffect transition="out" filter="wipe(down)">
                                      <p:cBhvr>
                                        <p:cTn id="31" dur="500"/>
                                        <p:tgtEl>
                                          <p:spTgt spid="8"/>
                                        </p:tgtEl>
                                      </p:cBhvr>
                                    </p:animEffect>
                                    <p:set>
                                      <p:cBhvr>
                                        <p:cTn id="32"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4" grpId="0"/>
      <p:bldP spid="4" grpId="1"/>
      <p:bldP spid="8" grpId="0"/>
      <p:bldP spid="8" grpId="1"/>
      <p:bldP spid="9" grpId="0"/>
      <p:bldP spid="9" grpId="1"/>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56E"/>
        </a:solidFill>
        <a:effectLst/>
      </p:bgPr>
    </p:bg>
    <p:spTree>
      <p:nvGrpSpPr>
        <p:cNvPr id="1" name="">
          <a:extLst>
            <a:ext uri="{FF2B5EF4-FFF2-40B4-BE49-F238E27FC236}">
              <a16:creationId xmlns:a16="http://schemas.microsoft.com/office/drawing/2014/main" id="{1A20E35E-E247-6BC7-2451-8E17F121C5C4}"/>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A6EAC30C-42BD-D464-E459-CF83802E056F}"/>
              </a:ext>
            </a:extLst>
          </p:cNvPr>
          <p:cNvSpPr txBox="1"/>
          <p:nvPr/>
        </p:nvSpPr>
        <p:spPr>
          <a:xfrm>
            <a:off x="810787" y="3748564"/>
            <a:ext cx="15392400" cy="1231106"/>
          </a:xfrm>
          <a:prstGeom prst="rect">
            <a:avLst/>
          </a:prstGeom>
        </p:spPr>
        <p:txBody>
          <a:bodyPr wrap="square" lIns="0" tIns="0" rIns="0" bIns="0" rtlCol="0" anchor="t">
            <a:spAutoFit/>
          </a:bodyPr>
          <a:lstStyle/>
          <a:p>
            <a:pPr>
              <a:spcBef>
                <a:spcPts val="600"/>
              </a:spcBef>
            </a:pPr>
            <a:r>
              <a:rPr lang="en-US" sz="4000" dirty="0">
                <a:latin typeface="Bahnschrift" panose="020B0502040204020203" pitchFamily="34" charset="0"/>
              </a:rPr>
              <a:t>An algorithm is only useful if it produces the correct output for all valid inputs, including edge cases.</a:t>
            </a:r>
            <a:endParaRPr lang="en-US" sz="6600" dirty="0">
              <a:solidFill>
                <a:srgbClr val="000000"/>
              </a:solidFill>
              <a:latin typeface="Bahnschrift" panose="020B0502040204020203" pitchFamily="34" charset="0"/>
              <a:ea typeface="Heading Now 31-38 Bold"/>
              <a:cs typeface="Heading Now 31-38 Bold"/>
              <a:sym typeface="Heading Now 31-38 Bold"/>
            </a:endParaRPr>
          </a:p>
        </p:txBody>
      </p:sp>
      <p:sp>
        <p:nvSpPr>
          <p:cNvPr id="2" name="TextBox 1">
            <a:extLst>
              <a:ext uri="{FF2B5EF4-FFF2-40B4-BE49-F238E27FC236}">
                <a16:creationId xmlns:a16="http://schemas.microsoft.com/office/drawing/2014/main" id="{C49EDA37-45A0-9065-DD1F-9A7D1C13558D}"/>
              </a:ext>
            </a:extLst>
          </p:cNvPr>
          <p:cNvSpPr txBox="1"/>
          <p:nvPr/>
        </p:nvSpPr>
        <p:spPr>
          <a:xfrm>
            <a:off x="836187" y="1790700"/>
            <a:ext cx="11432013" cy="10096549"/>
          </a:xfrm>
          <a:prstGeom prst="rect">
            <a:avLst/>
          </a:prstGeom>
        </p:spPr>
        <p:txBody>
          <a:bodyPr lIns="0" tIns="0" rIns="0" bIns="0" rtlCol="0" anchor="t">
            <a:spAutoFit/>
          </a:bodyPr>
          <a:lstStyle/>
          <a:p>
            <a:pPr algn="l">
              <a:lnSpc>
                <a:spcPts val="5059"/>
              </a:lnSpc>
            </a:pPr>
            <a:r>
              <a:rPr lang="en-US" sz="11500" b="1" dirty="0">
                <a:solidFill>
                  <a:srgbClr val="000000"/>
                </a:solidFill>
                <a:latin typeface="Heading Now 31-38 Bold"/>
                <a:ea typeface="Heading Now 31-38 Bold"/>
                <a:cs typeface="Heading Now 31-38 Bold"/>
                <a:sym typeface="Heading Now 31-38 Bold"/>
              </a:rPr>
              <a:t>ALGORITHMS</a:t>
            </a:r>
          </a:p>
        </p:txBody>
      </p:sp>
      <p:sp>
        <p:nvSpPr>
          <p:cNvPr id="4" name="TextBox 3">
            <a:extLst>
              <a:ext uri="{FF2B5EF4-FFF2-40B4-BE49-F238E27FC236}">
                <a16:creationId xmlns:a16="http://schemas.microsoft.com/office/drawing/2014/main" id="{F0C6938D-D31E-1706-9BC9-2C07D91280B9}"/>
              </a:ext>
            </a:extLst>
          </p:cNvPr>
          <p:cNvSpPr txBox="1"/>
          <p:nvPr/>
        </p:nvSpPr>
        <p:spPr>
          <a:xfrm>
            <a:off x="810787" y="3009900"/>
            <a:ext cx="15392400" cy="738664"/>
          </a:xfrm>
          <a:prstGeom prst="rect">
            <a:avLst/>
          </a:prstGeom>
        </p:spPr>
        <p:txBody>
          <a:bodyPr wrap="square" lIns="0" tIns="0" rIns="0" bIns="0" rtlCol="0" anchor="t">
            <a:spAutoFit/>
          </a:bodyPr>
          <a:lstStyle/>
          <a:p>
            <a:pPr>
              <a:spcBef>
                <a:spcPts val="600"/>
              </a:spcBef>
            </a:pPr>
            <a:r>
              <a:rPr lang="en-PH" sz="4800" b="1" i="1" dirty="0"/>
              <a:t>Correctness &amp; Reliability:</a:t>
            </a:r>
            <a:endParaRPr lang="en-US" sz="8000" b="1" i="1" dirty="0">
              <a:solidFill>
                <a:srgbClr val="000000"/>
              </a:solidFill>
              <a:latin typeface="Bahnschrift" panose="020B0502040204020203" pitchFamily="34" charset="0"/>
              <a:ea typeface="Heading Now 31-38 Bold"/>
              <a:cs typeface="Heading Now 31-38 Bold"/>
              <a:sym typeface="Heading Now 31-38 Bold"/>
            </a:endParaRPr>
          </a:p>
        </p:txBody>
      </p:sp>
      <p:sp>
        <p:nvSpPr>
          <p:cNvPr id="8" name="TextBox 3">
            <a:extLst>
              <a:ext uri="{FF2B5EF4-FFF2-40B4-BE49-F238E27FC236}">
                <a16:creationId xmlns:a16="http://schemas.microsoft.com/office/drawing/2014/main" id="{8F741B70-2792-875F-A30C-D6EF25071979}"/>
              </a:ext>
            </a:extLst>
          </p:cNvPr>
          <p:cNvSpPr txBox="1"/>
          <p:nvPr/>
        </p:nvSpPr>
        <p:spPr>
          <a:xfrm>
            <a:off x="810787" y="6110764"/>
            <a:ext cx="15392400" cy="1231106"/>
          </a:xfrm>
          <a:prstGeom prst="rect">
            <a:avLst/>
          </a:prstGeom>
        </p:spPr>
        <p:txBody>
          <a:bodyPr wrap="square" lIns="0" tIns="0" rIns="0" bIns="0" rtlCol="0" anchor="t">
            <a:spAutoFit/>
          </a:bodyPr>
          <a:lstStyle/>
          <a:p>
            <a:pPr>
              <a:spcBef>
                <a:spcPts val="600"/>
              </a:spcBef>
            </a:pPr>
            <a:r>
              <a:rPr lang="en-US" sz="4000" dirty="0">
                <a:latin typeface="Bahnschrift" panose="020B0502040204020203" pitchFamily="34" charset="0"/>
              </a:rPr>
              <a:t>Design often involves a balance between Time (speed) and Space (memory). To make it faster, you often need more memory.</a:t>
            </a:r>
            <a:endParaRPr lang="en-US" sz="6600" dirty="0">
              <a:solidFill>
                <a:srgbClr val="000000"/>
              </a:solidFill>
              <a:latin typeface="Bahnschrift" panose="020B0502040204020203" pitchFamily="34" charset="0"/>
              <a:ea typeface="Heading Now 31-38 Bold"/>
              <a:cs typeface="Heading Now 31-38 Bold"/>
              <a:sym typeface="Heading Now 31-38 Bold"/>
            </a:endParaRPr>
          </a:p>
        </p:txBody>
      </p:sp>
      <p:sp>
        <p:nvSpPr>
          <p:cNvPr id="9" name="TextBox 8">
            <a:extLst>
              <a:ext uri="{FF2B5EF4-FFF2-40B4-BE49-F238E27FC236}">
                <a16:creationId xmlns:a16="http://schemas.microsoft.com/office/drawing/2014/main" id="{A855CF3E-8503-8762-7FE9-AB56F26E3EB0}"/>
              </a:ext>
            </a:extLst>
          </p:cNvPr>
          <p:cNvSpPr txBox="1"/>
          <p:nvPr/>
        </p:nvSpPr>
        <p:spPr>
          <a:xfrm>
            <a:off x="810787" y="5372100"/>
            <a:ext cx="15392400" cy="738664"/>
          </a:xfrm>
          <a:prstGeom prst="rect">
            <a:avLst/>
          </a:prstGeom>
        </p:spPr>
        <p:txBody>
          <a:bodyPr wrap="square" lIns="0" tIns="0" rIns="0" bIns="0" rtlCol="0" anchor="t">
            <a:spAutoFit/>
          </a:bodyPr>
          <a:lstStyle/>
          <a:p>
            <a:pPr>
              <a:spcBef>
                <a:spcPts val="600"/>
              </a:spcBef>
            </a:pPr>
            <a:r>
              <a:rPr lang="en-PH" sz="4800" b="1" i="1" dirty="0"/>
              <a:t>The Efficiency Trade-off:</a:t>
            </a:r>
            <a:endParaRPr lang="en-US" sz="8000" b="1" i="1" dirty="0">
              <a:solidFill>
                <a:srgbClr val="000000"/>
              </a:solidFill>
              <a:latin typeface="Bahnschrift" panose="020B0502040204020203" pitchFamily="34" charset="0"/>
              <a:ea typeface="Heading Now 31-38 Bold"/>
              <a:cs typeface="Heading Now 31-38 Bold"/>
              <a:sym typeface="Heading Now 31-38 Bold"/>
            </a:endParaRPr>
          </a:p>
        </p:txBody>
      </p:sp>
      <p:sp>
        <p:nvSpPr>
          <p:cNvPr id="6" name="Rectangle 5">
            <a:extLst>
              <a:ext uri="{FF2B5EF4-FFF2-40B4-BE49-F238E27FC236}">
                <a16:creationId xmlns:a16="http://schemas.microsoft.com/office/drawing/2014/main" id="{60AB59C9-9CAE-F6B3-5FDD-1DFB523122B4}"/>
              </a:ext>
            </a:extLst>
          </p:cNvPr>
          <p:cNvSpPr/>
          <p:nvPr/>
        </p:nvSpPr>
        <p:spPr>
          <a:xfrm rot="5400000">
            <a:off x="-2865073" y="11392906"/>
            <a:ext cx="7622013" cy="1524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23372776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56E"/>
        </a:solidFill>
        <a:effectLst/>
      </p:bgPr>
    </p:bg>
    <p:spTree>
      <p:nvGrpSpPr>
        <p:cNvPr id="1" name="">
          <a:extLst>
            <a:ext uri="{FF2B5EF4-FFF2-40B4-BE49-F238E27FC236}">
              <a16:creationId xmlns:a16="http://schemas.microsoft.com/office/drawing/2014/main" id="{476DDB15-674B-93C4-037D-AA6B95611DB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0457324-557C-B512-3ED1-C99F517F50EC}"/>
              </a:ext>
            </a:extLst>
          </p:cNvPr>
          <p:cNvSpPr/>
          <p:nvPr/>
        </p:nvSpPr>
        <p:spPr>
          <a:xfrm>
            <a:off x="19278600" y="4149493"/>
            <a:ext cx="76200" cy="200093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 name="Rectangle 1">
            <a:extLst>
              <a:ext uri="{FF2B5EF4-FFF2-40B4-BE49-F238E27FC236}">
                <a16:creationId xmlns:a16="http://schemas.microsoft.com/office/drawing/2014/main" id="{AF6CB04D-F72F-4756-2FAC-61F2D54D5733}"/>
              </a:ext>
            </a:extLst>
          </p:cNvPr>
          <p:cNvSpPr/>
          <p:nvPr/>
        </p:nvSpPr>
        <p:spPr>
          <a:xfrm rot="5400000">
            <a:off x="-2865073" y="-953507"/>
            <a:ext cx="7622013" cy="1524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H"/>
          </a:p>
        </p:txBody>
      </p:sp>
      <p:sp>
        <p:nvSpPr>
          <p:cNvPr id="5" name="TextBox 4">
            <a:extLst>
              <a:ext uri="{FF2B5EF4-FFF2-40B4-BE49-F238E27FC236}">
                <a16:creationId xmlns:a16="http://schemas.microsoft.com/office/drawing/2014/main" id="{7BB89592-490E-81AE-AF67-0410C6D7D359}"/>
              </a:ext>
            </a:extLst>
          </p:cNvPr>
          <p:cNvSpPr txBox="1"/>
          <p:nvPr/>
        </p:nvSpPr>
        <p:spPr>
          <a:xfrm>
            <a:off x="1127760" y="2145471"/>
            <a:ext cx="11432013" cy="788229"/>
          </a:xfrm>
          <a:prstGeom prst="rect">
            <a:avLst/>
          </a:prstGeom>
        </p:spPr>
        <p:txBody>
          <a:bodyPr lIns="0" tIns="0" rIns="0" bIns="0" rtlCol="0" anchor="t">
            <a:spAutoFit/>
          </a:bodyPr>
          <a:lstStyle/>
          <a:p>
            <a:pPr>
              <a:lnSpc>
                <a:spcPts val="5059"/>
              </a:lnSpc>
            </a:pPr>
            <a:r>
              <a:rPr lang="en-US" sz="8800" b="1" dirty="0">
                <a:solidFill>
                  <a:srgbClr val="000000"/>
                </a:solidFill>
                <a:latin typeface="Heading Now 31-38 Bold"/>
                <a:ea typeface="Heading Now 31-38 Bold"/>
                <a:cs typeface="Heading Now 31-38 Bold"/>
                <a:sym typeface="Heading Now 31-38 Bold"/>
              </a:rPr>
              <a:t>GUIDING PRINCIPLES OF ALGORITHMS</a:t>
            </a:r>
          </a:p>
        </p:txBody>
      </p:sp>
      <mc:AlternateContent xmlns:mc="http://schemas.openxmlformats.org/markup-compatibility/2006" xmlns:a14="http://schemas.microsoft.com/office/drawing/2010/main">
        <mc:Choice Requires="a14">
          <p:sp>
            <p:nvSpPr>
              <p:cNvPr id="6" name="TextBox 3">
                <a:extLst>
                  <a:ext uri="{FF2B5EF4-FFF2-40B4-BE49-F238E27FC236}">
                    <a16:creationId xmlns:a16="http://schemas.microsoft.com/office/drawing/2014/main" id="{3121C8C0-9869-0AC8-FA61-DCCAE4D36AC4}"/>
                  </a:ext>
                </a:extLst>
              </p:cNvPr>
              <p:cNvSpPr txBox="1"/>
              <p:nvPr/>
            </p:nvSpPr>
            <p:spPr>
              <a:xfrm>
                <a:off x="810787" y="3748564"/>
                <a:ext cx="15392400" cy="4585871"/>
              </a:xfrm>
              <a:prstGeom prst="rect">
                <a:avLst/>
              </a:prstGeom>
            </p:spPr>
            <p:txBody>
              <a:bodyPr wrap="square" lIns="0" tIns="0" rIns="0" bIns="0" rtlCol="0" anchor="t">
                <a:spAutoFit/>
              </a:bodyPr>
              <a:lstStyle/>
              <a:p>
                <a:pPr marL="571500" indent="-571500">
                  <a:spcBef>
                    <a:spcPts val="600"/>
                  </a:spcBef>
                  <a:buFont typeface="Arial" panose="020B0604020202020204" pitchFamily="34" charset="0"/>
                  <a:buChar char="•"/>
                </a:pPr>
                <a:r>
                  <a:rPr lang="en-US" sz="3600" b="1" dirty="0">
                    <a:latin typeface="+mj-lt"/>
                  </a:rPr>
                  <a:t>The Principle of Efficiency: </a:t>
                </a:r>
                <a:r>
                  <a:rPr lang="en-US" sz="3600" dirty="0">
                    <a:latin typeface="+mj-lt"/>
                  </a:rPr>
                  <a:t>An algorithm should not just solve the problem, but do so with the minimum necessary resources. We focus on Asymptotic Efficiency, how the algorithm behaves as the input size </a:t>
                </a:r>
                <a14:m>
                  <m:oMath xmlns:m="http://schemas.openxmlformats.org/officeDocument/2006/math">
                    <m:r>
                      <a:rPr lang="en-PH" sz="3600" b="0" i="1" smtClean="0">
                        <a:latin typeface="Cambria Math" panose="02040503050406030204" pitchFamily="18" charset="0"/>
                      </a:rPr>
                      <m:t>𝑛</m:t>
                    </m:r>
                  </m:oMath>
                </a14:m>
                <a:r>
                  <a:rPr lang="en-US" sz="3600" dirty="0">
                    <a:latin typeface="+mj-lt"/>
                  </a:rPr>
                  <a:t> becomes very large.</a:t>
                </a:r>
              </a:p>
              <a:p>
                <a:pPr marL="571500" indent="-571500">
                  <a:spcBef>
                    <a:spcPts val="600"/>
                  </a:spcBef>
                  <a:buFont typeface="Arial" panose="020B0604020202020204" pitchFamily="34" charset="0"/>
                  <a:buChar char="•"/>
                </a:pPr>
                <a:r>
                  <a:rPr lang="en-US" sz="3600" b="1" dirty="0">
                    <a:latin typeface="+mj-lt"/>
                  </a:rPr>
                  <a:t>The Principle of Correctness: </a:t>
                </a:r>
                <a:r>
                  <a:rPr lang="en-US" sz="3600" dirty="0">
                    <a:latin typeface="+mj-lt"/>
                  </a:rPr>
                  <a:t>An algorithm must be provably correct. This is often done using Mathematical Induction or Loop Invariants (statements that are true before and after each iteration of a loop).</a:t>
                </a:r>
              </a:p>
              <a:p>
                <a:pPr marL="571500" indent="-571500">
                  <a:spcBef>
                    <a:spcPts val="600"/>
                  </a:spcBef>
                  <a:buFont typeface="Arial" panose="020B0604020202020204" pitchFamily="34" charset="0"/>
                  <a:buChar char="•"/>
                </a:pPr>
                <a:r>
                  <a:rPr lang="en-US" sz="3600" b="1" dirty="0">
                    <a:latin typeface="+mj-lt"/>
                  </a:rPr>
                  <a:t>The Principle of Scalability: </a:t>
                </a:r>
                <a:r>
                  <a:rPr lang="en-US" sz="3600" dirty="0">
                    <a:latin typeface="+mj-lt"/>
                  </a:rPr>
                  <a:t>A solution that works for small data (like a list of 10 names) must not "explode" when handling Big Data (10 billion names).</a:t>
                </a:r>
                <a:endParaRPr lang="en-US" sz="6000" dirty="0">
                  <a:solidFill>
                    <a:srgbClr val="000000"/>
                  </a:solidFill>
                  <a:latin typeface="+mj-lt"/>
                  <a:sym typeface="Heading Now 31-38 Bold"/>
                </a:endParaRPr>
              </a:p>
            </p:txBody>
          </p:sp>
        </mc:Choice>
        <mc:Fallback xmlns="">
          <p:sp>
            <p:nvSpPr>
              <p:cNvPr id="6" name="TextBox 3">
                <a:extLst>
                  <a:ext uri="{FF2B5EF4-FFF2-40B4-BE49-F238E27FC236}">
                    <a16:creationId xmlns:a16="http://schemas.microsoft.com/office/drawing/2014/main" id="{3121C8C0-9869-0AC8-FA61-DCCAE4D36AC4}"/>
                  </a:ext>
                </a:extLst>
              </p:cNvPr>
              <p:cNvSpPr txBox="1">
                <a:spLocks noRot="1" noChangeAspect="1" noMove="1" noResize="1" noEditPoints="1" noAdjustHandles="1" noChangeArrowheads="1" noChangeShapeType="1" noTextEdit="1"/>
              </p:cNvSpPr>
              <p:nvPr/>
            </p:nvSpPr>
            <p:spPr>
              <a:xfrm>
                <a:off x="810787" y="3748564"/>
                <a:ext cx="15392400" cy="4585871"/>
              </a:xfrm>
              <a:prstGeom prst="rect">
                <a:avLst/>
              </a:prstGeom>
              <a:blipFill>
                <a:blip r:embed="rId2"/>
                <a:stretch>
                  <a:fillRect l="-1663" t="-3059" r="-1584" b="-5053"/>
                </a:stretch>
              </a:blipFill>
            </p:spPr>
            <p:txBody>
              <a:bodyPr/>
              <a:lstStyle/>
              <a:p>
                <a:r>
                  <a:rPr lang="en-PH">
                    <a:noFill/>
                  </a:rPr>
                  <a:t> </a:t>
                </a:r>
              </a:p>
            </p:txBody>
          </p:sp>
        </mc:Fallback>
      </mc:AlternateContent>
      <p:sp>
        <p:nvSpPr>
          <p:cNvPr id="7" name="TextBox 3">
            <a:extLst>
              <a:ext uri="{FF2B5EF4-FFF2-40B4-BE49-F238E27FC236}">
                <a16:creationId xmlns:a16="http://schemas.microsoft.com/office/drawing/2014/main" id="{EF5D7677-CC1A-B830-6006-BE1A4899FB4A}"/>
              </a:ext>
            </a:extLst>
          </p:cNvPr>
          <p:cNvSpPr txBox="1"/>
          <p:nvPr/>
        </p:nvSpPr>
        <p:spPr>
          <a:xfrm>
            <a:off x="1143000" y="2652099"/>
            <a:ext cx="15392400" cy="369332"/>
          </a:xfrm>
          <a:prstGeom prst="rect">
            <a:avLst/>
          </a:prstGeom>
        </p:spPr>
        <p:txBody>
          <a:bodyPr wrap="square" lIns="0" tIns="0" rIns="0" bIns="0" rtlCol="0" anchor="t">
            <a:spAutoFit/>
          </a:bodyPr>
          <a:lstStyle/>
          <a:p>
            <a:pPr>
              <a:spcBef>
                <a:spcPts val="600"/>
              </a:spcBef>
            </a:pPr>
            <a:r>
              <a:rPr lang="en-US" sz="2400" i="1" dirty="0"/>
              <a:t>These are the "rules of thumb" that developers follow when designing logic.</a:t>
            </a:r>
            <a:endParaRPr lang="en-US" sz="4400" i="1" dirty="0">
              <a:solidFill>
                <a:srgbClr val="000000"/>
              </a:solidFill>
              <a:latin typeface="Bahnschrift" panose="020B0502040204020203" pitchFamily="34" charset="0"/>
              <a:ea typeface="Heading Now 31-38 Bold"/>
              <a:cs typeface="Heading Now 31-38 Bold"/>
              <a:sym typeface="Heading Now 31-38 Bold"/>
            </a:endParaRPr>
          </a:p>
        </p:txBody>
      </p:sp>
    </p:spTree>
    <p:extLst>
      <p:ext uri="{BB962C8B-B14F-4D97-AF65-F5344CB8AC3E}">
        <p14:creationId xmlns:p14="http://schemas.microsoft.com/office/powerpoint/2010/main" val="1496710574"/>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56E"/>
        </a:solidFill>
        <a:effectLst/>
      </p:bgPr>
    </p:bg>
    <p:spTree>
      <p:nvGrpSpPr>
        <p:cNvPr id="1" name="">
          <a:extLst>
            <a:ext uri="{FF2B5EF4-FFF2-40B4-BE49-F238E27FC236}">
              <a16:creationId xmlns:a16="http://schemas.microsoft.com/office/drawing/2014/main" id="{68C9396E-5DDD-DA55-E4F4-556E5766B10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1437C67-FEBB-A362-BAFB-F11D649B2E9B}"/>
              </a:ext>
            </a:extLst>
          </p:cNvPr>
          <p:cNvSpPr/>
          <p:nvPr/>
        </p:nvSpPr>
        <p:spPr>
          <a:xfrm>
            <a:off x="19278600" y="4149493"/>
            <a:ext cx="76200" cy="200093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 name="Rectangle 1">
            <a:extLst>
              <a:ext uri="{FF2B5EF4-FFF2-40B4-BE49-F238E27FC236}">
                <a16:creationId xmlns:a16="http://schemas.microsoft.com/office/drawing/2014/main" id="{33B0F0E7-B256-EE13-24CA-C1F7AE5D9B60}"/>
              </a:ext>
            </a:extLst>
          </p:cNvPr>
          <p:cNvSpPr/>
          <p:nvPr/>
        </p:nvSpPr>
        <p:spPr>
          <a:xfrm rot="5400000">
            <a:off x="-2865073" y="-953507"/>
            <a:ext cx="7622013" cy="1524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H"/>
          </a:p>
        </p:txBody>
      </p:sp>
      <p:sp>
        <p:nvSpPr>
          <p:cNvPr id="5" name="TextBox 4">
            <a:extLst>
              <a:ext uri="{FF2B5EF4-FFF2-40B4-BE49-F238E27FC236}">
                <a16:creationId xmlns:a16="http://schemas.microsoft.com/office/drawing/2014/main" id="{B17CD064-B446-A4A9-1CF5-3C1815065210}"/>
              </a:ext>
            </a:extLst>
          </p:cNvPr>
          <p:cNvSpPr txBox="1"/>
          <p:nvPr/>
        </p:nvSpPr>
        <p:spPr>
          <a:xfrm>
            <a:off x="1127760" y="2145471"/>
            <a:ext cx="11432013" cy="788229"/>
          </a:xfrm>
          <a:prstGeom prst="rect">
            <a:avLst/>
          </a:prstGeom>
        </p:spPr>
        <p:txBody>
          <a:bodyPr lIns="0" tIns="0" rIns="0" bIns="0" rtlCol="0" anchor="t">
            <a:spAutoFit/>
          </a:bodyPr>
          <a:lstStyle/>
          <a:p>
            <a:pPr>
              <a:lnSpc>
                <a:spcPts val="5059"/>
              </a:lnSpc>
            </a:pPr>
            <a:r>
              <a:rPr lang="en-US" sz="8800" b="1" dirty="0">
                <a:solidFill>
                  <a:srgbClr val="000000"/>
                </a:solidFill>
                <a:latin typeface="Heading Now 31-38 Bold"/>
                <a:ea typeface="Heading Now 31-38 Bold"/>
                <a:cs typeface="Heading Now 31-38 Bold"/>
                <a:sym typeface="Heading Now 31-38 Bold"/>
              </a:rPr>
              <a:t>GUIDING PRINCIPLES OF ALGORITHMS</a:t>
            </a:r>
          </a:p>
        </p:txBody>
      </p:sp>
      <p:sp>
        <p:nvSpPr>
          <p:cNvPr id="6" name="TextBox 3">
            <a:extLst>
              <a:ext uri="{FF2B5EF4-FFF2-40B4-BE49-F238E27FC236}">
                <a16:creationId xmlns:a16="http://schemas.microsoft.com/office/drawing/2014/main" id="{1FE11B43-4B48-AB6A-F089-BB9783356369}"/>
              </a:ext>
            </a:extLst>
          </p:cNvPr>
          <p:cNvSpPr txBox="1"/>
          <p:nvPr/>
        </p:nvSpPr>
        <p:spPr>
          <a:xfrm>
            <a:off x="810787" y="3748564"/>
            <a:ext cx="15800812" cy="3801041"/>
          </a:xfrm>
          <a:prstGeom prst="rect">
            <a:avLst/>
          </a:prstGeom>
        </p:spPr>
        <p:txBody>
          <a:bodyPr wrap="square" lIns="0" tIns="0" rIns="0" bIns="0" rtlCol="0" anchor="t">
            <a:spAutoFit/>
          </a:bodyPr>
          <a:lstStyle/>
          <a:p>
            <a:pPr marL="571500" indent="-571500">
              <a:spcBef>
                <a:spcPts val="600"/>
              </a:spcBef>
              <a:buFont typeface="Arial" panose="020B0604020202020204" pitchFamily="34" charset="0"/>
              <a:buChar char="•"/>
            </a:pPr>
            <a:r>
              <a:rPr lang="en-US" sz="3600" b="1" dirty="0">
                <a:latin typeface="+mj-lt"/>
              </a:rPr>
              <a:t>The Design Paradigm Principle: </a:t>
            </a:r>
            <a:r>
              <a:rPr lang="en-US" sz="3600" dirty="0">
                <a:latin typeface="+mj-lt"/>
              </a:rPr>
              <a:t>Good algorithms often follow established strategies:</a:t>
            </a:r>
          </a:p>
          <a:p>
            <a:pPr marL="1028700" lvl="1" indent="-571500">
              <a:spcBef>
                <a:spcPts val="600"/>
              </a:spcBef>
              <a:buFont typeface="Courier New" panose="02070309020205020404" pitchFamily="49" charset="0"/>
              <a:buChar char="o"/>
            </a:pPr>
            <a:r>
              <a:rPr lang="en-US" sz="3200" b="1" dirty="0">
                <a:latin typeface="+mj-lt"/>
              </a:rPr>
              <a:t>Divide and Conquer: </a:t>
            </a:r>
            <a:r>
              <a:rPr lang="en-US" sz="3200" dirty="0">
                <a:latin typeface="+mj-lt"/>
              </a:rPr>
              <a:t>Breaking a problem into smaller identical sub-problems </a:t>
            </a:r>
            <a:r>
              <a:rPr lang="en-US" sz="3200" i="1" dirty="0">
                <a:latin typeface="+mj-lt"/>
              </a:rPr>
              <a:t>(e.g., Merge Sort)</a:t>
            </a:r>
            <a:r>
              <a:rPr lang="en-US" sz="3200" dirty="0">
                <a:latin typeface="+mj-lt"/>
              </a:rPr>
              <a:t>.</a:t>
            </a:r>
          </a:p>
          <a:p>
            <a:pPr marL="1028700" lvl="1" indent="-571500">
              <a:spcBef>
                <a:spcPts val="600"/>
              </a:spcBef>
              <a:buFont typeface="Courier New" panose="02070309020205020404" pitchFamily="49" charset="0"/>
              <a:buChar char="o"/>
            </a:pPr>
            <a:r>
              <a:rPr lang="en-US" sz="3200" b="1" dirty="0">
                <a:latin typeface="+mj-lt"/>
              </a:rPr>
              <a:t>Greedy Method: </a:t>
            </a:r>
            <a:r>
              <a:rPr lang="en-US" sz="3200" dirty="0">
                <a:latin typeface="+mj-lt"/>
              </a:rPr>
              <a:t>Making the best local choice at each step to find the global optimum </a:t>
            </a:r>
            <a:r>
              <a:rPr lang="en-US" sz="3200" i="1" dirty="0">
                <a:latin typeface="+mj-lt"/>
              </a:rPr>
              <a:t>(e.g., Dijkstra's Algorithm).</a:t>
            </a:r>
          </a:p>
          <a:p>
            <a:pPr marL="1028700" lvl="1" indent="-571500">
              <a:spcBef>
                <a:spcPts val="600"/>
              </a:spcBef>
              <a:buFont typeface="Courier New" panose="02070309020205020404" pitchFamily="49" charset="0"/>
              <a:buChar char="o"/>
            </a:pPr>
            <a:r>
              <a:rPr lang="en-US" sz="3200" b="1" dirty="0">
                <a:latin typeface="+mj-lt"/>
              </a:rPr>
              <a:t>Dynamic Programming: </a:t>
            </a:r>
            <a:r>
              <a:rPr lang="en-US" sz="3200" dirty="0">
                <a:latin typeface="+mj-lt"/>
              </a:rPr>
              <a:t>Storing the results of sub-problems to avoid redundant work</a:t>
            </a:r>
          </a:p>
        </p:txBody>
      </p:sp>
      <p:sp>
        <p:nvSpPr>
          <p:cNvPr id="7" name="TextBox 3">
            <a:extLst>
              <a:ext uri="{FF2B5EF4-FFF2-40B4-BE49-F238E27FC236}">
                <a16:creationId xmlns:a16="http://schemas.microsoft.com/office/drawing/2014/main" id="{CB08AF1A-7D22-1C16-68E1-022BB644FE00}"/>
              </a:ext>
            </a:extLst>
          </p:cNvPr>
          <p:cNvSpPr txBox="1"/>
          <p:nvPr/>
        </p:nvSpPr>
        <p:spPr>
          <a:xfrm>
            <a:off x="1143000" y="2652099"/>
            <a:ext cx="15392400" cy="369332"/>
          </a:xfrm>
          <a:prstGeom prst="rect">
            <a:avLst/>
          </a:prstGeom>
        </p:spPr>
        <p:txBody>
          <a:bodyPr wrap="square" lIns="0" tIns="0" rIns="0" bIns="0" rtlCol="0" anchor="t">
            <a:spAutoFit/>
          </a:bodyPr>
          <a:lstStyle/>
          <a:p>
            <a:pPr>
              <a:spcBef>
                <a:spcPts val="600"/>
              </a:spcBef>
            </a:pPr>
            <a:r>
              <a:rPr lang="en-US" sz="2400" i="1" dirty="0"/>
              <a:t>These are the "rules of thumb" that developers follow when designing logic.</a:t>
            </a:r>
            <a:endParaRPr lang="en-US" sz="4400" i="1" dirty="0">
              <a:solidFill>
                <a:srgbClr val="000000"/>
              </a:solidFill>
              <a:latin typeface="Bahnschrift" panose="020B0502040204020203" pitchFamily="34" charset="0"/>
              <a:ea typeface="Heading Now 31-38 Bold"/>
              <a:cs typeface="Heading Now 31-38 Bold"/>
              <a:sym typeface="Heading Now 31-38 Bold"/>
            </a:endParaRPr>
          </a:p>
        </p:txBody>
      </p:sp>
    </p:spTree>
    <p:extLst>
      <p:ext uri="{BB962C8B-B14F-4D97-AF65-F5344CB8AC3E}">
        <p14:creationId xmlns:p14="http://schemas.microsoft.com/office/powerpoint/2010/main" val="3348430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56E"/>
        </a:solidFill>
        <a:effectLst/>
      </p:bgPr>
    </p:bg>
    <p:spTree>
      <p:nvGrpSpPr>
        <p:cNvPr id="1" name="">
          <a:extLst>
            <a:ext uri="{FF2B5EF4-FFF2-40B4-BE49-F238E27FC236}">
              <a16:creationId xmlns:a16="http://schemas.microsoft.com/office/drawing/2014/main" id="{71E42A92-622C-E81B-870A-671EE38880A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C2CF644-0922-F479-F9BB-B55F358E4EA9}"/>
              </a:ext>
            </a:extLst>
          </p:cNvPr>
          <p:cNvSpPr/>
          <p:nvPr/>
        </p:nvSpPr>
        <p:spPr>
          <a:xfrm>
            <a:off x="19278600" y="4149493"/>
            <a:ext cx="76200" cy="200093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 name="Rectangle 1">
            <a:extLst>
              <a:ext uri="{FF2B5EF4-FFF2-40B4-BE49-F238E27FC236}">
                <a16:creationId xmlns:a16="http://schemas.microsoft.com/office/drawing/2014/main" id="{9884FD4F-3865-D3B7-5845-1FD23A51136F}"/>
              </a:ext>
            </a:extLst>
          </p:cNvPr>
          <p:cNvSpPr/>
          <p:nvPr/>
        </p:nvSpPr>
        <p:spPr>
          <a:xfrm rot="5400000">
            <a:off x="-2865073" y="-953507"/>
            <a:ext cx="7622013" cy="1524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H"/>
          </a:p>
        </p:txBody>
      </p:sp>
      <p:sp>
        <p:nvSpPr>
          <p:cNvPr id="5" name="TextBox 4">
            <a:extLst>
              <a:ext uri="{FF2B5EF4-FFF2-40B4-BE49-F238E27FC236}">
                <a16:creationId xmlns:a16="http://schemas.microsoft.com/office/drawing/2014/main" id="{E41E82E3-7FBA-CE8F-8BF7-611F87F2BB2A}"/>
              </a:ext>
            </a:extLst>
          </p:cNvPr>
          <p:cNvSpPr txBox="1"/>
          <p:nvPr/>
        </p:nvSpPr>
        <p:spPr>
          <a:xfrm>
            <a:off x="1127760" y="2145471"/>
            <a:ext cx="11432013" cy="788229"/>
          </a:xfrm>
          <a:prstGeom prst="rect">
            <a:avLst/>
          </a:prstGeom>
        </p:spPr>
        <p:txBody>
          <a:bodyPr lIns="0" tIns="0" rIns="0" bIns="0" rtlCol="0" anchor="t">
            <a:spAutoFit/>
          </a:bodyPr>
          <a:lstStyle/>
          <a:p>
            <a:pPr>
              <a:lnSpc>
                <a:spcPts val="5059"/>
              </a:lnSpc>
            </a:pPr>
            <a:r>
              <a:rPr lang="en-US" sz="8800" b="1" dirty="0">
                <a:solidFill>
                  <a:srgbClr val="000000"/>
                </a:solidFill>
                <a:latin typeface="Heading Now 31-38 Bold"/>
                <a:ea typeface="Heading Now 31-38 Bold"/>
                <a:cs typeface="Heading Now 31-38 Bold"/>
                <a:sym typeface="Heading Now 31-38 Bold"/>
              </a:rPr>
              <a:t>GUIDING PRINCIPLES OF ALGORITHMS</a:t>
            </a:r>
          </a:p>
        </p:txBody>
      </p:sp>
      <p:sp>
        <p:nvSpPr>
          <p:cNvPr id="6" name="TextBox 3">
            <a:extLst>
              <a:ext uri="{FF2B5EF4-FFF2-40B4-BE49-F238E27FC236}">
                <a16:creationId xmlns:a16="http://schemas.microsoft.com/office/drawing/2014/main" id="{6FFB2982-4B81-1830-7500-208EB4FCC8F8}"/>
              </a:ext>
            </a:extLst>
          </p:cNvPr>
          <p:cNvSpPr txBox="1"/>
          <p:nvPr/>
        </p:nvSpPr>
        <p:spPr>
          <a:xfrm>
            <a:off x="810787" y="3748564"/>
            <a:ext cx="15800812" cy="3247043"/>
          </a:xfrm>
          <a:prstGeom prst="rect">
            <a:avLst/>
          </a:prstGeom>
        </p:spPr>
        <p:txBody>
          <a:bodyPr wrap="square" lIns="0" tIns="0" rIns="0" bIns="0" rtlCol="0" anchor="t">
            <a:spAutoFit/>
          </a:bodyPr>
          <a:lstStyle/>
          <a:p>
            <a:pPr marL="571500" indent="-571500">
              <a:spcBef>
                <a:spcPts val="600"/>
              </a:spcBef>
              <a:buFont typeface="Arial" panose="020B0604020202020204" pitchFamily="34" charset="0"/>
              <a:buChar char="•"/>
            </a:pPr>
            <a:r>
              <a:rPr lang="en-US" sz="3600" b="1" dirty="0">
                <a:latin typeface="+mj-lt"/>
              </a:rPr>
              <a:t>The Design Paradigm Principle: </a:t>
            </a:r>
            <a:r>
              <a:rPr lang="en-US" sz="3600" dirty="0">
                <a:latin typeface="+mj-lt"/>
              </a:rPr>
              <a:t>Good algorithms examples:</a:t>
            </a:r>
          </a:p>
          <a:p>
            <a:pPr marL="1028700" lvl="1" indent="-571500">
              <a:spcBef>
                <a:spcPts val="600"/>
              </a:spcBef>
              <a:buFont typeface="Courier New" panose="02070309020205020404" pitchFamily="49" charset="0"/>
              <a:buChar char="o"/>
            </a:pPr>
            <a:r>
              <a:rPr lang="en-US" sz="3200" b="1" dirty="0">
                <a:latin typeface="+mj-lt"/>
              </a:rPr>
              <a:t>Divide and Conquer: </a:t>
            </a:r>
            <a:r>
              <a:rPr lang="en-US" sz="3200" dirty="0">
                <a:latin typeface="+mj-lt"/>
              </a:rPr>
              <a:t>Breaking a problem into smaller identical sub-problems </a:t>
            </a:r>
            <a:r>
              <a:rPr lang="en-US" sz="3200" i="1" dirty="0">
                <a:latin typeface="+mj-lt"/>
              </a:rPr>
              <a:t>(e.g., Merge Sort)</a:t>
            </a:r>
            <a:r>
              <a:rPr lang="en-US" sz="3200" dirty="0">
                <a:latin typeface="+mj-lt"/>
              </a:rPr>
              <a:t>.</a:t>
            </a:r>
          </a:p>
          <a:p>
            <a:pPr marL="1028700" lvl="1" indent="-571500">
              <a:spcBef>
                <a:spcPts val="600"/>
              </a:spcBef>
              <a:buFont typeface="Courier New" panose="02070309020205020404" pitchFamily="49" charset="0"/>
              <a:buChar char="o"/>
            </a:pPr>
            <a:r>
              <a:rPr lang="en-US" sz="3200" b="1" dirty="0">
                <a:latin typeface="+mj-lt"/>
              </a:rPr>
              <a:t>Greedy Method: </a:t>
            </a:r>
            <a:r>
              <a:rPr lang="en-US" sz="3200" dirty="0">
                <a:latin typeface="+mj-lt"/>
              </a:rPr>
              <a:t>Making the best local choice at each step to find the global optimum </a:t>
            </a:r>
            <a:r>
              <a:rPr lang="en-US" sz="3200" i="1" dirty="0">
                <a:latin typeface="+mj-lt"/>
              </a:rPr>
              <a:t>(e.g., Dijkstra's Algorithm).</a:t>
            </a:r>
          </a:p>
          <a:p>
            <a:pPr marL="1028700" lvl="1" indent="-571500">
              <a:spcBef>
                <a:spcPts val="600"/>
              </a:spcBef>
              <a:buFont typeface="Courier New" panose="02070309020205020404" pitchFamily="49" charset="0"/>
              <a:buChar char="o"/>
            </a:pPr>
            <a:r>
              <a:rPr lang="en-US" sz="3200" b="1" dirty="0">
                <a:latin typeface="+mj-lt"/>
              </a:rPr>
              <a:t>Dynamic Programming: </a:t>
            </a:r>
            <a:r>
              <a:rPr lang="en-US" sz="3200" dirty="0">
                <a:latin typeface="+mj-lt"/>
              </a:rPr>
              <a:t>Storing the results of sub-problems to avoid redundant work</a:t>
            </a:r>
          </a:p>
        </p:txBody>
      </p:sp>
      <p:sp>
        <p:nvSpPr>
          <p:cNvPr id="7" name="TextBox 3">
            <a:extLst>
              <a:ext uri="{FF2B5EF4-FFF2-40B4-BE49-F238E27FC236}">
                <a16:creationId xmlns:a16="http://schemas.microsoft.com/office/drawing/2014/main" id="{B2BFD2CD-BC7E-7084-F098-2C79C394012B}"/>
              </a:ext>
            </a:extLst>
          </p:cNvPr>
          <p:cNvSpPr txBox="1"/>
          <p:nvPr/>
        </p:nvSpPr>
        <p:spPr>
          <a:xfrm>
            <a:off x="1143000" y="2652099"/>
            <a:ext cx="15392400" cy="369332"/>
          </a:xfrm>
          <a:prstGeom prst="rect">
            <a:avLst/>
          </a:prstGeom>
        </p:spPr>
        <p:txBody>
          <a:bodyPr wrap="square" lIns="0" tIns="0" rIns="0" bIns="0" rtlCol="0" anchor="t">
            <a:spAutoFit/>
          </a:bodyPr>
          <a:lstStyle/>
          <a:p>
            <a:pPr>
              <a:spcBef>
                <a:spcPts val="600"/>
              </a:spcBef>
            </a:pPr>
            <a:r>
              <a:rPr lang="en-US" sz="2400" i="1" dirty="0"/>
              <a:t>These are the "rules of thumb" that developers follow when designing logic.</a:t>
            </a:r>
            <a:endParaRPr lang="en-US" sz="4400" i="1" dirty="0">
              <a:solidFill>
                <a:srgbClr val="000000"/>
              </a:solidFill>
              <a:latin typeface="Bahnschrift" panose="020B0502040204020203" pitchFamily="34" charset="0"/>
              <a:ea typeface="Heading Now 31-38 Bold"/>
              <a:cs typeface="Heading Now 31-38 Bold"/>
              <a:sym typeface="Heading Now 31-38 Bold"/>
            </a:endParaRPr>
          </a:p>
        </p:txBody>
      </p:sp>
    </p:spTree>
    <p:extLst>
      <p:ext uri="{BB962C8B-B14F-4D97-AF65-F5344CB8AC3E}">
        <p14:creationId xmlns:p14="http://schemas.microsoft.com/office/powerpoint/2010/main" val="3562726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56E"/>
        </a:solidFill>
        <a:effectLst/>
      </p:bgPr>
    </p:bg>
    <p:spTree>
      <p:nvGrpSpPr>
        <p:cNvPr id="1" name="">
          <a:extLst>
            <a:ext uri="{FF2B5EF4-FFF2-40B4-BE49-F238E27FC236}">
              <a16:creationId xmlns:a16="http://schemas.microsoft.com/office/drawing/2014/main" id="{31B35D27-EC97-DB4E-1185-BB412CCFBFA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1C35935-6E05-0C66-892D-0D7376413EE9}"/>
              </a:ext>
            </a:extLst>
          </p:cNvPr>
          <p:cNvSpPr/>
          <p:nvPr/>
        </p:nvSpPr>
        <p:spPr>
          <a:xfrm>
            <a:off x="19278600" y="4149493"/>
            <a:ext cx="76200" cy="200093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 name="Rectangle 1">
            <a:extLst>
              <a:ext uri="{FF2B5EF4-FFF2-40B4-BE49-F238E27FC236}">
                <a16:creationId xmlns:a16="http://schemas.microsoft.com/office/drawing/2014/main" id="{F0D7DFBF-BD50-2804-9DBD-8874B50A1B24}"/>
              </a:ext>
            </a:extLst>
          </p:cNvPr>
          <p:cNvSpPr/>
          <p:nvPr/>
        </p:nvSpPr>
        <p:spPr>
          <a:xfrm rot="5400000">
            <a:off x="-2865073" y="-953507"/>
            <a:ext cx="7622013" cy="1524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H"/>
          </a:p>
        </p:txBody>
      </p:sp>
      <p:sp>
        <p:nvSpPr>
          <p:cNvPr id="5" name="TextBox 4">
            <a:extLst>
              <a:ext uri="{FF2B5EF4-FFF2-40B4-BE49-F238E27FC236}">
                <a16:creationId xmlns:a16="http://schemas.microsoft.com/office/drawing/2014/main" id="{E49145AF-A7A5-CB49-9B54-3D594AAF07BC}"/>
              </a:ext>
            </a:extLst>
          </p:cNvPr>
          <p:cNvSpPr txBox="1"/>
          <p:nvPr/>
        </p:nvSpPr>
        <p:spPr>
          <a:xfrm>
            <a:off x="1127760" y="2145471"/>
            <a:ext cx="11432013" cy="788229"/>
          </a:xfrm>
          <a:prstGeom prst="rect">
            <a:avLst/>
          </a:prstGeom>
        </p:spPr>
        <p:txBody>
          <a:bodyPr lIns="0" tIns="0" rIns="0" bIns="0" rtlCol="0" anchor="t">
            <a:spAutoFit/>
          </a:bodyPr>
          <a:lstStyle/>
          <a:p>
            <a:pPr>
              <a:lnSpc>
                <a:spcPts val="5059"/>
              </a:lnSpc>
            </a:pPr>
            <a:r>
              <a:rPr lang="en-US" sz="8800" b="1" dirty="0">
                <a:solidFill>
                  <a:srgbClr val="000000"/>
                </a:solidFill>
                <a:latin typeface="Heading Now 31-38 Bold"/>
                <a:ea typeface="Heading Now 31-38 Bold"/>
                <a:cs typeface="Heading Now 31-38 Bold"/>
                <a:sym typeface="Heading Now 31-38 Bold"/>
              </a:rPr>
              <a:t>FOUNDATIONS OF ALGORITHMS</a:t>
            </a:r>
          </a:p>
        </p:txBody>
      </p:sp>
      <p:sp>
        <p:nvSpPr>
          <p:cNvPr id="6" name="TextBox 3">
            <a:extLst>
              <a:ext uri="{FF2B5EF4-FFF2-40B4-BE49-F238E27FC236}">
                <a16:creationId xmlns:a16="http://schemas.microsoft.com/office/drawing/2014/main" id="{EA6403B7-472B-EE4C-4BE9-C76E97C1AD4B}"/>
              </a:ext>
            </a:extLst>
          </p:cNvPr>
          <p:cNvSpPr txBox="1"/>
          <p:nvPr/>
        </p:nvSpPr>
        <p:spPr>
          <a:xfrm>
            <a:off x="810787" y="3748564"/>
            <a:ext cx="15800812" cy="4108817"/>
          </a:xfrm>
          <a:prstGeom prst="rect">
            <a:avLst/>
          </a:prstGeom>
        </p:spPr>
        <p:txBody>
          <a:bodyPr wrap="square" lIns="0" tIns="0" rIns="0" bIns="0" rtlCol="0" anchor="t">
            <a:spAutoFit/>
          </a:bodyPr>
          <a:lstStyle/>
          <a:p>
            <a:pPr marL="571500" indent="-571500">
              <a:spcBef>
                <a:spcPts val="600"/>
              </a:spcBef>
              <a:buFont typeface="Arial" panose="020B0604020202020204" pitchFamily="34" charset="0"/>
              <a:buChar char="•"/>
            </a:pPr>
            <a:r>
              <a:rPr lang="en-PH" sz="3600" b="1" dirty="0"/>
              <a:t>Mathematical Foundations:</a:t>
            </a:r>
          </a:p>
          <a:p>
            <a:pPr marL="1485900" lvl="2" indent="-571500">
              <a:spcBef>
                <a:spcPts val="600"/>
              </a:spcBef>
              <a:buFont typeface="Wingdings" panose="05000000000000000000" pitchFamily="2" charset="2"/>
              <a:buChar char="q"/>
            </a:pPr>
            <a:r>
              <a:rPr lang="en-PH" sz="3600" b="1" dirty="0"/>
              <a:t>Discrete Mathematics: </a:t>
            </a:r>
            <a:r>
              <a:rPr lang="en-PH" sz="3600" dirty="0"/>
              <a:t>Set theory, functions, and relations are used to model data.</a:t>
            </a:r>
          </a:p>
          <a:p>
            <a:pPr marL="1485900" lvl="2" indent="-571500">
              <a:spcBef>
                <a:spcPts val="600"/>
              </a:spcBef>
              <a:buFont typeface="Wingdings" panose="05000000000000000000" pitchFamily="2" charset="2"/>
              <a:buChar char="q"/>
            </a:pPr>
            <a:r>
              <a:rPr lang="en-PH" sz="3600" b="1" dirty="0"/>
              <a:t>Graph Theory: </a:t>
            </a:r>
            <a:r>
              <a:rPr lang="en-PH" sz="3600" dirty="0"/>
              <a:t>Essential for algorithms involving networks, maps, or social media connections.</a:t>
            </a:r>
          </a:p>
          <a:p>
            <a:pPr marL="1485900" lvl="2" indent="-571500">
              <a:spcBef>
                <a:spcPts val="600"/>
              </a:spcBef>
              <a:buFont typeface="Wingdings" panose="05000000000000000000" pitchFamily="2" charset="2"/>
              <a:buChar char="q"/>
            </a:pPr>
            <a:r>
              <a:rPr lang="en-PH" sz="3600" b="1" dirty="0"/>
              <a:t>Probability: </a:t>
            </a:r>
            <a:r>
              <a:rPr lang="en-PH" sz="3600" dirty="0"/>
              <a:t>Used to analyze Randomized Algorithms (like </a:t>
            </a:r>
            <a:r>
              <a:rPr lang="en-PH" sz="3600" dirty="0" err="1"/>
              <a:t>QuickSort</a:t>
            </a:r>
            <a:r>
              <a:rPr lang="en-PH" sz="3600" dirty="0"/>
              <a:t>) where performance depends on random choices.</a:t>
            </a:r>
          </a:p>
        </p:txBody>
      </p:sp>
      <p:sp>
        <p:nvSpPr>
          <p:cNvPr id="7" name="TextBox 3">
            <a:extLst>
              <a:ext uri="{FF2B5EF4-FFF2-40B4-BE49-F238E27FC236}">
                <a16:creationId xmlns:a16="http://schemas.microsoft.com/office/drawing/2014/main" id="{834A2B40-9B21-28FA-2B6D-055DB952E98D}"/>
              </a:ext>
            </a:extLst>
          </p:cNvPr>
          <p:cNvSpPr txBox="1"/>
          <p:nvPr/>
        </p:nvSpPr>
        <p:spPr>
          <a:xfrm>
            <a:off x="1143000" y="2652099"/>
            <a:ext cx="15392400" cy="369332"/>
          </a:xfrm>
          <a:prstGeom prst="rect">
            <a:avLst/>
          </a:prstGeom>
        </p:spPr>
        <p:txBody>
          <a:bodyPr wrap="square" lIns="0" tIns="0" rIns="0" bIns="0" rtlCol="0" anchor="t">
            <a:spAutoFit/>
          </a:bodyPr>
          <a:lstStyle/>
          <a:p>
            <a:pPr>
              <a:spcBef>
                <a:spcPts val="600"/>
              </a:spcBef>
            </a:pPr>
            <a:r>
              <a:rPr lang="en-US" sz="2400" i="1" dirty="0"/>
              <a:t>The mathematical and logical bedrock that makes algorithms possible.</a:t>
            </a:r>
            <a:endParaRPr lang="en-US" sz="4400" i="1" dirty="0">
              <a:solidFill>
                <a:srgbClr val="000000"/>
              </a:solidFill>
              <a:latin typeface="Bahnschrift" panose="020B0502040204020203" pitchFamily="34" charset="0"/>
              <a:ea typeface="Heading Now 31-38 Bold"/>
              <a:cs typeface="Heading Now 31-38 Bold"/>
              <a:sym typeface="Heading Now 31-38 Bold"/>
            </a:endParaRPr>
          </a:p>
        </p:txBody>
      </p:sp>
    </p:spTree>
    <p:extLst>
      <p:ext uri="{BB962C8B-B14F-4D97-AF65-F5344CB8AC3E}">
        <p14:creationId xmlns:p14="http://schemas.microsoft.com/office/powerpoint/2010/main" val="743437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56E"/>
        </a:solidFill>
        <a:effectLst/>
      </p:bgPr>
    </p:bg>
    <p:spTree>
      <p:nvGrpSpPr>
        <p:cNvPr id="1" name="">
          <a:extLst>
            <a:ext uri="{FF2B5EF4-FFF2-40B4-BE49-F238E27FC236}">
              <a16:creationId xmlns:a16="http://schemas.microsoft.com/office/drawing/2014/main" id="{A6858EF5-921C-630F-C261-B05EDDE4A19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DED7305-B57E-A806-A082-60A03D60AE95}"/>
              </a:ext>
            </a:extLst>
          </p:cNvPr>
          <p:cNvSpPr/>
          <p:nvPr/>
        </p:nvSpPr>
        <p:spPr>
          <a:xfrm>
            <a:off x="19278600" y="4149493"/>
            <a:ext cx="76200" cy="200093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 name="Rectangle 1">
            <a:extLst>
              <a:ext uri="{FF2B5EF4-FFF2-40B4-BE49-F238E27FC236}">
                <a16:creationId xmlns:a16="http://schemas.microsoft.com/office/drawing/2014/main" id="{690DDAB5-0B0F-D8A4-1637-DE01111AB7D8}"/>
              </a:ext>
            </a:extLst>
          </p:cNvPr>
          <p:cNvSpPr/>
          <p:nvPr/>
        </p:nvSpPr>
        <p:spPr>
          <a:xfrm rot="5400000">
            <a:off x="-2865073" y="-953507"/>
            <a:ext cx="7622013" cy="1524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H"/>
          </a:p>
        </p:txBody>
      </p:sp>
      <p:sp>
        <p:nvSpPr>
          <p:cNvPr id="5" name="TextBox 4">
            <a:extLst>
              <a:ext uri="{FF2B5EF4-FFF2-40B4-BE49-F238E27FC236}">
                <a16:creationId xmlns:a16="http://schemas.microsoft.com/office/drawing/2014/main" id="{D806828C-C11C-4813-32FA-DBFA5F2D43F6}"/>
              </a:ext>
            </a:extLst>
          </p:cNvPr>
          <p:cNvSpPr txBox="1"/>
          <p:nvPr/>
        </p:nvSpPr>
        <p:spPr>
          <a:xfrm>
            <a:off x="1127760" y="2145471"/>
            <a:ext cx="11432013" cy="788229"/>
          </a:xfrm>
          <a:prstGeom prst="rect">
            <a:avLst/>
          </a:prstGeom>
        </p:spPr>
        <p:txBody>
          <a:bodyPr lIns="0" tIns="0" rIns="0" bIns="0" rtlCol="0" anchor="t">
            <a:spAutoFit/>
          </a:bodyPr>
          <a:lstStyle/>
          <a:p>
            <a:pPr>
              <a:lnSpc>
                <a:spcPts val="5059"/>
              </a:lnSpc>
            </a:pPr>
            <a:r>
              <a:rPr lang="en-US" sz="8800" b="1" dirty="0">
                <a:solidFill>
                  <a:srgbClr val="000000"/>
                </a:solidFill>
                <a:latin typeface="Heading Now 31-38 Bold"/>
                <a:ea typeface="Heading Now 31-38 Bold"/>
                <a:cs typeface="Heading Now 31-38 Bold"/>
                <a:sym typeface="Heading Now 31-38 Bold"/>
              </a:rPr>
              <a:t>FOUNDATIONS OF ALGORITHMS</a:t>
            </a:r>
          </a:p>
        </p:txBody>
      </p:sp>
      <p:sp>
        <p:nvSpPr>
          <p:cNvPr id="6" name="TextBox 3">
            <a:extLst>
              <a:ext uri="{FF2B5EF4-FFF2-40B4-BE49-F238E27FC236}">
                <a16:creationId xmlns:a16="http://schemas.microsoft.com/office/drawing/2014/main" id="{D13ADBEB-F9F3-32B8-95F0-E24937122328}"/>
              </a:ext>
            </a:extLst>
          </p:cNvPr>
          <p:cNvSpPr txBox="1"/>
          <p:nvPr/>
        </p:nvSpPr>
        <p:spPr>
          <a:xfrm>
            <a:off x="810787" y="3748564"/>
            <a:ext cx="15800812" cy="2923877"/>
          </a:xfrm>
          <a:prstGeom prst="rect">
            <a:avLst/>
          </a:prstGeom>
        </p:spPr>
        <p:txBody>
          <a:bodyPr wrap="square" lIns="0" tIns="0" rIns="0" bIns="0" rtlCol="0" anchor="t">
            <a:spAutoFit/>
          </a:bodyPr>
          <a:lstStyle/>
          <a:p>
            <a:pPr marL="571500" indent="-571500">
              <a:spcBef>
                <a:spcPts val="600"/>
              </a:spcBef>
              <a:buFont typeface="Arial" panose="020B0604020202020204" pitchFamily="34" charset="0"/>
              <a:buChar char="•"/>
            </a:pPr>
            <a:r>
              <a:rPr lang="en-US" sz="3600" b="1" dirty="0"/>
              <a:t>Machine Foundations (The RAM Model):</a:t>
            </a:r>
            <a:endParaRPr lang="en-PH" sz="3600" dirty="0"/>
          </a:p>
          <a:p>
            <a:pPr marL="1485900" lvl="2" indent="-571500">
              <a:spcBef>
                <a:spcPts val="600"/>
              </a:spcBef>
              <a:buFont typeface="Wingdings" panose="05000000000000000000" pitchFamily="2" charset="2"/>
              <a:buChar char="q"/>
            </a:pPr>
            <a:r>
              <a:rPr lang="en-US" sz="3600" dirty="0"/>
              <a:t>In complexity analysis, we use the Random Access Machine (RAM) model. It assumes that basic operations (adding two numbers, accessing a memory location) take a constant amount of time regardless of where they are in memory.</a:t>
            </a:r>
            <a:endParaRPr lang="en-PH" sz="3600" dirty="0"/>
          </a:p>
        </p:txBody>
      </p:sp>
      <p:sp>
        <p:nvSpPr>
          <p:cNvPr id="7" name="TextBox 3">
            <a:extLst>
              <a:ext uri="{FF2B5EF4-FFF2-40B4-BE49-F238E27FC236}">
                <a16:creationId xmlns:a16="http://schemas.microsoft.com/office/drawing/2014/main" id="{568E2237-4591-6CC7-E081-112D21BA485C}"/>
              </a:ext>
            </a:extLst>
          </p:cNvPr>
          <p:cNvSpPr txBox="1"/>
          <p:nvPr/>
        </p:nvSpPr>
        <p:spPr>
          <a:xfrm>
            <a:off x="1143000" y="2652099"/>
            <a:ext cx="15392400" cy="369332"/>
          </a:xfrm>
          <a:prstGeom prst="rect">
            <a:avLst/>
          </a:prstGeom>
        </p:spPr>
        <p:txBody>
          <a:bodyPr wrap="square" lIns="0" tIns="0" rIns="0" bIns="0" rtlCol="0" anchor="t">
            <a:spAutoFit/>
          </a:bodyPr>
          <a:lstStyle/>
          <a:p>
            <a:pPr>
              <a:spcBef>
                <a:spcPts val="600"/>
              </a:spcBef>
            </a:pPr>
            <a:r>
              <a:rPr lang="en-US" sz="2400" i="1" dirty="0"/>
              <a:t>The mathematical and logical bedrock that makes algorithms possible.</a:t>
            </a:r>
            <a:endParaRPr lang="en-US" sz="4400" i="1" dirty="0">
              <a:solidFill>
                <a:srgbClr val="000000"/>
              </a:solidFill>
              <a:latin typeface="Bahnschrift" panose="020B0502040204020203" pitchFamily="34" charset="0"/>
              <a:ea typeface="Heading Now 31-38 Bold"/>
              <a:cs typeface="Heading Now 31-38 Bold"/>
              <a:sym typeface="Heading Now 31-38 Bold"/>
            </a:endParaRPr>
          </a:p>
        </p:txBody>
      </p:sp>
    </p:spTree>
    <p:extLst>
      <p:ext uri="{BB962C8B-B14F-4D97-AF65-F5344CB8AC3E}">
        <p14:creationId xmlns:p14="http://schemas.microsoft.com/office/powerpoint/2010/main" val="617712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56E"/>
        </a:solidFill>
        <a:effectLst/>
      </p:bgPr>
    </p:bg>
    <p:spTree>
      <p:nvGrpSpPr>
        <p:cNvPr id="1" name="">
          <a:extLst>
            <a:ext uri="{FF2B5EF4-FFF2-40B4-BE49-F238E27FC236}">
              <a16:creationId xmlns:a16="http://schemas.microsoft.com/office/drawing/2014/main" id="{2365E100-ACA1-6A15-AF8B-D9D4694613A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D7E52D2-EC8D-9408-0AA2-9078C457A199}"/>
              </a:ext>
            </a:extLst>
          </p:cNvPr>
          <p:cNvSpPr/>
          <p:nvPr/>
        </p:nvSpPr>
        <p:spPr>
          <a:xfrm>
            <a:off x="9113520" y="800100"/>
            <a:ext cx="8610600" cy="569880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F755D06B-833E-9467-8A22-FDFAD22AA939}"/>
              </a:ext>
            </a:extLst>
          </p:cNvPr>
          <p:cNvSpPr/>
          <p:nvPr/>
        </p:nvSpPr>
        <p:spPr>
          <a:xfrm>
            <a:off x="19278600" y="4149493"/>
            <a:ext cx="76200" cy="200093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TextBox 4">
            <a:extLst>
              <a:ext uri="{FF2B5EF4-FFF2-40B4-BE49-F238E27FC236}">
                <a16:creationId xmlns:a16="http://schemas.microsoft.com/office/drawing/2014/main" id="{3C78ADB4-C9AD-0004-21C4-7FCD7855410D}"/>
              </a:ext>
            </a:extLst>
          </p:cNvPr>
          <p:cNvSpPr txBox="1"/>
          <p:nvPr/>
        </p:nvSpPr>
        <p:spPr>
          <a:xfrm>
            <a:off x="1127760" y="761348"/>
            <a:ext cx="11432013" cy="788229"/>
          </a:xfrm>
          <a:prstGeom prst="rect">
            <a:avLst/>
          </a:prstGeom>
        </p:spPr>
        <p:txBody>
          <a:bodyPr lIns="0" tIns="0" rIns="0" bIns="0" rtlCol="0" anchor="t">
            <a:spAutoFit/>
          </a:bodyPr>
          <a:lstStyle/>
          <a:p>
            <a:pPr>
              <a:lnSpc>
                <a:spcPts val="5059"/>
              </a:lnSpc>
            </a:pPr>
            <a:r>
              <a:rPr lang="en-US" sz="8800" b="1" dirty="0">
                <a:solidFill>
                  <a:srgbClr val="000000"/>
                </a:solidFill>
                <a:latin typeface="Heading Now 31-38 Bold"/>
                <a:ea typeface="Heading Now 31-38 Bold"/>
                <a:cs typeface="Heading Now 31-38 Bold"/>
                <a:sym typeface="Heading Now 31-38 Bold"/>
              </a:rPr>
              <a:t>ANALYSIS OF ALGORITHMS</a:t>
            </a:r>
          </a:p>
        </p:txBody>
      </p:sp>
      <p:sp>
        <p:nvSpPr>
          <p:cNvPr id="6" name="TextBox 3">
            <a:extLst>
              <a:ext uri="{FF2B5EF4-FFF2-40B4-BE49-F238E27FC236}">
                <a16:creationId xmlns:a16="http://schemas.microsoft.com/office/drawing/2014/main" id="{6F302A5D-FA63-78AE-B8EC-712B494B1A4E}"/>
              </a:ext>
            </a:extLst>
          </p:cNvPr>
          <p:cNvSpPr txBox="1"/>
          <p:nvPr/>
        </p:nvSpPr>
        <p:spPr>
          <a:xfrm>
            <a:off x="861124" y="1859994"/>
            <a:ext cx="7865004" cy="7540526"/>
          </a:xfrm>
          <a:prstGeom prst="rect">
            <a:avLst/>
          </a:prstGeom>
        </p:spPr>
        <p:txBody>
          <a:bodyPr wrap="square" lIns="0" tIns="0" rIns="0" bIns="0" rtlCol="0" anchor="t">
            <a:spAutoFit/>
          </a:bodyPr>
          <a:lstStyle/>
          <a:p>
            <a:pPr marL="571500" indent="-571500">
              <a:spcBef>
                <a:spcPts val="600"/>
              </a:spcBef>
              <a:buFont typeface="Arial" panose="020B0604020202020204" pitchFamily="34" charset="0"/>
              <a:buChar char="•"/>
            </a:pPr>
            <a:r>
              <a:rPr lang="en-US" sz="4400" b="1" dirty="0"/>
              <a:t>Computational Foundations:</a:t>
            </a:r>
            <a:endParaRPr lang="en-PH" sz="4400" dirty="0"/>
          </a:p>
          <a:p>
            <a:pPr marL="1036638" lvl="2" indent="-427038">
              <a:spcBef>
                <a:spcPts val="600"/>
              </a:spcBef>
              <a:buFont typeface="Wingdings" panose="05000000000000000000" pitchFamily="2" charset="2"/>
              <a:buChar char="q"/>
            </a:pPr>
            <a:r>
              <a:rPr lang="en-US" sz="3600" b="1" dirty="0"/>
              <a:t>The Church-Turing Thesis: </a:t>
            </a:r>
          </a:p>
          <a:p>
            <a:pPr marL="1249363" lvl="4" indent="-350838">
              <a:spcBef>
                <a:spcPts val="600"/>
              </a:spcBef>
              <a:buFont typeface="Wingdings" panose="05000000000000000000" pitchFamily="2" charset="2"/>
              <a:buChar char="Ø"/>
            </a:pPr>
            <a:r>
              <a:rPr lang="en-US" sz="3000" i="1" dirty="0"/>
              <a:t>Proposed by Alan Turing</a:t>
            </a:r>
          </a:p>
          <a:p>
            <a:pPr marL="1249363" lvl="4" indent="-350838">
              <a:spcBef>
                <a:spcPts val="600"/>
              </a:spcBef>
              <a:buFont typeface="Wingdings" panose="05000000000000000000" pitchFamily="2" charset="2"/>
              <a:buChar char="Ø"/>
            </a:pPr>
            <a:r>
              <a:rPr lang="en-US" sz="3000" dirty="0"/>
              <a:t>The idea that anything </a:t>
            </a:r>
            <a:r>
              <a:rPr lang="en-US" sz="3000" i="1" dirty="0"/>
              <a:t>"computable" </a:t>
            </a:r>
            <a:r>
              <a:rPr lang="en-US" sz="3000" dirty="0"/>
              <a:t>can be solved by an algorithm running on a Turing Machine. This sets the boundary of what computers can and cannot do.</a:t>
            </a:r>
          </a:p>
          <a:p>
            <a:pPr marL="1249363" lvl="4" indent="-350838">
              <a:spcBef>
                <a:spcPts val="600"/>
              </a:spcBef>
              <a:buFont typeface="Wingdings" panose="05000000000000000000" pitchFamily="2" charset="2"/>
              <a:buChar char="Ø"/>
            </a:pPr>
            <a:r>
              <a:rPr lang="en-US" sz="3000" dirty="0"/>
              <a:t>Any effective calculation or computation that can be done by a human (following specific steps) can also be done by a Turing machine. A Turing machine is a simple mathematical model that represents a basic form of a computer. This machine helps explain the logic behind modern computers.</a:t>
            </a:r>
            <a:endParaRPr lang="en-PH" sz="3000" dirty="0"/>
          </a:p>
        </p:txBody>
      </p:sp>
      <p:sp>
        <p:nvSpPr>
          <p:cNvPr id="7" name="TextBox 3">
            <a:extLst>
              <a:ext uri="{FF2B5EF4-FFF2-40B4-BE49-F238E27FC236}">
                <a16:creationId xmlns:a16="http://schemas.microsoft.com/office/drawing/2014/main" id="{297C4F46-3D5B-AAE8-83A5-BAF7ABA25445}"/>
              </a:ext>
            </a:extLst>
          </p:cNvPr>
          <p:cNvSpPr txBox="1"/>
          <p:nvPr/>
        </p:nvSpPr>
        <p:spPr>
          <a:xfrm>
            <a:off x="1143000" y="1267976"/>
            <a:ext cx="15392400" cy="369332"/>
          </a:xfrm>
          <a:prstGeom prst="rect">
            <a:avLst/>
          </a:prstGeom>
        </p:spPr>
        <p:txBody>
          <a:bodyPr wrap="square" lIns="0" tIns="0" rIns="0" bIns="0" rtlCol="0" anchor="t">
            <a:spAutoFit/>
          </a:bodyPr>
          <a:lstStyle/>
          <a:p>
            <a:pPr>
              <a:spcBef>
                <a:spcPts val="600"/>
              </a:spcBef>
            </a:pPr>
            <a:r>
              <a:rPr lang="en-US" sz="2400" i="1" dirty="0"/>
              <a:t>The scientific process of determining an algorithm’s "cost."</a:t>
            </a:r>
            <a:endParaRPr lang="en-US" sz="4400" i="1" dirty="0">
              <a:solidFill>
                <a:srgbClr val="000000"/>
              </a:solidFill>
              <a:latin typeface="Bahnschrift" panose="020B0502040204020203" pitchFamily="34" charset="0"/>
              <a:ea typeface="Heading Now 31-38 Bold"/>
              <a:cs typeface="Heading Now 31-38 Bold"/>
              <a:sym typeface="Heading Now 31-38 Bold"/>
            </a:endParaRPr>
          </a:p>
        </p:txBody>
      </p:sp>
      <p:sp>
        <p:nvSpPr>
          <p:cNvPr id="4" name="Rectangle 3">
            <a:extLst>
              <a:ext uri="{FF2B5EF4-FFF2-40B4-BE49-F238E27FC236}">
                <a16:creationId xmlns:a16="http://schemas.microsoft.com/office/drawing/2014/main" id="{C68F146E-E8A0-664E-13EC-CF0F6E638B0B}"/>
              </a:ext>
            </a:extLst>
          </p:cNvPr>
          <p:cNvSpPr/>
          <p:nvPr/>
        </p:nvSpPr>
        <p:spPr>
          <a:xfrm rot="5400000">
            <a:off x="-2865073" y="8800093"/>
            <a:ext cx="7622013" cy="1524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H"/>
          </a:p>
        </p:txBody>
      </p:sp>
      <p:pic>
        <p:nvPicPr>
          <p:cNvPr id="4098" name="Picture 2" descr="Turing Machine Definition, Computation &amp; Examples Video">
            <a:extLst>
              <a:ext uri="{FF2B5EF4-FFF2-40B4-BE49-F238E27FC236}">
                <a16:creationId xmlns:a16="http://schemas.microsoft.com/office/drawing/2014/main" id="{3A2B9A9C-EC39-46E0-282D-96EA3A8A918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073" t="11910" r="10157" b="12500"/>
          <a:stretch>
            <a:fillRect/>
          </a:stretch>
        </p:blipFill>
        <p:spPr bwMode="auto">
          <a:xfrm>
            <a:off x="9312490" y="1112203"/>
            <a:ext cx="8183030" cy="430775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3">
            <a:extLst>
              <a:ext uri="{FF2B5EF4-FFF2-40B4-BE49-F238E27FC236}">
                <a16:creationId xmlns:a16="http://schemas.microsoft.com/office/drawing/2014/main" id="{BE506059-DA3A-060C-8B2F-1657AC4D1D55}"/>
              </a:ext>
            </a:extLst>
          </p:cNvPr>
          <p:cNvSpPr txBox="1"/>
          <p:nvPr/>
        </p:nvSpPr>
        <p:spPr>
          <a:xfrm>
            <a:off x="9312490" y="5543931"/>
            <a:ext cx="7865004" cy="830997"/>
          </a:xfrm>
          <a:prstGeom prst="rect">
            <a:avLst/>
          </a:prstGeom>
        </p:spPr>
        <p:txBody>
          <a:bodyPr wrap="square" lIns="0" tIns="0" rIns="0" bIns="0" rtlCol="0" anchor="t">
            <a:spAutoFit/>
          </a:bodyPr>
          <a:lstStyle/>
          <a:p>
            <a:pPr>
              <a:spcBef>
                <a:spcPts val="600"/>
              </a:spcBef>
            </a:pPr>
            <a:r>
              <a:rPr lang="en-PH" sz="5400" b="1" dirty="0">
                <a:solidFill>
                  <a:srgbClr val="FFF56E"/>
                </a:solidFill>
                <a:latin typeface="Heading Now 31-38 Bold" panose="020B0604020202020204" charset="0"/>
              </a:rPr>
              <a:t>TURING MACHINE</a:t>
            </a:r>
            <a:endParaRPr lang="en-PH" sz="4400" dirty="0">
              <a:solidFill>
                <a:srgbClr val="FFF56E"/>
              </a:solidFill>
              <a:latin typeface="Heading Now 31-38 Bold" panose="020B0604020202020204" charset="0"/>
            </a:endParaRPr>
          </a:p>
        </p:txBody>
      </p:sp>
      <p:sp>
        <p:nvSpPr>
          <p:cNvPr id="10" name="Rectangle 9">
            <a:extLst>
              <a:ext uri="{FF2B5EF4-FFF2-40B4-BE49-F238E27FC236}">
                <a16:creationId xmlns:a16="http://schemas.microsoft.com/office/drawing/2014/main" id="{9414072D-D15B-530E-D9DE-E5AC06872091}"/>
              </a:ext>
            </a:extLst>
          </p:cNvPr>
          <p:cNvSpPr/>
          <p:nvPr/>
        </p:nvSpPr>
        <p:spPr>
          <a:xfrm>
            <a:off x="12268200" y="5622725"/>
            <a:ext cx="76200" cy="720071"/>
          </a:xfrm>
          <a:prstGeom prst="rect">
            <a:avLst/>
          </a:prstGeom>
          <a:solidFill>
            <a:srgbClr val="FFF56E"/>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H"/>
          </a:p>
        </p:txBody>
      </p:sp>
      <p:sp>
        <p:nvSpPr>
          <p:cNvPr id="12" name="TextBox 11">
            <a:extLst>
              <a:ext uri="{FF2B5EF4-FFF2-40B4-BE49-F238E27FC236}">
                <a16:creationId xmlns:a16="http://schemas.microsoft.com/office/drawing/2014/main" id="{B78ECFC3-43C2-9FA4-55AF-154BB3D44ADF}"/>
              </a:ext>
            </a:extLst>
          </p:cNvPr>
          <p:cNvSpPr txBox="1"/>
          <p:nvPr/>
        </p:nvSpPr>
        <p:spPr>
          <a:xfrm>
            <a:off x="9090660" y="6699085"/>
            <a:ext cx="8625840" cy="3108543"/>
          </a:xfrm>
          <a:prstGeom prst="rect">
            <a:avLst/>
          </a:prstGeom>
          <a:noFill/>
        </p:spPr>
        <p:txBody>
          <a:bodyPr wrap="square">
            <a:spAutoFit/>
          </a:bodyPr>
          <a:lstStyle/>
          <a:p>
            <a:pPr algn="just"/>
            <a:r>
              <a:rPr lang="en-US" sz="2800" dirty="0">
                <a:latin typeface="+mj-lt"/>
              </a:rPr>
              <a:t>a foundational, theoretical model of computation invented by </a:t>
            </a:r>
            <a:r>
              <a:rPr lang="en-US" sz="2800" dirty="0">
                <a:effectLst/>
                <a:latin typeface="+mj-lt"/>
                <a:hlinkClick r:id="rId3">
                  <a:extLst>
                    <a:ext uri="{A12FA001-AC4F-418D-AE19-62706E023703}">
                      <ahyp:hlinkClr xmlns:ahyp="http://schemas.microsoft.com/office/drawing/2018/hyperlinkcolor" val="tx"/>
                    </a:ext>
                  </a:extLst>
                </a:hlinkClick>
              </a:rPr>
              <a:t>Alan Turing</a:t>
            </a:r>
            <a:r>
              <a:rPr lang="en-US" sz="2800" dirty="0">
                <a:latin typeface="+mj-lt"/>
              </a:rPr>
              <a:t> in 1936 that defines the limits of algorithmic, mechanical calculation</a:t>
            </a:r>
            <a:r>
              <a:rPr lang="en-US" sz="2800" b="0" i="0" dirty="0">
                <a:effectLst/>
                <a:latin typeface="+mj-lt"/>
              </a:rPr>
              <a:t>. It consists of an infinite, symbol-bearing tape, a read/write head, and a finite set of rules (states), which can simulate any computer algorithm by reading, writing, and moving along the tape. </a:t>
            </a:r>
            <a:endParaRPr lang="en-PH" sz="2800" dirty="0">
              <a:latin typeface="+mj-lt"/>
            </a:endParaRPr>
          </a:p>
        </p:txBody>
      </p:sp>
      <p:sp>
        <p:nvSpPr>
          <p:cNvPr id="13" name="TextBox 12">
            <a:extLst>
              <a:ext uri="{FF2B5EF4-FFF2-40B4-BE49-F238E27FC236}">
                <a16:creationId xmlns:a16="http://schemas.microsoft.com/office/drawing/2014/main" id="{797D4AAC-187A-EBFC-7A22-DBBD4307BB02}"/>
              </a:ext>
            </a:extLst>
          </p:cNvPr>
          <p:cNvSpPr txBox="1"/>
          <p:nvPr/>
        </p:nvSpPr>
        <p:spPr>
          <a:xfrm>
            <a:off x="12476378" y="5679776"/>
            <a:ext cx="4508178" cy="523220"/>
          </a:xfrm>
          <a:prstGeom prst="rect">
            <a:avLst/>
          </a:prstGeom>
          <a:noFill/>
        </p:spPr>
        <p:txBody>
          <a:bodyPr wrap="square">
            <a:spAutoFit/>
          </a:bodyPr>
          <a:lstStyle/>
          <a:p>
            <a:r>
              <a:rPr lang="en-US" sz="1400" dirty="0">
                <a:solidFill>
                  <a:srgbClr val="FFF56E"/>
                </a:solidFill>
                <a:latin typeface="+mj-lt"/>
              </a:rPr>
              <a:t>Study.com. (n.d.). Turing Machine [Image]. https://study.com/cimages/videopreview/5ckbvtq4mp.jpg</a:t>
            </a:r>
            <a:endParaRPr lang="en-PH" sz="1400" dirty="0">
              <a:solidFill>
                <a:srgbClr val="FFF56E"/>
              </a:solidFill>
              <a:latin typeface="+mj-lt"/>
            </a:endParaRPr>
          </a:p>
        </p:txBody>
      </p:sp>
    </p:spTree>
    <p:extLst>
      <p:ext uri="{BB962C8B-B14F-4D97-AF65-F5344CB8AC3E}">
        <p14:creationId xmlns:p14="http://schemas.microsoft.com/office/powerpoint/2010/main" val="4182596546"/>
      </p:ext>
    </p:extLst>
  </p:cSld>
  <p:clrMapOvr>
    <a:masterClrMapping/>
  </p:clrMapOvr>
  <p:transition spd="slow">
    <p:push dir="d"/>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56E"/>
        </a:solidFill>
        <a:effectLst/>
      </p:bgPr>
    </p:bg>
    <p:spTree>
      <p:nvGrpSpPr>
        <p:cNvPr id="1" name="">
          <a:extLst>
            <a:ext uri="{FF2B5EF4-FFF2-40B4-BE49-F238E27FC236}">
              <a16:creationId xmlns:a16="http://schemas.microsoft.com/office/drawing/2014/main" id="{601104BA-5958-AD92-6A6B-F90365E43F5A}"/>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A20CBF5-49A4-D6C7-5E95-C16106DF0459}"/>
              </a:ext>
            </a:extLst>
          </p:cNvPr>
          <p:cNvSpPr txBox="1"/>
          <p:nvPr/>
        </p:nvSpPr>
        <p:spPr>
          <a:xfrm>
            <a:off x="466344" y="2171700"/>
            <a:ext cx="15246096" cy="763414"/>
          </a:xfrm>
          <a:prstGeom prst="rect">
            <a:avLst/>
          </a:prstGeom>
        </p:spPr>
        <p:txBody>
          <a:bodyPr wrap="square" lIns="0" tIns="0" rIns="0" bIns="0" rtlCol="0" anchor="t">
            <a:spAutoFit/>
          </a:bodyPr>
          <a:lstStyle/>
          <a:p>
            <a:pPr>
              <a:lnSpc>
                <a:spcPts val="5059"/>
              </a:lnSpc>
            </a:pPr>
            <a:r>
              <a:rPr lang="en-US" sz="8800" b="1" dirty="0">
                <a:solidFill>
                  <a:srgbClr val="000000"/>
                </a:solidFill>
                <a:latin typeface="Heading Now 31-38 Bold"/>
                <a:ea typeface="Heading Now 31-38 Bold"/>
                <a:cs typeface="Heading Now 31-38 Bold"/>
                <a:sym typeface="Heading Now 31-38 Bold"/>
              </a:rPr>
              <a:t>WHY IS ANALYSIS OF ALGORITHM IMPORTANT?</a:t>
            </a:r>
          </a:p>
        </p:txBody>
      </p:sp>
      <p:sp>
        <p:nvSpPr>
          <p:cNvPr id="11" name="TextBox 3">
            <a:extLst>
              <a:ext uri="{FF2B5EF4-FFF2-40B4-BE49-F238E27FC236}">
                <a16:creationId xmlns:a16="http://schemas.microsoft.com/office/drawing/2014/main" id="{B193C8B2-EEA0-1AD2-3A3F-ABBB80CF908A}"/>
              </a:ext>
            </a:extLst>
          </p:cNvPr>
          <p:cNvSpPr txBox="1"/>
          <p:nvPr/>
        </p:nvSpPr>
        <p:spPr>
          <a:xfrm>
            <a:off x="741045" y="2847320"/>
            <a:ext cx="17104995" cy="2215991"/>
          </a:xfrm>
          <a:prstGeom prst="rect">
            <a:avLst/>
          </a:prstGeom>
        </p:spPr>
        <p:txBody>
          <a:bodyPr wrap="square" lIns="0" tIns="0" rIns="0" bIns="0" rtlCol="0" anchor="t">
            <a:spAutoFit/>
          </a:bodyPr>
          <a:lstStyle/>
          <a:p>
            <a:pPr>
              <a:spcBef>
                <a:spcPts val="600"/>
              </a:spcBef>
            </a:pPr>
            <a:r>
              <a:rPr lang="en-US" sz="3600" dirty="0"/>
              <a:t>Algorithm analysis is an important part of computational complexity theory, which provides theoretical estimation for the required resources of an algorithm to solve a specific computational problem. Analysis of algorithms is the determination of the amount of time and space resources required to execute it.</a:t>
            </a:r>
            <a:endParaRPr lang="en-PH" sz="2400" dirty="0"/>
          </a:p>
        </p:txBody>
      </p:sp>
      <p:sp>
        <p:nvSpPr>
          <p:cNvPr id="14" name="TextBox 3">
            <a:extLst>
              <a:ext uri="{FF2B5EF4-FFF2-40B4-BE49-F238E27FC236}">
                <a16:creationId xmlns:a16="http://schemas.microsoft.com/office/drawing/2014/main" id="{25C9FA74-AD3B-3D46-2B67-A9FD64126290}"/>
              </a:ext>
            </a:extLst>
          </p:cNvPr>
          <p:cNvSpPr txBox="1"/>
          <p:nvPr/>
        </p:nvSpPr>
        <p:spPr>
          <a:xfrm>
            <a:off x="1143000" y="5219700"/>
            <a:ext cx="16245840" cy="2308324"/>
          </a:xfrm>
          <a:prstGeom prst="rect">
            <a:avLst/>
          </a:prstGeom>
        </p:spPr>
        <p:txBody>
          <a:bodyPr wrap="square" lIns="0" tIns="0" rIns="0" bIns="0" rtlCol="0" anchor="t">
            <a:spAutoFit/>
          </a:bodyPr>
          <a:lstStyle/>
          <a:p>
            <a:pPr marL="457200" indent="-457200">
              <a:spcBef>
                <a:spcPts val="600"/>
              </a:spcBef>
              <a:buFont typeface="Wingdings" panose="05000000000000000000" pitchFamily="2" charset="2"/>
              <a:buChar char="Ø"/>
            </a:pPr>
            <a:r>
              <a:rPr lang="en-US" sz="2800" dirty="0"/>
              <a:t>To predict the behavior of an algorithm for large inputs (Scalable Software).</a:t>
            </a:r>
          </a:p>
          <a:p>
            <a:pPr marL="457200" indent="-457200">
              <a:spcBef>
                <a:spcPts val="600"/>
              </a:spcBef>
              <a:buFont typeface="Wingdings" panose="05000000000000000000" pitchFamily="2" charset="2"/>
              <a:buChar char="Ø"/>
            </a:pPr>
            <a:r>
              <a:rPr lang="en-US" sz="2800" dirty="0"/>
              <a:t>It is much more convenient to have simple measures for the efficiency of an algorithm than to implement the algorithm and test the efficiency every time a certain parameter in the underlying computer system changes.</a:t>
            </a:r>
          </a:p>
          <a:p>
            <a:pPr marL="457200" indent="-457200">
              <a:spcBef>
                <a:spcPts val="600"/>
              </a:spcBef>
              <a:buFont typeface="Wingdings" panose="05000000000000000000" pitchFamily="2" charset="2"/>
              <a:buChar char="Ø"/>
            </a:pPr>
            <a:r>
              <a:rPr lang="en-US" sz="2800" dirty="0"/>
              <a:t>More importantly, by analyzing different algorithms, we can compare them to determine the best one for our purpose.</a:t>
            </a:r>
            <a:endParaRPr lang="en-PH" dirty="0"/>
          </a:p>
        </p:txBody>
      </p:sp>
    </p:spTree>
    <p:extLst>
      <p:ext uri="{BB962C8B-B14F-4D97-AF65-F5344CB8AC3E}">
        <p14:creationId xmlns:p14="http://schemas.microsoft.com/office/powerpoint/2010/main" val="3185792588"/>
      </p:ext>
    </p:extLst>
  </p:cSld>
  <p:clrMapOvr>
    <a:masterClrMapping/>
  </p:clrMapOvr>
  <p:transition spd="slow">
    <p:push dir="d"/>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56E"/>
        </a:solidFill>
        <a:effectLst/>
      </p:bgPr>
    </p:bg>
    <p:spTree>
      <p:nvGrpSpPr>
        <p:cNvPr id="1" name="">
          <a:extLst>
            <a:ext uri="{FF2B5EF4-FFF2-40B4-BE49-F238E27FC236}">
              <a16:creationId xmlns:a16="http://schemas.microsoft.com/office/drawing/2014/main" id="{65D862D1-FF64-0B28-0828-027D6C3B9E32}"/>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B791D85-732C-B3E6-6CBC-0F97DC54CE89}"/>
              </a:ext>
            </a:extLst>
          </p:cNvPr>
          <p:cNvSpPr txBox="1"/>
          <p:nvPr/>
        </p:nvSpPr>
        <p:spPr>
          <a:xfrm>
            <a:off x="-1905000" y="533400"/>
            <a:ext cx="15246096" cy="763414"/>
          </a:xfrm>
          <a:prstGeom prst="rect">
            <a:avLst/>
          </a:prstGeom>
        </p:spPr>
        <p:txBody>
          <a:bodyPr wrap="square" lIns="0" tIns="0" rIns="0" bIns="0" rtlCol="0" anchor="t">
            <a:spAutoFit/>
          </a:bodyPr>
          <a:lstStyle/>
          <a:p>
            <a:pPr>
              <a:lnSpc>
                <a:spcPts val="5059"/>
              </a:lnSpc>
            </a:pPr>
            <a:r>
              <a:rPr lang="en-US" sz="8800" b="1" dirty="0">
                <a:solidFill>
                  <a:srgbClr val="000000"/>
                </a:solidFill>
                <a:latin typeface="Heading Now 31-38 Bold"/>
                <a:ea typeface="Heading Now 31-38 Bold"/>
                <a:cs typeface="Heading Now 31-38 Bold"/>
                <a:sym typeface="Heading Now 31-38 Bold"/>
              </a:rPr>
              <a:t>WHY IS ANALYSIS OF ALGORITHM IMPORTANT?</a:t>
            </a:r>
          </a:p>
        </p:txBody>
      </p:sp>
      <p:sp>
        <p:nvSpPr>
          <p:cNvPr id="2" name="Rectangle 1">
            <a:extLst>
              <a:ext uri="{FF2B5EF4-FFF2-40B4-BE49-F238E27FC236}">
                <a16:creationId xmlns:a16="http://schemas.microsoft.com/office/drawing/2014/main" id="{D337B6C5-3DF5-A547-632B-0A198F659AD6}"/>
              </a:ext>
            </a:extLst>
          </p:cNvPr>
          <p:cNvSpPr/>
          <p:nvPr/>
        </p:nvSpPr>
        <p:spPr>
          <a:xfrm>
            <a:off x="-20956" y="38100"/>
            <a:ext cx="173355" cy="2858914"/>
          </a:xfrm>
          <a:prstGeom prst="rect">
            <a:avLst/>
          </a:prstGeom>
          <a:solidFill>
            <a:srgbClr val="FFF56E"/>
          </a:solidFill>
          <a:ln>
            <a:solidFill>
              <a:srgbClr val="FFF5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FF0201EF-0247-A175-4E2F-3F5447F9B57D}"/>
              </a:ext>
            </a:extLst>
          </p:cNvPr>
          <p:cNvSpPr/>
          <p:nvPr/>
        </p:nvSpPr>
        <p:spPr>
          <a:xfrm>
            <a:off x="7239000" y="76200"/>
            <a:ext cx="4191000" cy="1638300"/>
          </a:xfrm>
          <a:prstGeom prst="rect">
            <a:avLst/>
          </a:prstGeom>
          <a:solidFill>
            <a:srgbClr val="FFF56E"/>
          </a:solidFill>
          <a:ln>
            <a:solidFill>
              <a:srgbClr val="FFF5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Rectangle 3">
            <a:extLst>
              <a:ext uri="{FF2B5EF4-FFF2-40B4-BE49-F238E27FC236}">
                <a16:creationId xmlns:a16="http://schemas.microsoft.com/office/drawing/2014/main" id="{F0621B3B-B03E-B42F-FB57-959317B14E04}"/>
              </a:ext>
            </a:extLst>
          </p:cNvPr>
          <p:cNvSpPr/>
          <p:nvPr/>
        </p:nvSpPr>
        <p:spPr>
          <a:xfrm>
            <a:off x="304800" y="1104900"/>
            <a:ext cx="6858000" cy="762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TextBox 3">
            <a:extLst>
              <a:ext uri="{FF2B5EF4-FFF2-40B4-BE49-F238E27FC236}">
                <a16:creationId xmlns:a16="http://schemas.microsoft.com/office/drawing/2014/main" id="{2A5BAD69-93AE-A85D-ADD2-5ED6EEDE946E}"/>
              </a:ext>
            </a:extLst>
          </p:cNvPr>
          <p:cNvSpPr txBox="1"/>
          <p:nvPr/>
        </p:nvSpPr>
        <p:spPr>
          <a:xfrm>
            <a:off x="304800" y="1181100"/>
            <a:ext cx="11450955" cy="307777"/>
          </a:xfrm>
          <a:prstGeom prst="rect">
            <a:avLst/>
          </a:prstGeom>
        </p:spPr>
        <p:txBody>
          <a:bodyPr wrap="square" lIns="0" tIns="0" rIns="0" bIns="0" rtlCol="0" anchor="t">
            <a:spAutoFit/>
          </a:bodyPr>
          <a:lstStyle/>
          <a:p>
            <a:pPr>
              <a:spcBef>
                <a:spcPts val="600"/>
              </a:spcBef>
            </a:pPr>
            <a:r>
              <a:rPr lang="en-US" sz="2000" dirty="0"/>
              <a:t>The scientific process of determining an algorithm’s "cost."</a:t>
            </a:r>
            <a:endParaRPr lang="en-PH" sz="1400" dirty="0"/>
          </a:p>
        </p:txBody>
      </p:sp>
      <p:sp>
        <p:nvSpPr>
          <p:cNvPr id="7" name="TextBox 3">
            <a:extLst>
              <a:ext uri="{FF2B5EF4-FFF2-40B4-BE49-F238E27FC236}">
                <a16:creationId xmlns:a16="http://schemas.microsoft.com/office/drawing/2014/main" id="{B5245BE7-73F8-02E0-2D54-1A162E2428CD}"/>
              </a:ext>
            </a:extLst>
          </p:cNvPr>
          <p:cNvSpPr txBox="1"/>
          <p:nvPr/>
        </p:nvSpPr>
        <p:spPr>
          <a:xfrm>
            <a:off x="777240" y="2889394"/>
            <a:ext cx="17068800" cy="677108"/>
          </a:xfrm>
          <a:prstGeom prst="rect">
            <a:avLst/>
          </a:prstGeom>
        </p:spPr>
        <p:txBody>
          <a:bodyPr wrap="square" lIns="0" tIns="0" rIns="0" bIns="0" rtlCol="0" anchor="t">
            <a:spAutoFit/>
          </a:bodyPr>
          <a:lstStyle/>
          <a:p>
            <a:pPr>
              <a:spcBef>
                <a:spcPts val="600"/>
              </a:spcBef>
            </a:pPr>
            <a:r>
              <a:rPr lang="en-PH" sz="4400" b="1" i="1" dirty="0"/>
              <a:t>Asymptotic Analysis of Algorithms</a:t>
            </a:r>
            <a:endParaRPr lang="en-US" sz="3600" b="1" i="1" dirty="0"/>
          </a:p>
        </p:txBody>
      </p:sp>
      <mc:AlternateContent xmlns:mc="http://schemas.openxmlformats.org/markup-compatibility/2006" xmlns:a14="http://schemas.microsoft.com/office/drawing/2010/main">
        <mc:Choice Requires="a14">
          <p:sp>
            <p:nvSpPr>
              <p:cNvPr id="9" name="TextBox 3">
                <a:extLst>
                  <a:ext uri="{FF2B5EF4-FFF2-40B4-BE49-F238E27FC236}">
                    <a16:creationId xmlns:a16="http://schemas.microsoft.com/office/drawing/2014/main" id="{AE607F35-5892-0CE6-62D1-39BEDEA7583C}"/>
                  </a:ext>
                </a:extLst>
              </p:cNvPr>
              <p:cNvSpPr txBox="1"/>
              <p:nvPr/>
            </p:nvSpPr>
            <p:spPr>
              <a:xfrm>
                <a:off x="777240" y="3580909"/>
                <a:ext cx="17068800" cy="984885"/>
              </a:xfrm>
              <a:prstGeom prst="rect">
                <a:avLst/>
              </a:prstGeom>
            </p:spPr>
            <p:txBody>
              <a:bodyPr wrap="square" lIns="0" tIns="0" rIns="0" bIns="0" rtlCol="0" anchor="t">
                <a:spAutoFit/>
              </a:bodyPr>
              <a:lstStyle/>
              <a:p>
                <a:pPr>
                  <a:spcBef>
                    <a:spcPts val="600"/>
                  </a:spcBef>
                </a:pPr>
                <a:r>
                  <a:rPr lang="en-US" sz="3200" dirty="0"/>
                  <a:t>This refers to the </a:t>
                </a:r>
                <a:r>
                  <a:rPr lang="en-US" sz="3200" b="1" dirty="0"/>
                  <a:t>mathematical boundaries of an algorithm's performance as the input size </a:t>
                </a:r>
                <a14:m>
                  <m:oMath xmlns:m="http://schemas.openxmlformats.org/officeDocument/2006/math">
                    <m:r>
                      <a:rPr lang="en-US" sz="3200" b="1" i="1" dirty="0" smtClean="0">
                        <a:latin typeface="Cambria Math" panose="02040503050406030204" pitchFamily="18" charset="0"/>
                      </a:rPr>
                      <m:t>(</m:t>
                    </m:r>
                    <m:r>
                      <a:rPr lang="en-US" sz="3200" b="1" i="1" dirty="0" smtClean="0">
                        <a:latin typeface="Cambria Math" panose="02040503050406030204" pitchFamily="18" charset="0"/>
                      </a:rPr>
                      <m:t>𝒏</m:t>
                    </m:r>
                    <m:r>
                      <a:rPr lang="en-US" sz="3200" b="1" i="1" dirty="0" smtClean="0">
                        <a:latin typeface="Cambria Math" panose="02040503050406030204" pitchFamily="18" charset="0"/>
                      </a:rPr>
                      <m:t>) </m:t>
                    </m:r>
                  </m:oMath>
                </a14:m>
                <a:r>
                  <a:rPr lang="en-US" sz="3200" b="1" dirty="0"/>
                  <a:t>approaches infinity. </a:t>
                </a:r>
                <a:endParaRPr lang="en-US" sz="2400" dirty="0"/>
              </a:p>
            </p:txBody>
          </p:sp>
        </mc:Choice>
        <mc:Fallback xmlns="">
          <p:sp>
            <p:nvSpPr>
              <p:cNvPr id="9" name="TextBox 3">
                <a:extLst>
                  <a:ext uri="{FF2B5EF4-FFF2-40B4-BE49-F238E27FC236}">
                    <a16:creationId xmlns:a16="http://schemas.microsoft.com/office/drawing/2014/main" id="{AE607F35-5892-0CE6-62D1-39BEDEA7583C}"/>
                  </a:ext>
                </a:extLst>
              </p:cNvPr>
              <p:cNvSpPr txBox="1">
                <a:spLocks noRot="1" noChangeAspect="1" noMove="1" noResize="1" noEditPoints="1" noAdjustHandles="1" noChangeArrowheads="1" noChangeShapeType="1" noTextEdit="1"/>
              </p:cNvSpPr>
              <p:nvPr/>
            </p:nvSpPr>
            <p:spPr>
              <a:xfrm>
                <a:off x="777240" y="3580909"/>
                <a:ext cx="17068800" cy="984885"/>
              </a:xfrm>
              <a:prstGeom prst="rect">
                <a:avLst/>
              </a:prstGeom>
              <a:blipFill>
                <a:blip r:embed="rId3"/>
                <a:stretch>
                  <a:fillRect l="-1464" t="-12346" b="-24691"/>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1" name="TextBox 3">
                <a:extLst>
                  <a:ext uri="{FF2B5EF4-FFF2-40B4-BE49-F238E27FC236}">
                    <a16:creationId xmlns:a16="http://schemas.microsoft.com/office/drawing/2014/main" id="{668BBF33-2F6F-5B62-4366-F52DC7BE9328}"/>
                  </a:ext>
                </a:extLst>
              </p:cNvPr>
              <p:cNvSpPr txBox="1"/>
              <p:nvPr/>
            </p:nvSpPr>
            <p:spPr>
              <a:xfrm>
                <a:off x="1295400" y="4641994"/>
                <a:ext cx="16535400" cy="2739211"/>
              </a:xfrm>
              <a:prstGeom prst="rect">
                <a:avLst/>
              </a:prstGeom>
            </p:spPr>
            <p:txBody>
              <a:bodyPr wrap="square" lIns="0" tIns="0" rIns="0" bIns="0" rtlCol="0" anchor="t">
                <a:spAutoFit/>
              </a:bodyPr>
              <a:lstStyle/>
              <a:p>
                <a:pPr>
                  <a:spcBef>
                    <a:spcPts val="600"/>
                  </a:spcBef>
                </a:pPr>
                <a:r>
                  <a:rPr lang="en-US" sz="2800" b="1" i="1" dirty="0"/>
                  <a:t>Big O Notation </a:t>
                </a:r>
                <a14:m>
                  <m:oMath xmlns:m="http://schemas.openxmlformats.org/officeDocument/2006/math">
                    <m:d>
                      <m:dPr>
                        <m:ctrlPr>
                          <a:rPr lang="en-US" sz="2800" b="1" i="1" dirty="0" smtClean="0">
                            <a:latin typeface="Cambria Math" panose="02040503050406030204" pitchFamily="18" charset="0"/>
                            <a:ea typeface="Cambria Math" panose="02040503050406030204" pitchFamily="18" charset="0"/>
                          </a:rPr>
                        </m:ctrlPr>
                      </m:dPr>
                      <m:e>
                        <m:r>
                          <a:rPr lang="en-PH" sz="2800" b="1" i="1" dirty="0" smtClean="0">
                            <a:latin typeface="Cambria Math" panose="02040503050406030204" pitchFamily="18" charset="0"/>
                            <a:ea typeface="Cambria Math" panose="02040503050406030204" pitchFamily="18" charset="0"/>
                          </a:rPr>
                          <m:t>𝑶</m:t>
                        </m:r>
                      </m:e>
                    </m:d>
                  </m:oMath>
                </a14:m>
                <a:r>
                  <a:rPr lang="en-US" sz="2800" b="1" i="1" dirty="0"/>
                  <a:t>: </a:t>
                </a:r>
                <a:r>
                  <a:rPr lang="en-US" sz="2800" dirty="0"/>
                  <a:t>Represents the Upper Bound. It describes the absolute maximum amount of time or space an algorithm will ever need. It’s the </a:t>
                </a:r>
                <a:r>
                  <a:rPr lang="en-US" sz="2800" i="1" u="sng" dirty="0"/>
                  <a:t>"worst-case scenario.“</a:t>
                </a:r>
              </a:p>
              <a:p>
                <a:pPr>
                  <a:spcBef>
                    <a:spcPts val="600"/>
                  </a:spcBef>
                </a:pPr>
                <a:r>
                  <a:rPr lang="en-US" sz="2800" b="1" i="1" dirty="0"/>
                  <a:t>Big Omega Notation </a:t>
                </a:r>
                <a14:m>
                  <m:oMath xmlns:m="http://schemas.openxmlformats.org/officeDocument/2006/math">
                    <m:r>
                      <a:rPr lang="en-PH" sz="2800" b="1" i="1" smtClean="0">
                        <a:latin typeface="Cambria Math" panose="02040503050406030204" pitchFamily="18" charset="0"/>
                        <a:ea typeface="Cambria Math" panose="02040503050406030204" pitchFamily="18" charset="0"/>
                      </a:rPr>
                      <m:t>(</m:t>
                    </m:r>
                    <m:r>
                      <a:rPr lang="el-GR" sz="2800" b="1" i="1" smtClean="0">
                        <a:latin typeface="Cambria Math" panose="02040503050406030204" pitchFamily="18" charset="0"/>
                        <a:ea typeface="Cambria Math" panose="02040503050406030204" pitchFamily="18" charset="0"/>
                      </a:rPr>
                      <m:t>𝜴</m:t>
                    </m:r>
                    <m:r>
                      <a:rPr lang="en-PH" sz="2800" b="1" i="1">
                        <a:latin typeface="Cambria Math" panose="02040503050406030204" pitchFamily="18" charset="0"/>
                        <a:ea typeface="Cambria Math" panose="02040503050406030204" pitchFamily="18" charset="0"/>
                      </a:rPr>
                      <m:t>)</m:t>
                    </m:r>
                  </m:oMath>
                </a14:m>
                <a:r>
                  <a:rPr lang="en-US" sz="2800" b="1" i="1" dirty="0"/>
                  <a:t>: </a:t>
                </a:r>
                <a:r>
                  <a:rPr lang="en-US" sz="2800" dirty="0"/>
                  <a:t>Represents the Lower Bound. It describes the absolute minimum amount of time or space needed. It’s the </a:t>
                </a:r>
                <a:r>
                  <a:rPr lang="en-US" sz="2800" i="1" u="sng" dirty="0"/>
                  <a:t>"best-case scenario.“</a:t>
                </a:r>
              </a:p>
              <a:p>
                <a:pPr>
                  <a:spcBef>
                    <a:spcPts val="600"/>
                  </a:spcBef>
                </a:pPr>
                <a:r>
                  <a:rPr lang="en-US" sz="2800" b="1" i="1" dirty="0"/>
                  <a:t>Big Theta Notation </a:t>
                </a:r>
                <a14:m>
                  <m:oMath xmlns:m="http://schemas.openxmlformats.org/officeDocument/2006/math">
                    <m:r>
                      <a:rPr lang="en-PH" sz="2800" b="1" i="1" smtClean="0">
                        <a:latin typeface="Cambria Math" panose="02040503050406030204" pitchFamily="18" charset="0"/>
                      </a:rPr>
                      <m:t>(</m:t>
                    </m:r>
                    <m:r>
                      <a:rPr lang="el-GR" sz="2800" b="1" i="1" smtClean="0">
                        <a:latin typeface="Cambria Math" panose="02040503050406030204" pitchFamily="18" charset="0"/>
                        <a:ea typeface="Cambria Math" panose="02040503050406030204" pitchFamily="18" charset="0"/>
                      </a:rPr>
                      <m:t>𝜣</m:t>
                    </m:r>
                    <m:r>
                      <a:rPr lang="en-PH" sz="2800" b="1" i="1" smtClean="0">
                        <a:latin typeface="Cambria Math" panose="02040503050406030204" pitchFamily="18" charset="0"/>
                      </a:rPr>
                      <m:t>)</m:t>
                    </m:r>
                  </m:oMath>
                </a14:m>
                <a:r>
                  <a:rPr lang="en-US" sz="2800" b="1" i="1" dirty="0"/>
                  <a:t>: </a:t>
                </a:r>
                <a:r>
                  <a:rPr lang="en-US" sz="2800" dirty="0"/>
                  <a:t>Represents the Tight Bound. It is used when the best and worst cases are the same, or to describe the </a:t>
                </a:r>
                <a:r>
                  <a:rPr lang="en-US" sz="2800" i="1" u="sng" dirty="0"/>
                  <a:t>average behavior of an algorithm</a:t>
                </a:r>
                <a:r>
                  <a:rPr lang="en-US" sz="2800" dirty="0"/>
                  <a:t>.</a:t>
                </a:r>
              </a:p>
            </p:txBody>
          </p:sp>
        </mc:Choice>
        <mc:Fallback xmlns="">
          <p:sp>
            <p:nvSpPr>
              <p:cNvPr id="11" name="TextBox 3">
                <a:extLst>
                  <a:ext uri="{FF2B5EF4-FFF2-40B4-BE49-F238E27FC236}">
                    <a16:creationId xmlns:a16="http://schemas.microsoft.com/office/drawing/2014/main" id="{668BBF33-2F6F-5B62-4366-F52DC7BE9328}"/>
                  </a:ext>
                </a:extLst>
              </p:cNvPr>
              <p:cNvSpPr txBox="1">
                <a:spLocks noRot="1" noChangeAspect="1" noMove="1" noResize="1" noEditPoints="1" noAdjustHandles="1" noChangeArrowheads="1" noChangeShapeType="1" noTextEdit="1"/>
              </p:cNvSpPr>
              <p:nvPr/>
            </p:nvSpPr>
            <p:spPr>
              <a:xfrm>
                <a:off x="1295400" y="4641994"/>
                <a:ext cx="16535400" cy="2739211"/>
              </a:xfrm>
              <a:prstGeom prst="rect">
                <a:avLst/>
              </a:prstGeom>
              <a:blipFill>
                <a:blip r:embed="rId4"/>
                <a:stretch>
                  <a:fillRect l="-1327" t="-3778" r="-1438" b="-7111"/>
                </a:stretch>
              </a:blipFill>
            </p:spPr>
            <p:txBody>
              <a:bodyPr/>
              <a:lstStyle/>
              <a:p>
                <a:r>
                  <a:rPr lang="en-PH">
                    <a:noFill/>
                  </a:rPr>
                  <a:t> </a:t>
                </a:r>
              </a:p>
            </p:txBody>
          </p:sp>
        </mc:Fallback>
      </mc:AlternateContent>
    </p:spTree>
    <p:extLst>
      <p:ext uri="{BB962C8B-B14F-4D97-AF65-F5344CB8AC3E}">
        <p14:creationId xmlns:p14="http://schemas.microsoft.com/office/powerpoint/2010/main" val="14709336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circle(in)">
                                      <p:cBhvr>
                                        <p:cTn id="15" dur="10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p:bldP spid="7" grpId="0"/>
      <p:bldP spid="9" grpId="0"/>
      <p:bldP spid="11"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56E"/>
        </a:solidFill>
        <a:effectLst/>
      </p:bgPr>
    </p:bg>
    <p:spTree>
      <p:nvGrpSpPr>
        <p:cNvPr id="1" name="">
          <a:extLst>
            <a:ext uri="{FF2B5EF4-FFF2-40B4-BE49-F238E27FC236}">
              <a16:creationId xmlns:a16="http://schemas.microsoft.com/office/drawing/2014/main" id="{58DD1E9B-6DCC-2EE4-0AAD-A3283385AA85}"/>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6CD569D-1E83-EE53-43B6-AF92B89680A6}"/>
              </a:ext>
            </a:extLst>
          </p:cNvPr>
          <p:cNvSpPr txBox="1"/>
          <p:nvPr/>
        </p:nvSpPr>
        <p:spPr>
          <a:xfrm>
            <a:off x="-1905000" y="533400"/>
            <a:ext cx="15246096" cy="763414"/>
          </a:xfrm>
          <a:prstGeom prst="rect">
            <a:avLst/>
          </a:prstGeom>
        </p:spPr>
        <p:txBody>
          <a:bodyPr wrap="square" lIns="0" tIns="0" rIns="0" bIns="0" rtlCol="0" anchor="t">
            <a:spAutoFit/>
          </a:bodyPr>
          <a:lstStyle/>
          <a:p>
            <a:pPr>
              <a:lnSpc>
                <a:spcPts val="5059"/>
              </a:lnSpc>
            </a:pPr>
            <a:r>
              <a:rPr lang="en-US" sz="8800" b="1" dirty="0">
                <a:solidFill>
                  <a:srgbClr val="000000"/>
                </a:solidFill>
                <a:latin typeface="Heading Now 31-38 Bold"/>
                <a:ea typeface="Heading Now 31-38 Bold"/>
                <a:cs typeface="Heading Now 31-38 Bold"/>
                <a:sym typeface="Heading Now 31-38 Bold"/>
              </a:rPr>
              <a:t>WHY IS ANALYSIS OF ALGORITHM IMPORTANT?</a:t>
            </a:r>
          </a:p>
        </p:txBody>
      </p:sp>
      <p:sp>
        <p:nvSpPr>
          <p:cNvPr id="2" name="Rectangle 1">
            <a:extLst>
              <a:ext uri="{FF2B5EF4-FFF2-40B4-BE49-F238E27FC236}">
                <a16:creationId xmlns:a16="http://schemas.microsoft.com/office/drawing/2014/main" id="{9919BA10-4613-36D0-FCD7-63D69AA6CCF7}"/>
              </a:ext>
            </a:extLst>
          </p:cNvPr>
          <p:cNvSpPr/>
          <p:nvPr/>
        </p:nvSpPr>
        <p:spPr>
          <a:xfrm>
            <a:off x="-20956" y="38100"/>
            <a:ext cx="173355" cy="2858914"/>
          </a:xfrm>
          <a:prstGeom prst="rect">
            <a:avLst/>
          </a:prstGeom>
          <a:solidFill>
            <a:srgbClr val="FFF56E"/>
          </a:solidFill>
          <a:ln>
            <a:solidFill>
              <a:srgbClr val="FFF5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0928EFB7-A2E9-D39A-3052-7ECAAB90067B}"/>
              </a:ext>
            </a:extLst>
          </p:cNvPr>
          <p:cNvSpPr/>
          <p:nvPr/>
        </p:nvSpPr>
        <p:spPr>
          <a:xfrm>
            <a:off x="7239000" y="76200"/>
            <a:ext cx="4191000" cy="1638300"/>
          </a:xfrm>
          <a:prstGeom prst="rect">
            <a:avLst/>
          </a:prstGeom>
          <a:solidFill>
            <a:srgbClr val="FFF56E"/>
          </a:solidFill>
          <a:ln>
            <a:solidFill>
              <a:srgbClr val="FFF5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Rectangle 3">
            <a:extLst>
              <a:ext uri="{FF2B5EF4-FFF2-40B4-BE49-F238E27FC236}">
                <a16:creationId xmlns:a16="http://schemas.microsoft.com/office/drawing/2014/main" id="{02D303C1-B56D-663F-EC7B-225E40582ADE}"/>
              </a:ext>
            </a:extLst>
          </p:cNvPr>
          <p:cNvSpPr/>
          <p:nvPr/>
        </p:nvSpPr>
        <p:spPr>
          <a:xfrm>
            <a:off x="304800" y="1104900"/>
            <a:ext cx="6858000" cy="762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TextBox 3">
            <a:extLst>
              <a:ext uri="{FF2B5EF4-FFF2-40B4-BE49-F238E27FC236}">
                <a16:creationId xmlns:a16="http://schemas.microsoft.com/office/drawing/2014/main" id="{B169E306-E823-C6FB-6F3B-875B8DB7E969}"/>
              </a:ext>
            </a:extLst>
          </p:cNvPr>
          <p:cNvSpPr txBox="1"/>
          <p:nvPr/>
        </p:nvSpPr>
        <p:spPr>
          <a:xfrm>
            <a:off x="304800" y="1181100"/>
            <a:ext cx="11450955" cy="307777"/>
          </a:xfrm>
          <a:prstGeom prst="rect">
            <a:avLst/>
          </a:prstGeom>
        </p:spPr>
        <p:txBody>
          <a:bodyPr wrap="square" lIns="0" tIns="0" rIns="0" bIns="0" rtlCol="0" anchor="t">
            <a:spAutoFit/>
          </a:bodyPr>
          <a:lstStyle/>
          <a:p>
            <a:pPr>
              <a:spcBef>
                <a:spcPts val="600"/>
              </a:spcBef>
            </a:pPr>
            <a:r>
              <a:rPr lang="en-US" sz="2000" dirty="0"/>
              <a:t>The scientific process of determining an algorithm’s "cost."</a:t>
            </a:r>
            <a:endParaRPr lang="en-PH" sz="1400" dirty="0"/>
          </a:p>
        </p:txBody>
      </p:sp>
      <p:sp>
        <p:nvSpPr>
          <p:cNvPr id="6" name="TextBox 3">
            <a:extLst>
              <a:ext uri="{FF2B5EF4-FFF2-40B4-BE49-F238E27FC236}">
                <a16:creationId xmlns:a16="http://schemas.microsoft.com/office/drawing/2014/main" id="{959F06DD-725F-5900-2B1A-8C0A81ABC615}"/>
              </a:ext>
            </a:extLst>
          </p:cNvPr>
          <p:cNvSpPr txBox="1"/>
          <p:nvPr/>
        </p:nvSpPr>
        <p:spPr>
          <a:xfrm>
            <a:off x="609600" y="1760220"/>
            <a:ext cx="17068800" cy="2693045"/>
          </a:xfrm>
          <a:prstGeom prst="rect">
            <a:avLst/>
          </a:prstGeom>
        </p:spPr>
        <p:txBody>
          <a:bodyPr wrap="square" lIns="0" tIns="0" rIns="0" bIns="0" rtlCol="0" anchor="t">
            <a:spAutoFit/>
          </a:bodyPr>
          <a:lstStyle/>
          <a:p>
            <a:pPr>
              <a:spcBef>
                <a:spcPts val="600"/>
              </a:spcBef>
            </a:pPr>
            <a:r>
              <a:rPr lang="en-US" sz="3200" b="1" i="1" dirty="0"/>
              <a:t>Big O notation </a:t>
            </a:r>
            <a:r>
              <a:rPr lang="en-US" sz="3200" dirty="0"/>
              <a:t>is used to describe the </a:t>
            </a:r>
            <a:r>
              <a:rPr lang="en-US" sz="3200" i="1" dirty="0"/>
              <a:t>time complexity or space complexity of algorithms.</a:t>
            </a:r>
            <a:r>
              <a:rPr lang="en-US" sz="3200" dirty="0"/>
              <a:t> Big-O is a way to express the upper bound of an algorithm’s time or space complexity.</a:t>
            </a:r>
          </a:p>
          <a:p>
            <a:pPr marL="457200" indent="-457200">
              <a:spcBef>
                <a:spcPts val="600"/>
              </a:spcBef>
              <a:buFont typeface="Arial" panose="020B0604020202020204" pitchFamily="34" charset="0"/>
              <a:buChar char="•"/>
            </a:pPr>
            <a:r>
              <a:rPr lang="en-US" sz="2400" dirty="0"/>
              <a:t>Describes the asymptotic behavior </a:t>
            </a:r>
            <a:r>
              <a:rPr lang="en-US" sz="2400" i="1" dirty="0"/>
              <a:t>(order of growth of time or space in terms of input size) </a:t>
            </a:r>
            <a:r>
              <a:rPr lang="en-US" sz="2400" dirty="0"/>
              <a:t>of a function, not its exact value.</a:t>
            </a:r>
          </a:p>
          <a:p>
            <a:pPr marL="457200" indent="-457200">
              <a:spcBef>
                <a:spcPts val="600"/>
              </a:spcBef>
              <a:buFont typeface="Arial" panose="020B0604020202020204" pitchFamily="34" charset="0"/>
              <a:buChar char="•"/>
            </a:pPr>
            <a:r>
              <a:rPr lang="en-US" sz="2400" dirty="0"/>
              <a:t>Can be used to compare the efficiency of different algorithms or data structures.</a:t>
            </a:r>
          </a:p>
          <a:p>
            <a:pPr marL="457200" indent="-457200">
              <a:spcBef>
                <a:spcPts val="600"/>
              </a:spcBef>
              <a:buFont typeface="Arial" panose="020B0604020202020204" pitchFamily="34" charset="0"/>
              <a:buChar char="•"/>
            </a:pPr>
            <a:r>
              <a:rPr lang="en-US" sz="2400" dirty="0"/>
              <a:t>It provides an upper limit on the time taken by an algorithm in terms of the size of the input. We mainly consider the worst case scenario of the algorithm to find its time complexity in terms of Big O</a:t>
            </a:r>
          </a:p>
        </p:txBody>
      </p:sp>
      <p:pic>
        <p:nvPicPr>
          <p:cNvPr id="12" name="Picture 11">
            <a:extLst>
              <a:ext uri="{FF2B5EF4-FFF2-40B4-BE49-F238E27FC236}">
                <a16:creationId xmlns:a16="http://schemas.microsoft.com/office/drawing/2014/main" id="{68E857F0-ABC8-3C8E-8151-75B85F8BC8DD}"/>
              </a:ext>
            </a:extLst>
          </p:cNvPr>
          <p:cNvPicPr>
            <a:picLocks noChangeAspect="1"/>
          </p:cNvPicPr>
          <p:nvPr/>
        </p:nvPicPr>
        <p:blipFill>
          <a:blip r:embed="rId3"/>
          <a:srcRect t="1284"/>
          <a:stretch>
            <a:fillRect/>
          </a:stretch>
        </p:blipFill>
        <p:spPr>
          <a:xfrm>
            <a:off x="4357019" y="4762500"/>
            <a:ext cx="9573961" cy="4786651"/>
          </a:xfrm>
          <a:prstGeom prst="rect">
            <a:avLst/>
          </a:prstGeom>
        </p:spPr>
      </p:pic>
    </p:spTree>
    <p:extLst>
      <p:ext uri="{BB962C8B-B14F-4D97-AF65-F5344CB8AC3E}">
        <p14:creationId xmlns:p14="http://schemas.microsoft.com/office/powerpoint/2010/main" val="12015670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42"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1000"/>
                                        <p:tgtEl>
                                          <p:spTgt spid="12"/>
                                        </p:tgtEl>
                                      </p:cBhvr>
                                    </p:animEffect>
                                    <p:anim calcmode="lin" valueType="num">
                                      <p:cBhvr>
                                        <p:cTn id="11" dur="1000" fill="hold"/>
                                        <p:tgtEl>
                                          <p:spTgt spid="12"/>
                                        </p:tgtEl>
                                        <p:attrNameLst>
                                          <p:attrName>ppt_x</p:attrName>
                                        </p:attrNameLst>
                                      </p:cBhvr>
                                      <p:tavLst>
                                        <p:tav tm="0">
                                          <p:val>
                                            <p:strVal val="#ppt_x"/>
                                          </p:val>
                                        </p:tav>
                                        <p:tav tm="100000">
                                          <p:val>
                                            <p:strVal val="#ppt_x"/>
                                          </p:val>
                                        </p:tav>
                                      </p:tavLst>
                                    </p:anim>
                                    <p:anim calcmode="lin" valueType="num">
                                      <p:cBhvr>
                                        <p:cTn id="1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17E5C55-3DF5-F628-935B-874CC924EA86}"/>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DB709969-3E61-E95B-563A-9D5832E8B66F}"/>
              </a:ext>
            </a:extLst>
          </p:cNvPr>
          <p:cNvSpPr txBox="1"/>
          <p:nvPr/>
        </p:nvSpPr>
        <p:spPr>
          <a:xfrm>
            <a:off x="487680" y="3695700"/>
            <a:ext cx="16901160" cy="3631763"/>
          </a:xfrm>
          <a:prstGeom prst="rect">
            <a:avLst/>
          </a:prstGeom>
        </p:spPr>
        <p:txBody>
          <a:bodyPr wrap="square" lIns="0" tIns="0" rIns="0" bIns="0" rtlCol="0" anchor="t">
            <a:spAutoFit/>
          </a:bodyPr>
          <a:lstStyle/>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Input: Zero or more quantities supplied externally.</a:t>
            </a:r>
          </a:p>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Output: At least one quantity produced.</a:t>
            </a:r>
          </a:p>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Definiteness: Each step must be clear and unambiguous.</a:t>
            </a:r>
          </a:p>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Finiteness: It must terminate after a finite number of steps.</a:t>
            </a:r>
          </a:p>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Effectiveness: Each operation must be basic enough to be done exactly (e.g., you can't have a step that says "guess the correct answer").</a:t>
            </a:r>
            <a:endParaRPr lang="en-US" sz="6600" b="1" dirty="0">
              <a:solidFill>
                <a:srgbClr val="FFF56E"/>
              </a:solidFill>
              <a:latin typeface="Bahnschrift" panose="020B0502040204020203" pitchFamily="34" charset="0"/>
              <a:ea typeface="Heading Now 31-38 Bold"/>
              <a:cs typeface="Heading Now 31-38 Bold"/>
              <a:sym typeface="Heading Now 31-38 Bold"/>
            </a:endParaRPr>
          </a:p>
        </p:txBody>
      </p:sp>
      <p:sp>
        <p:nvSpPr>
          <p:cNvPr id="3" name="Rectangle 2">
            <a:extLst>
              <a:ext uri="{FF2B5EF4-FFF2-40B4-BE49-F238E27FC236}">
                <a16:creationId xmlns:a16="http://schemas.microsoft.com/office/drawing/2014/main" id="{22E565CE-511E-3185-4D4A-C3A2A2B0B515}"/>
              </a:ext>
            </a:extLst>
          </p:cNvPr>
          <p:cNvSpPr/>
          <p:nvPr/>
        </p:nvSpPr>
        <p:spPr>
          <a:xfrm>
            <a:off x="302787" y="190500"/>
            <a:ext cx="76200" cy="2000932"/>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TextBox 3">
            <a:extLst>
              <a:ext uri="{FF2B5EF4-FFF2-40B4-BE49-F238E27FC236}">
                <a16:creationId xmlns:a16="http://schemas.microsoft.com/office/drawing/2014/main" id="{069BD1DF-C086-E401-7C8F-72ABFFAF231C}"/>
              </a:ext>
            </a:extLst>
          </p:cNvPr>
          <p:cNvSpPr txBox="1"/>
          <p:nvPr/>
        </p:nvSpPr>
        <p:spPr>
          <a:xfrm>
            <a:off x="502920" y="1726857"/>
            <a:ext cx="20271213" cy="847155"/>
          </a:xfrm>
          <a:prstGeom prst="rect">
            <a:avLst/>
          </a:prstGeom>
        </p:spPr>
        <p:txBody>
          <a:bodyPr wrap="square" lIns="0" tIns="0" rIns="0" bIns="0" rtlCol="0" anchor="t">
            <a:spAutoFit/>
          </a:bodyPr>
          <a:lstStyle/>
          <a:p>
            <a:pPr>
              <a:lnSpc>
                <a:spcPts val="5059"/>
              </a:lnSpc>
            </a:pPr>
            <a:r>
              <a:rPr lang="en-US" sz="11500" b="1" dirty="0">
                <a:solidFill>
                  <a:srgbClr val="FFF56E"/>
                </a:solidFill>
                <a:latin typeface="Heading Now 31-38 Bold"/>
                <a:ea typeface="Heading Now 31-38 Bold"/>
                <a:cs typeface="Heading Now 31-38 Bold"/>
                <a:sym typeface="Heading Now 31-38 Bold"/>
              </a:rPr>
              <a:t>CHARACTERISTICS OF AN ALGORITHM</a:t>
            </a:r>
          </a:p>
        </p:txBody>
      </p:sp>
      <p:sp>
        <p:nvSpPr>
          <p:cNvPr id="2" name="TextBox 3">
            <a:extLst>
              <a:ext uri="{FF2B5EF4-FFF2-40B4-BE49-F238E27FC236}">
                <a16:creationId xmlns:a16="http://schemas.microsoft.com/office/drawing/2014/main" id="{A0F6F76C-7E18-0F48-2360-A39DCB738149}"/>
              </a:ext>
            </a:extLst>
          </p:cNvPr>
          <p:cNvSpPr txBox="1"/>
          <p:nvPr/>
        </p:nvSpPr>
        <p:spPr>
          <a:xfrm>
            <a:off x="693420" y="2827079"/>
            <a:ext cx="16901160" cy="615553"/>
          </a:xfrm>
          <a:prstGeom prst="rect">
            <a:avLst/>
          </a:prstGeom>
        </p:spPr>
        <p:txBody>
          <a:bodyPr wrap="square" lIns="0" tIns="0" rIns="0" bIns="0" rtlCol="0" anchor="t">
            <a:spAutoFit/>
          </a:bodyPr>
          <a:lstStyle/>
          <a:p>
            <a:pPr>
              <a:spcBef>
                <a:spcPts val="600"/>
              </a:spcBef>
            </a:pPr>
            <a:r>
              <a:rPr lang="en-US" sz="4000" b="1" i="1" dirty="0">
                <a:solidFill>
                  <a:srgbClr val="FFF56E"/>
                </a:solidFill>
                <a:latin typeface="Bahnschrift" panose="020B0502040204020203" pitchFamily="34" charset="0"/>
              </a:rPr>
              <a:t>To be considered a formal algorithm, it must possess these five traits:</a:t>
            </a:r>
            <a:endParaRPr lang="en-US" sz="7200" b="1" i="1" dirty="0">
              <a:solidFill>
                <a:srgbClr val="FFF56E"/>
              </a:solidFill>
              <a:latin typeface="Bahnschrift" panose="020B0502040204020203" pitchFamily="34" charset="0"/>
              <a:ea typeface="Heading Now 31-38 Bold"/>
              <a:cs typeface="Heading Now 31-38 Bold"/>
              <a:sym typeface="Heading Now 31-38 Bold"/>
            </a:endParaRPr>
          </a:p>
        </p:txBody>
      </p:sp>
    </p:spTree>
    <p:extLst>
      <p:ext uri="{BB962C8B-B14F-4D97-AF65-F5344CB8AC3E}">
        <p14:creationId xmlns:p14="http://schemas.microsoft.com/office/powerpoint/2010/main" val="744035524"/>
      </p:ext>
    </p:extLst>
  </p:cSld>
  <p:clrMapOvr>
    <a:masterClrMapping/>
  </p:clrMapOvr>
  <p:transition spd="med">
    <p:pull/>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A509E73-E646-4690-47EF-F88183DDB1D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3">
                <a:extLst>
                  <a:ext uri="{FF2B5EF4-FFF2-40B4-BE49-F238E27FC236}">
                    <a16:creationId xmlns:a16="http://schemas.microsoft.com/office/drawing/2014/main" id="{646814E5-5614-434E-56CE-6DE4F56F0D63}"/>
                  </a:ext>
                </a:extLst>
              </p:cNvPr>
              <p:cNvSpPr txBox="1"/>
              <p:nvPr/>
            </p:nvSpPr>
            <p:spPr>
              <a:xfrm>
                <a:off x="502920" y="2400300"/>
                <a:ext cx="16901160" cy="4662815"/>
              </a:xfrm>
              <a:prstGeom prst="rect">
                <a:avLst/>
              </a:prstGeom>
            </p:spPr>
            <p:txBody>
              <a:bodyPr wrap="square" lIns="0" tIns="0" rIns="0" bIns="0" rtlCol="0" anchor="t">
                <a:spAutoFit/>
              </a:bodyPr>
              <a:lstStyle/>
              <a:p>
                <a:pPr marL="571500" indent="-571500">
                  <a:spcBef>
                    <a:spcPts val="600"/>
                  </a:spcBef>
                  <a:buFont typeface="Arial" panose="020B0604020202020204" pitchFamily="34" charset="0"/>
                  <a:buChar char="•"/>
                </a:pPr>
                <a:r>
                  <a:rPr lang="en-US" sz="3200" dirty="0">
                    <a:solidFill>
                      <a:srgbClr val="FFF56E"/>
                    </a:solidFill>
                    <a:latin typeface="Bahnschrift" panose="020B0502040204020203" pitchFamily="34" charset="0"/>
                  </a:rPr>
                  <a:t>A-Priori Analysis (Theoretical): Conducted before implementation. It uses a mathematical model to count operations. </a:t>
                </a:r>
              </a:p>
              <a:p>
                <a:pPr marL="571500" indent="-571500">
                  <a:spcBef>
                    <a:spcPts val="600"/>
                  </a:spcBef>
                  <a:buFont typeface="Arial" panose="020B0604020202020204" pitchFamily="34" charset="0"/>
                  <a:buChar char="•"/>
                </a:pPr>
                <a:r>
                  <a:rPr lang="en-US" sz="3200" dirty="0">
                    <a:solidFill>
                      <a:srgbClr val="FFF56E"/>
                    </a:solidFill>
                    <a:latin typeface="Bahnschrift" panose="020B0502040204020203" pitchFamily="34" charset="0"/>
                  </a:rPr>
                  <a:t>A-Posteriori Analysis (Empirical): Conducted after implementation by running the code with different input sizes and measuring the actual clock time. </a:t>
                </a:r>
              </a:p>
              <a:p>
                <a:pPr marL="571500" indent="-571500">
                  <a:spcBef>
                    <a:spcPts val="600"/>
                  </a:spcBef>
                  <a:buFont typeface="Arial" panose="020B0604020202020204" pitchFamily="34" charset="0"/>
                  <a:buChar char="•"/>
                </a:pPr>
                <a:r>
                  <a:rPr lang="en-US" sz="3200" dirty="0">
                    <a:solidFill>
                      <a:srgbClr val="FFF56E"/>
                    </a:solidFill>
                    <a:latin typeface="Bahnschrift" panose="020B0502040204020203" pitchFamily="34" charset="0"/>
                  </a:rPr>
                  <a:t>Amortized Analysis is used when an algorithm has a very "expensive" operation that happens rarely, but most operations are "cheap." Instead of looking at the worst-case of a single step, we look at the average cost per operation over a long sequence. </a:t>
                </a:r>
              </a:p>
              <a:p>
                <a:pPr marL="914400" lvl="1" indent="-457200">
                  <a:spcBef>
                    <a:spcPts val="600"/>
                  </a:spcBef>
                  <a:buFont typeface="Wingdings" panose="05000000000000000000" pitchFamily="2" charset="2"/>
                  <a:buChar char="§"/>
                </a:pPr>
                <a:r>
                  <a:rPr lang="en-US" sz="2800" i="1" dirty="0">
                    <a:solidFill>
                      <a:srgbClr val="FFC000"/>
                    </a:solidFill>
                    <a:latin typeface="Bahnschrift" panose="020B0502040204020203" pitchFamily="34" charset="0"/>
                  </a:rPr>
                  <a:t>Example: Adding an item to a Dynamic Array (like a Python List) is usually </a:t>
                </a:r>
                <a14:m>
                  <m:oMath xmlns:m="http://schemas.openxmlformats.org/officeDocument/2006/math">
                    <m:r>
                      <a:rPr lang="en-PH" sz="2800" b="1" i="1">
                        <a:solidFill>
                          <a:srgbClr val="FFC000"/>
                        </a:solidFill>
                        <a:latin typeface="Cambria Math" panose="02040503050406030204" pitchFamily="18" charset="0"/>
                      </a:rPr>
                      <m:t>𝑶</m:t>
                    </m:r>
                    <m:d>
                      <m:dPr>
                        <m:ctrlPr>
                          <a:rPr lang="en-PH" sz="2800" b="1" i="1">
                            <a:solidFill>
                              <a:srgbClr val="FFC000"/>
                            </a:solidFill>
                            <a:latin typeface="Cambria Math" panose="02040503050406030204" pitchFamily="18" charset="0"/>
                          </a:rPr>
                        </m:ctrlPr>
                      </m:dPr>
                      <m:e>
                        <m:r>
                          <a:rPr lang="en-PH" sz="2800" b="1" i="1">
                            <a:solidFill>
                              <a:srgbClr val="FFC000"/>
                            </a:solidFill>
                            <a:latin typeface="Cambria Math" panose="02040503050406030204" pitchFamily="18" charset="0"/>
                          </a:rPr>
                          <m:t>𝟏</m:t>
                        </m:r>
                      </m:e>
                    </m:d>
                  </m:oMath>
                </a14:m>
                <a:r>
                  <a:rPr lang="en-US" sz="700" b="1" i="1" dirty="0">
                    <a:solidFill>
                      <a:srgbClr val="FFC000"/>
                    </a:solidFill>
                    <a:latin typeface="Bahnschrift" panose="020B0502040204020203" pitchFamily="34" charset="0"/>
                    <a:ea typeface="Heading Now 31-38 Bold"/>
                    <a:cs typeface="Heading Now 31-38 Bold"/>
                    <a:sym typeface="Heading Now 31-38 Bold"/>
                  </a:rPr>
                  <a:t> </a:t>
                </a:r>
                <a:r>
                  <a:rPr lang="en-US" sz="2800" i="1" dirty="0">
                    <a:solidFill>
                      <a:srgbClr val="FFC000"/>
                    </a:solidFill>
                    <a:latin typeface="Bahnschrift" panose="020B0502040204020203" pitchFamily="34" charset="0"/>
                  </a:rPr>
                  <a:t>, but occasionally </a:t>
                </a:r>
                <a14:m>
                  <m:oMath xmlns:m="http://schemas.openxmlformats.org/officeDocument/2006/math">
                    <m:r>
                      <a:rPr lang="en-PH" sz="2800" b="1" i="1">
                        <a:solidFill>
                          <a:srgbClr val="FFC000"/>
                        </a:solidFill>
                        <a:latin typeface="Cambria Math" panose="02040503050406030204" pitchFamily="18" charset="0"/>
                      </a:rPr>
                      <m:t>𝑶</m:t>
                    </m:r>
                    <m:d>
                      <m:dPr>
                        <m:ctrlPr>
                          <a:rPr lang="en-PH" sz="2800" b="1" i="1">
                            <a:solidFill>
                              <a:srgbClr val="FFC000"/>
                            </a:solidFill>
                            <a:latin typeface="Cambria Math" panose="02040503050406030204" pitchFamily="18" charset="0"/>
                          </a:rPr>
                        </m:ctrlPr>
                      </m:dPr>
                      <m:e>
                        <m:r>
                          <a:rPr lang="en-PH" sz="2800" b="1" i="1" smtClean="0">
                            <a:solidFill>
                              <a:srgbClr val="FFC000"/>
                            </a:solidFill>
                            <a:latin typeface="Cambria Math" panose="02040503050406030204" pitchFamily="18" charset="0"/>
                          </a:rPr>
                          <m:t>𝒏</m:t>
                        </m:r>
                      </m:e>
                    </m:d>
                  </m:oMath>
                </a14:m>
                <a:r>
                  <a:rPr lang="en-US" sz="700" b="1" i="1" dirty="0">
                    <a:solidFill>
                      <a:srgbClr val="FFC000"/>
                    </a:solidFill>
                    <a:latin typeface="Bahnschrift" panose="020B0502040204020203" pitchFamily="34" charset="0"/>
                    <a:ea typeface="Heading Now 31-38 Bold"/>
                    <a:cs typeface="Heading Now 31-38 Bold"/>
                    <a:sym typeface="Heading Now 31-38 Bold"/>
                  </a:rPr>
                  <a:t> </a:t>
                </a:r>
                <a:r>
                  <a:rPr lang="en-PH" sz="2800" b="1" i="1" dirty="0">
                    <a:solidFill>
                      <a:srgbClr val="FFC000"/>
                    </a:solidFill>
                    <a:sym typeface="Heading Now 31-38 Bold"/>
                  </a:rPr>
                  <a:t> </a:t>
                </a:r>
                <a:r>
                  <a:rPr lang="en-US" sz="2800" i="1" dirty="0">
                    <a:solidFill>
                      <a:srgbClr val="FFC000"/>
                    </a:solidFill>
                    <a:latin typeface="Bahnschrift" panose="020B0502040204020203" pitchFamily="34" charset="0"/>
                  </a:rPr>
                  <a:t>when the array needs to resize. The "Amortized" cost is still </a:t>
                </a:r>
                <a14:m>
                  <m:oMath xmlns:m="http://schemas.openxmlformats.org/officeDocument/2006/math">
                    <m:r>
                      <a:rPr lang="en-PH" sz="2800" b="1" i="1">
                        <a:solidFill>
                          <a:srgbClr val="FFC000"/>
                        </a:solidFill>
                        <a:latin typeface="Cambria Math" panose="02040503050406030204" pitchFamily="18" charset="0"/>
                      </a:rPr>
                      <m:t>𝑶</m:t>
                    </m:r>
                    <m:d>
                      <m:dPr>
                        <m:ctrlPr>
                          <a:rPr lang="en-PH" sz="2800" b="1" i="1">
                            <a:solidFill>
                              <a:srgbClr val="FFC000"/>
                            </a:solidFill>
                            <a:latin typeface="Cambria Math" panose="02040503050406030204" pitchFamily="18" charset="0"/>
                          </a:rPr>
                        </m:ctrlPr>
                      </m:dPr>
                      <m:e>
                        <m:r>
                          <a:rPr lang="en-PH" sz="2800" b="1" i="1">
                            <a:solidFill>
                              <a:srgbClr val="FFC000"/>
                            </a:solidFill>
                            <a:latin typeface="Cambria Math" panose="02040503050406030204" pitchFamily="18" charset="0"/>
                          </a:rPr>
                          <m:t>𝟏</m:t>
                        </m:r>
                      </m:e>
                    </m:d>
                  </m:oMath>
                </a14:m>
                <a:r>
                  <a:rPr lang="en-US" sz="700" b="1" i="1" dirty="0">
                    <a:solidFill>
                      <a:srgbClr val="FFC000"/>
                    </a:solidFill>
                    <a:latin typeface="Bahnschrift" panose="020B0502040204020203" pitchFamily="34" charset="0"/>
                    <a:ea typeface="Heading Now 31-38 Bold"/>
                    <a:cs typeface="Heading Now 31-38 Bold"/>
                    <a:sym typeface="Heading Now 31-38 Bold"/>
                  </a:rPr>
                  <a:t> </a:t>
                </a:r>
                <a:r>
                  <a:rPr lang="en-US" sz="2800" i="1" dirty="0">
                    <a:solidFill>
                      <a:srgbClr val="FFC000"/>
                    </a:solidFill>
                    <a:latin typeface="Bahnschrift" panose="020B0502040204020203" pitchFamily="34" charset="0"/>
                  </a:rPr>
                  <a:t>.</a:t>
                </a:r>
                <a:endParaRPr lang="en-US" sz="5400" b="1" i="1" dirty="0">
                  <a:solidFill>
                    <a:srgbClr val="FFC000"/>
                  </a:solidFill>
                  <a:latin typeface="Bahnschrift" panose="020B0502040204020203" pitchFamily="34" charset="0"/>
                  <a:ea typeface="Heading Now 31-38 Bold"/>
                  <a:cs typeface="Heading Now 31-38 Bold"/>
                  <a:sym typeface="Heading Now 31-38 Bold"/>
                </a:endParaRPr>
              </a:p>
            </p:txBody>
          </p:sp>
        </mc:Choice>
        <mc:Fallback xmlns="">
          <p:sp>
            <p:nvSpPr>
              <p:cNvPr id="7" name="TextBox 3">
                <a:extLst>
                  <a:ext uri="{FF2B5EF4-FFF2-40B4-BE49-F238E27FC236}">
                    <a16:creationId xmlns:a16="http://schemas.microsoft.com/office/drawing/2014/main" id="{646814E5-5614-434E-56CE-6DE4F56F0D63}"/>
                  </a:ext>
                </a:extLst>
              </p:cNvPr>
              <p:cNvSpPr txBox="1">
                <a:spLocks noRot="1" noChangeAspect="1" noMove="1" noResize="1" noEditPoints="1" noAdjustHandles="1" noChangeArrowheads="1" noChangeShapeType="1" noTextEdit="1"/>
              </p:cNvSpPr>
              <p:nvPr/>
            </p:nvSpPr>
            <p:spPr>
              <a:xfrm>
                <a:off x="502920" y="2400300"/>
                <a:ext cx="16901160" cy="4662815"/>
              </a:xfrm>
              <a:prstGeom prst="rect">
                <a:avLst/>
              </a:prstGeom>
              <a:blipFill>
                <a:blip r:embed="rId2"/>
                <a:stretch>
                  <a:fillRect l="-1371" t="-2876" r="-1948" b="-784"/>
                </a:stretch>
              </a:blipFill>
            </p:spPr>
            <p:txBody>
              <a:bodyPr/>
              <a:lstStyle/>
              <a:p>
                <a:r>
                  <a:rPr lang="en-PH">
                    <a:noFill/>
                  </a:rPr>
                  <a:t> </a:t>
                </a:r>
              </a:p>
            </p:txBody>
          </p:sp>
        </mc:Fallback>
      </mc:AlternateContent>
      <p:sp>
        <p:nvSpPr>
          <p:cNvPr id="3" name="Rectangle 2">
            <a:extLst>
              <a:ext uri="{FF2B5EF4-FFF2-40B4-BE49-F238E27FC236}">
                <a16:creationId xmlns:a16="http://schemas.microsoft.com/office/drawing/2014/main" id="{96D11FFA-4DF7-0F31-E7F4-5A04069DC241}"/>
              </a:ext>
            </a:extLst>
          </p:cNvPr>
          <p:cNvSpPr/>
          <p:nvPr/>
        </p:nvSpPr>
        <p:spPr>
          <a:xfrm>
            <a:off x="302787" y="190500"/>
            <a:ext cx="76200" cy="2000932"/>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TextBox 3">
            <a:extLst>
              <a:ext uri="{FF2B5EF4-FFF2-40B4-BE49-F238E27FC236}">
                <a16:creationId xmlns:a16="http://schemas.microsoft.com/office/drawing/2014/main" id="{C717A7D3-4AA2-F524-85C2-392A17D4EEE1}"/>
              </a:ext>
            </a:extLst>
          </p:cNvPr>
          <p:cNvSpPr txBox="1"/>
          <p:nvPr/>
        </p:nvSpPr>
        <p:spPr>
          <a:xfrm>
            <a:off x="502920" y="1251347"/>
            <a:ext cx="20271213" cy="847155"/>
          </a:xfrm>
          <a:prstGeom prst="rect">
            <a:avLst/>
          </a:prstGeom>
        </p:spPr>
        <p:txBody>
          <a:bodyPr wrap="square" lIns="0" tIns="0" rIns="0" bIns="0" rtlCol="0" anchor="t">
            <a:spAutoFit/>
          </a:bodyPr>
          <a:lstStyle/>
          <a:p>
            <a:pPr>
              <a:lnSpc>
                <a:spcPts val="5059"/>
              </a:lnSpc>
            </a:pPr>
            <a:r>
              <a:rPr lang="en-US" sz="11500" b="1" dirty="0">
                <a:solidFill>
                  <a:srgbClr val="FFF56E"/>
                </a:solidFill>
                <a:latin typeface="Heading Now 31-38 Bold"/>
                <a:ea typeface="Heading Now 31-38 Bold"/>
                <a:cs typeface="Heading Now 31-38 Bold"/>
                <a:sym typeface="Heading Now 31-38 Bold"/>
              </a:rPr>
              <a:t>METHODS OF COMPLEXITY MEASUREMENT</a:t>
            </a:r>
          </a:p>
        </p:txBody>
      </p:sp>
      <p:sp>
        <p:nvSpPr>
          <p:cNvPr id="2" name="TextBox 3">
            <a:extLst>
              <a:ext uri="{FF2B5EF4-FFF2-40B4-BE49-F238E27FC236}">
                <a16:creationId xmlns:a16="http://schemas.microsoft.com/office/drawing/2014/main" id="{5F22E885-5A5B-3B52-EBC8-EA7035772CFC}"/>
              </a:ext>
            </a:extLst>
          </p:cNvPr>
          <p:cNvSpPr txBox="1"/>
          <p:nvPr/>
        </p:nvSpPr>
        <p:spPr>
          <a:xfrm>
            <a:off x="457200" y="1708547"/>
            <a:ext cx="16901160" cy="615553"/>
          </a:xfrm>
          <a:prstGeom prst="rect">
            <a:avLst/>
          </a:prstGeom>
        </p:spPr>
        <p:txBody>
          <a:bodyPr wrap="square" lIns="0" tIns="0" rIns="0" bIns="0" rtlCol="0" anchor="t">
            <a:spAutoFit/>
          </a:bodyPr>
          <a:lstStyle/>
          <a:p>
            <a:pPr>
              <a:spcBef>
                <a:spcPts val="600"/>
              </a:spcBef>
            </a:pPr>
            <a:r>
              <a:rPr lang="en-US" sz="4000" b="1" i="1" dirty="0">
                <a:solidFill>
                  <a:srgbClr val="FFF56E"/>
                </a:solidFill>
                <a:latin typeface="Bahnschrift" panose="020B0502040204020203" pitchFamily="34" charset="0"/>
              </a:rPr>
              <a:t>Complexity is measured through two primary lenses:</a:t>
            </a:r>
            <a:endParaRPr lang="en-US" sz="7200" b="1" i="1" dirty="0">
              <a:solidFill>
                <a:srgbClr val="FFF56E"/>
              </a:solidFill>
              <a:latin typeface="Bahnschrift" panose="020B0502040204020203" pitchFamily="34" charset="0"/>
              <a:ea typeface="Heading Now 31-38 Bold"/>
              <a:cs typeface="Heading Now 31-38 Bold"/>
              <a:sym typeface="Heading Now 31-38 Bold"/>
            </a:endParaRPr>
          </a:p>
        </p:txBody>
      </p:sp>
      <p:pic>
        <p:nvPicPr>
          <p:cNvPr id="11" name="Picture 10">
            <a:extLst>
              <a:ext uri="{FF2B5EF4-FFF2-40B4-BE49-F238E27FC236}">
                <a16:creationId xmlns:a16="http://schemas.microsoft.com/office/drawing/2014/main" id="{FE896E6B-6928-A791-E959-5794DB9EC2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9945" y="7204767"/>
            <a:ext cx="16068109" cy="2358333"/>
          </a:xfrm>
          <a:prstGeom prst="rect">
            <a:avLst/>
          </a:prstGeom>
          <a:ln>
            <a:solidFill>
              <a:srgbClr val="FFFF00"/>
            </a:solidFill>
          </a:ln>
        </p:spPr>
      </p:pic>
    </p:spTree>
    <p:extLst>
      <p:ext uri="{BB962C8B-B14F-4D97-AF65-F5344CB8AC3E}">
        <p14:creationId xmlns:p14="http://schemas.microsoft.com/office/powerpoint/2010/main" val="2481358916"/>
      </p:ext>
    </p:extLst>
  </p:cSld>
  <p:clrMapOvr>
    <a:masterClrMapping/>
  </p:clrMapOvr>
  <p:transition spd="med">
    <p:pull/>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20A204F-761A-B5DD-00F9-C29AA661D62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1986FFB-9A9A-CDC3-1B9C-3C8A4A6F681F}"/>
              </a:ext>
            </a:extLst>
          </p:cNvPr>
          <p:cNvSpPr/>
          <p:nvPr/>
        </p:nvSpPr>
        <p:spPr>
          <a:xfrm>
            <a:off x="302787" y="190500"/>
            <a:ext cx="76200" cy="2000932"/>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TextBox 3">
            <a:extLst>
              <a:ext uri="{FF2B5EF4-FFF2-40B4-BE49-F238E27FC236}">
                <a16:creationId xmlns:a16="http://schemas.microsoft.com/office/drawing/2014/main" id="{0C7D3872-89B8-3C8E-7995-1A9A982376C2}"/>
              </a:ext>
            </a:extLst>
          </p:cNvPr>
          <p:cNvSpPr txBox="1"/>
          <p:nvPr/>
        </p:nvSpPr>
        <p:spPr>
          <a:xfrm>
            <a:off x="502920" y="1251347"/>
            <a:ext cx="20271213" cy="847155"/>
          </a:xfrm>
          <a:prstGeom prst="rect">
            <a:avLst/>
          </a:prstGeom>
        </p:spPr>
        <p:txBody>
          <a:bodyPr wrap="square" lIns="0" tIns="0" rIns="0" bIns="0" rtlCol="0" anchor="t">
            <a:spAutoFit/>
          </a:bodyPr>
          <a:lstStyle/>
          <a:p>
            <a:pPr>
              <a:lnSpc>
                <a:spcPts val="5059"/>
              </a:lnSpc>
            </a:pPr>
            <a:r>
              <a:rPr lang="en-US" sz="11500" b="1" dirty="0">
                <a:solidFill>
                  <a:srgbClr val="FFF56E"/>
                </a:solidFill>
                <a:latin typeface="Heading Now 31-38 Bold"/>
                <a:ea typeface="Heading Now 31-38 Bold"/>
                <a:cs typeface="Heading Now 31-38 Bold"/>
                <a:sym typeface="Heading Now 31-38 Bold"/>
              </a:rPr>
              <a:t>METHODS OF COMPLEXITY MEASUREMENT</a:t>
            </a:r>
          </a:p>
        </p:txBody>
      </p:sp>
      <p:sp>
        <p:nvSpPr>
          <p:cNvPr id="2" name="TextBox 3">
            <a:extLst>
              <a:ext uri="{FF2B5EF4-FFF2-40B4-BE49-F238E27FC236}">
                <a16:creationId xmlns:a16="http://schemas.microsoft.com/office/drawing/2014/main" id="{F304EB92-6F8B-DCEE-D7EE-2731AFAC0F73}"/>
              </a:ext>
            </a:extLst>
          </p:cNvPr>
          <p:cNvSpPr txBox="1"/>
          <p:nvPr/>
        </p:nvSpPr>
        <p:spPr>
          <a:xfrm>
            <a:off x="457200" y="1755457"/>
            <a:ext cx="16901160" cy="492443"/>
          </a:xfrm>
          <a:prstGeom prst="rect">
            <a:avLst/>
          </a:prstGeom>
        </p:spPr>
        <p:txBody>
          <a:bodyPr wrap="square" lIns="0" tIns="0" rIns="0" bIns="0" rtlCol="0" anchor="t">
            <a:spAutoFit/>
          </a:bodyPr>
          <a:lstStyle/>
          <a:p>
            <a:pPr>
              <a:spcBef>
                <a:spcPts val="600"/>
              </a:spcBef>
            </a:pPr>
            <a:r>
              <a:rPr lang="en-US" sz="3200" b="1" i="1" dirty="0">
                <a:solidFill>
                  <a:srgbClr val="FFF56E"/>
                </a:solidFill>
                <a:latin typeface="Bahnschrift" panose="020B0502040204020203" pitchFamily="34" charset="0"/>
              </a:rPr>
              <a:t>Difference between A posteriori analysis and A Priori analysis: </a:t>
            </a:r>
          </a:p>
        </p:txBody>
      </p:sp>
      <p:graphicFrame>
        <p:nvGraphicFramePr>
          <p:cNvPr id="6" name="Table 5">
            <a:extLst>
              <a:ext uri="{FF2B5EF4-FFF2-40B4-BE49-F238E27FC236}">
                <a16:creationId xmlns:a16="http://schemas.microsoft.com/office/drawing/2014/main" id="{898A4096-E459-054D-2D8E-DC3829DF0FB2}"/>
              </a:ext>
            </a:extLst>
          </p:cNvPr>
          <p:cNvGraphicFramePr>
            <a:graphicFrameLocks noGrp="1"/>
          </p:cNvGraphicFramePr>
          <p:nvPr>
            <p:extLst>
              <p:ext uri="{D42A27DB-BD31-4B8C-83A1-F6EECF244321}">
                <p14:modId xmlns:p14="http://schemas.microsoft.com/office/powerpoint/2010/main" val="3977523206"/>
              </p:ext>
            </p:extLst>
          </p:nvPr>
        </p:nvGraphicFramePr>
        <p:xfrm>
          <a:off x="567690" y="2400300"/>
          <a:ext cx="17152620" cy="7381096"/>
        </p:xfrm>
        <a:graphic>
          <a:graphicData uri="http://schemas.openxmlformats.org/drawingml/2006/table">
            <a:tbl>
              <a:tblPr>
                <a:tableStyleId>{5C22544A-7EE6-4342-B048-85BDC9FD1C3A}</a:tableStyleId>
              </a:tblPr>
              <a:tblGrid>
                <a:gridCol w="8572500">
                  <a:extLst>
                    <a:ext uri="{9D8B030D-6E8A-4147-A177-3AD203B41FA5}">
                      <a16:colId xmlns:a16="http://schemas.microsoft.com/office/drawing/2014/main" val="1736070007"/>
                    </a:ext>
                  </a:extLst>
                </a:gridCol>
                <a:gridCol w="8580120">
                  <a:extLst>
                    <a:ext uri="{9D8B030D-6E8A-4147-A177-3AD203B41FA5}">
                      <a16:colId xmlns:a16="http://schemas.microsoft.com/office/drawing/2014/main" val="2529113366"/>
                    </a:ext>
                  </a:extLst>
                </a:gridCol>
              </a:tblGrid>
              <a:tr h="848187">
                <a:tc>
                  <a:txBody>
                    <a:bodyPr/>
                    <a:lstStyle/>
                    <a:p>
                      <a:pPr algn="ctr" fontAlgn="ctr">
                        <a:buNone/>
                      </a:pPr>
                      <a:r>
                        <a:rPr lang="en-PH" sz="3600" b="1" u="none" strike="noStrike" dirty="0">
                          <a:solidFill>
                            <a:srgbClr val="FFF56E"/>
                          </a:solidFill>
                          <a:effectLst/>
                          <a:latin typeface="Heading Now 31-38 Bold" panose="020B0604020202020204" charset="0"/>
                        </a:rPr>
                        <a:t>A-Posteriori Analysis</a:t>
                      </a:r>
                      <a:endParaRPr lang="en-PH" sz="3600" b="1" i="0" u="none" strike="noStrike" dirty="0">
                        <a:solidFill>
                          <a:srgbClr val="FFF56E"/>
                        </a:solidFill>
                        <a:effectLst/>
                        <a:latin typeface="Heading Now 31-38 Bold" panose="020B0604020202020204" charset="0"/>
                      </a:endParaRPr>
                    </a:p>
                  </a:txBody>
                  <a:tcPr anchor="ctr">
                    <a:solidFill>
                      <a:schemeClr val="tx1">
                        <a:lumMod val="75000"/>
                        <a:lumOff val="25000"/>
                      </a:schemeClr>
                    </a:solidFill>
                  </a:tcPr>
                </a:tc>
                <a:tc>
                  <a:txBody>
                    <a:bodyPr/>
                    <a:lstStyle/>
                    <a:p>
                      <a:pPr algn="ctr" fontAlgn="ctr">
                        <a:buNone/>
                      </a:pPr>
                      <a:r>
                        <a:rPr lang="en-PH" sz="3600" b="1" u="none" strike="noStrike" dirty="0">
                          <a:solidFill>
                            <a:srgbClr val="FFF56E"/>
                          </a:solidFill>
                          <a:effectLst/>
                          <a:latin typeface="Heading Now 31-38 Bold" panose="020B0604020202020204" charset="0"/>
                        </a:rPr>
                        <a:t>A-Priori Analysis</a:t>
                      </a:r>
                      <a:endParaRPr lang="en-PH" sz="3600" b="1" i="0" u="none" strike="noStrike" dirty="0">
                        <a:solidFill>
                          <a:srgbClr val="FFF56E"/>
                        </a:solidFill>
                        <a:effectLst/>
                        <a:latin typeface="Heading Now 31-38 Bold" panose="020B0604020202020204" charset="0"/>
                      </a:endParaRPr>
                    </a:p>
                  </a:txBody>
                  <a:tcPr anchor="ctr">
                    <a:solidFill>
                      <a:schemeClr val="tx1">
                        <a:lumMod val="75000"/>
                        <a:lumOff val="25000"/>
                      </a:schemeClr>
                    </a:solidFill>
                  </a:tcPr>
                </a:tc>
                <a:extLst>
                  <a:ext uri="{0D108BD9-81ED-4DB2-BD59-A6C34878D82A}">
                    <a16:rowId xmlns:a16="http://schemas.microsoft.com/office/drawing/2014/main" val="1363050687"/>
                  </a:ext>
                </a:extLst>
              </a:tr>
              <a:tr h="472330">
                <a:tc>
                  <a:txBody>
                    <a:bodyPr/>
                    <a:lstStyle/>
                    <a:p>
                      <a:pPr algn="l" fontAlgn="ctr">
                        <a:buNone/>
                      </a:pPr>
                      <a:r>
                        <a:rPr lang="en-PH" sz="2400" u="none" strike="noStrike" dirty="0">
                          <a:solidFill>
                            <a:srgbClr val="FFF56E"/>
                          </a:solidFill>
                          <a:effectLst/>
                          <a:latin typeface="Arial" panose="020B0604020202020204" pitchFamily="34" charset="0"/>
                          <a:cs typeface="Arial" panose="020B0604020202020204" pitchFamily="34" charset="0"/>
                        </a:rPr>
                        <a:t>Posteriori analysis is a relative analysis.</a:t>
                      </a:r>
                      <a:endParaRPr lang="en-PH" sz="2400" b="0" i="0" u="none" strike="noStrike" dirty="0">
                        <a:solidFill>
                          <a:srgbClr val="FFF56E"/>
                        </a:solidFill>
                        <a:effectLst/>
                        <a:latin typeface="Arial" panose="020B0604020202020204" pitchFamily="34" charset="0"/>
                        <a:cs typeface="Arial" panose="020B0604020202020204" pitchFamily="34" charset="0"/>
                      </a:endParaRPr>
                    </a:p>
                  </a:txBody>
                  <a:tcPr anchor="ctr">
                    <a:solidFill>
                      <a:schemeClr val="tx1"/>
                    </a:solidFill>
                  </a:tcPr>
                </a:tc>
                <a:tc>
                  <a:txBody>
                    <a:bodyPr/>
                    <a:lstStyle/>
                    <a:p>
                      <a:pPr algn="l" fontAlgn="ctr">
                        <a:buNone/>
                      </a:pPr>
                      <a:r>
                        <a:rPr lang="en-PH" sz="2400" u="none" strike="noStrike" dirty="0">
                          <a:solidFill>
                            <a:srgbClr val="FFF56E"/>
                          </a:solidFill>
                          <a:effectLst/>
                          <a:latin typeface="Arial" panose="020B0604020202020204" pitchFamily="34" charset="0"/>
                          <a:cs typeface="Arial" panose="020B0604020202020204" pitchFamily="34" charset="0"/>
                        </a:rPr>
                        <a:t>Priori analysis is an absolute analysis.</a:t>
                      </a:r>
                      <a:endParaRPr lang="en-PH" sz="2400" b="0" i="0" u="none" strike="noStrike" dirty="0">
                        <a:solidFill>
                          <a:srgbClr val="FFF56E"/>
                        </a:solidFill>
                        <a:effectLst/>
                        <a:latin typeface="Arial" panose="020B0604020202020204" pitchFamily="34" charset="0"/>
                        <a:cs typeface="Arial" panose="020B0604020202020204" pitchFamily="34" charset="0"/>
                      </a:endParaRPr>
                    </a:p>
                  </a:txBody>
                  <a:tcPr anchor="ctr">
                    <a:solidFill>
                      <a:schemeClr val="tx1"/>
                    </a:solidFill>
                  </a:tcPr>
                </a:tc>
                <a:extLst>
                  <a:ext uri="{0D108BD9-81ED-4DB2-BD59-A6C34878D82A}">
                    <a16:rowId xmlns:a16="http://schemas.microsoft.com/office/drawing/2014/main" val="2525744408"/>
                  </a:ext>
                </a:extLst>
              </a:tr>
              <a:tr h="757062">
                <a:tc>
                  <a:txBody>
                    <a:bodyPr/>
                    <a:lstStyle/>
                    <a:p>
                      <a:pPr algn="l" fontAlgn="ctr">
                        <a:buNone/>
                      </a:pPr>
                      <a:r>
                        <a:rPr lang="en-US" sz="2400" u="none" strike="noStrike" dirty="0">
                          <a:solidFill>
                            <a:srgbClr val="FFF56E"/>
                          </a:solidFill>
                          <a:effectLst/>
                          <a:latin typeface="Arial" panose="020B0604020202020204" pitchFamily="34" charset="0"/>
                          <a:cs typeface="Arial" panose="020B0604020202020204" pitchFamily="34" charset="0"/>
                        </a:rPr>
                        <a:t>It is dependent on language of compiler and type of hardware.</a:t>
                      </a:r>
                      <a:endParaRPr lang="en-US" sz="2400" b="0" i="0" u="none" strike="noStrike" dirty="0">
                        <a:solidFill>
                          <a:srgbClr val="FFF56E"/>
                        </a:solidFill>
                        <a:effectLst/>
                        <a:latin typeface="Arial" panose="020B0604020202020204" pitchFamily="34" charset="0"/>
                        <a:cs typeface="Arial" panose="020B0604020202020204" pitchFamily="34" charset="0"/>
                      </a:endParaRPr>
                    </a:p>
                  </a:txBody>
                  <a:tcPr anchor="ctr">
                    <a:solidFill>
                      <a:schemeClr val="tx1"/>
                    </a:solidFill>
                  </a:tcPr>
                </a:tc>
                <a:tc>
                  <a:txBody>
                    <a:bodyPr/>
                    <a:lstStyle/>
                    <a:p>
                      <a:pPr algn="l" fontAlgn="ctr">
                        <a:buNone/>
                      </a:pPr>
                      <a:r>
                        <a:rPr lang="en-US" sz="2400" u="none" strike="noStrike">
                          <a:solidFill>
                            <a:srgbClr val="FFF56E"/>
                          </a:solidFill>
                          <a:effectLst/>
                          <a:latin typeface="Arial" panose="020B0604020202020204" pitchFamily="34" charset="0"/>
                          <a:cs typeface="Arial" panose="020B0604020202020204" pitchFamily="34" charset="0"/>
                        </a:rPr>
                        <a:t>It is independent of language of compiler and types of hardware.</a:t>
                      </a:r>
                      <a:endParaRPr lang="en-US" sz="2400" b="0" i="0" u="none" strike="noStrike">
                        <a:solidFill>
                          <a:srgbClr val="FFF56E"/>
                        </a:solidFill>
                        <a:effectLst/>
                        <a:latin typeface="Arial" panose="020B0604020202020204" pitchFamily="34" charset="0"/>
                        <a:cs typeface="Arial" panose="020B0604020202020204" pitchFamily="34" charset="0"/>
                      </a:endParaRPr>
                    </a:p>
                  </a:txBody>
                  <a:tcPr anchor="ctr">
                    <a:solidFill>
                      <a:schemeClr val="tx1"/>
                    </a:solidFill>
                  </a:tcPr>
                </a:tc>
                <a:extLst>
                  <a:ext uri="{0D108BD9-81ED-4DB2-BD59-A6C34878D82A}">
                    <a16:rowId xmlns:a16="http://schemas.microsoft.com/office/drawing/2014/main" val="2597308483"/>
                  </a:ext>
                </a:extLst>
              </a:tr>
              <a:tr h="472330">
                <a:tc>
                  <a:txBody>
                    <a:bodyPr/>
                    <a:lstStyle/>
                    <a:p>
                      <a:pPr algn="l" fontAlgn="ctr">
                        <a:buNone/>
                      </a:pPr>
                      <a:r>
                        <a:rPr lang="en-US" sz="2400" u="none" strike="noStrike" dirty="0">
                          <a:solidFill>
                            <a:srgbClr val="FFF56E"/>
                          </a:solidFill>
                          <a:effectLst/>
                          <a:latin typeface="Arial" panose="020B0604020202020204" pitchFamily="34" charset="0"/>
                          <a:cs typeface="Arial" panose="020B0604020202020204" pitchFamily="34" charset="0"/>
                        </a:rPr>
                        <a:t>It will give exact answer.</a:t>
                      </a:r>
                      <a:endParaRPr lang="en-US" sz="2400" b="0" i="0" u="none" strike="noStrike" dirty="0">
                        <a:solidFill>
                          <a:srgbClr val="FFF56E"/>
                        </a:solidFill>
                        <a:effectLst/>
                        <a:latin typeface="Arial" panose="020B0604020202020204" pitchFamily="34" charset="0"/>
                        <a:cs typeface="Arial" panose="020B0604020202020204" pitchFamily="34" charset="0"/>
                      </a:endParaRPr>
                    </a:p>
                  </a:txBody>
                  <a:tcPr anchor="ctr">
                    <a:solidFill>
                      <a:schemeClr val="tx1"/>
                    </a:solidFill>
                  </a:tcPr>
                </a:tc>
                <a:tc>
                  <a:txBody>
                    <a:bodyPr/>
                    <a:lstStyle/>
                    <a:p>
                      <a:pPr algn="l" fontAlgn="ctr">
                        <a:buNone/>
                      </a:pPr>
                      <a:r>
                        <a:rPr lang="en-US" sz="2400" u="none" strike="noStrike">
                          <a:solidFill>
                            <a:srgbClr val="FFF56E"/>
                          </a:solidFill>
                          <a:effectLst/>
                          <a:latin typeface="Arial" panose="020B0604020202020204" pitchFamily="34" charset="0"/>
                          <a:cs typeface="Arial" panose="020B0604020202020204" pitchFamily="34" charset="0"/>
                        </a:rPr>
                        <a:t>It will give approximate answer.</a:t>
                      </a:r>
                      <a:endParaRPr lang="en-US" sz="2400" b="0" i="0" u="none" strike="noStrike">
                        <a:solidFill>
                          <a:srgbClr val="FFF56E"/>
                        </a:solidFill>
                        <a:effectLst/>
                        <a:latin typeface="Arial" panose="020B0604020202020204" pitchFamily="34" charset="0"/>
                        <a:cs typeface="Arial" panose="020B0604020202020204" pitchFamily="34" charset="0"/>
                      </a:endParaRPr>
                    </a:p>
                  </a:txBody>
                  <a:tcPr anchor="ctr">
                    <a:solidFill>
                      <a:schemeClr val="tx1"/>
                    </a:solidFill>
                  </a:tcPr>
                </a:tc>
                <a:extLst>
                  <a:ext uri="{0D108BD9-81ED-4DB2-BD59-A6C34878D82A}">
                    <a16:rowId xmlns:a16="http://schemas.microsoft.com/office/drawing/2014/main" val="2434849593"/>
                  </a:ext>
                </a:extLst>
              </a:tr>
              <a:tr h="1134864">
                <a:tc>
                  <a:txBody>
                    <a:bodyPr/>
                    <a:lstStyle/>
                    <a:p>
                      <a:pPr algn="l" fontAlgn="ctr">
                        <a:buNone/>
                      </a:pPr>
                      <a:r>
                        <a:rPr lang="en-US" sz="2400" u="none" strike="noStrike" dirty="0">
                          <a:solidFill>
                            <a:srgbClr val="FFF56E"/>
                          </a:solidFill>
                          <a:effectLst/>
                          <a:latin typeface="Arial" panose="020B0604020202020204" pitchFamily="34" charset="0"/>
                          <a:cs typeface="Arial" panose="020B0604020202020204" pitchFamily="34" charset="0"/>
                        </a:rPr>
                        <a:t>It doesn't use asymptotic notations to represent the time complexity of an algorithm.</a:t>
                      </a:r>
                      <a:endParaRPr lang="en-US" sz="2400" b="0" i="0" u="none" strike="noStrike" dirty="0">
                        <a:solidFill>
                          <a:srgbClr val="FFF56E"/>
                        </a:solidFill>
                        <a:effectLst/>
                        <a:latin typeface="Arial" panose="020B0604020202020204" pitchFamily="34" charset="0"/>
                        <a:cs typeface="Arial" panose="020B0604020202020204" pitchFamily="34" charset="0"/>
                      </a:endParaRPr>
                    </a:p>
                  </a:txBody>
                  <a:tcPr anchor="ctr">
                    <a:solidFill>
                      <a:schemeClr val="tx1"/>
                    </a:solidFill>
                  </a:tcPr>
                </a:tc>
                <a:tc>
                  <a:txBody>
                    <a:bodyPr/>
                    <a:lstStyle/>
                    <a:p>
                      <a:pPr algn="l" fontAlgn="ctr">
                        <a:buNone/>
                      </a:pPr>
                      <a:r>
                        <a:rPr lang="en-US" sz="2400" u="none" strike="noStrike" dirty="0">
                          <a:solidFill>
                            <a:srgbClr val="FFF56E"/>
                          </a:solidFill>
                          <a:effectLst/>
                          <a:latin typeface="Arial" panose="020B0604020202020204" pitchFamily="34" charset="0"/>
                          <a:cs typeface="Arial" panose="020B0604020202020204" pitchFamily="34" charset="0"/>
                        </a:rPr>
                        <a:t>It uses the asymptotic notations to represent how much time the algorithm will take in order to complete its execution.</a:t>
                      </a:r>
                      <a:endParaRPr lang="en-US" sz="2400" b="0" i="0" u="none" strike="noStrike" dirty="0">
                        <a:solidFill>
                          <a:srgbClr val="FFF56E"/>
                        </a:solidFill>
                        <a:effectLst/>
                        <a:latin typeface="Arial" panose="020B0604020202020204" pitchFamily="34" charset="0"/>
                        <a:cs typeface="Arial" panose="020B0604020202020204" pitchFamily="34" charset="0"/>
                      </a:endParaRPr>
                    </a:p>
                  </a:txBody>
                  <a:tcPr anchor="ctr">
                    <a:solidFill>
                      <a:schemeClr val="tx1"/>
                    </a:solidFill>
                  </a:tcPr>
                </a:tc>
                <a:extLst>
                  <a:ext uri="{0D108BD9-81ED-4DB2-BD59-A6C34878D82A}">
                    <a16:rowId xmlns:a16="http://schemas.microsoft.com/office/drawing/2014/main" val="790740817"/>
                  </a:ext>
                </a:extLst>
              </a:tr>
              <a:tr h="909960">
                <a:tc>
                  <a:txBody>
                    <a:bodyPr/>
                    <a:lstStyle/>
                    <a:p>
                      <a:pPr algn="l" fontAlgn="ctr">
                        <a:buNone/>
                      </a:pPr>
                      <a:r>
                        <a:rPr lang="en-US" sz="2400" u="none" strike="noStrike" dirty="0">
                          <a:solidFill>
                            <a:srgbClr val="FFF56E"/>
                          </a:solidFill>
                          <a:effectLst/>
                          <a:latin typeface="Arial" panose="020B0604020202020204" pitchFamily="34" charset="0"/>
                          <a:cs typeface="Arial" panose="020B0604020202020204" pitchFamily="34" charset="0"/>
                        </a:rPr>
                        <a:t>The time complexity of an algorithm using a posteriori analysis differ from system to system.</a:t>
                      </a:r>
                      <a:endParaRPr lang="en-US" sz="2400" b="0" i="0" u="none" strike="noStrike" dirty="0">
                        <a:solidFill>
                          <a:srgbClr val="FFF56E"/>
                        </a:solidFill>
                        <a:effectLst/>
                        <a:latin typeface="Arial" panose="020B0604020202020204" pitchFamily="34" charset="0"/>
                        <a:cs typeface="Arial" panose="020B0604020202020204" pitchFamily="34" charset="0"/>
                      </a:endParaRPr>
                    </a:p>
                  </a:txBody>
                  <a:tcPr anchor="ctr">
                    <a:solidFill>
                      <a:schemeClr val="tx1"/>
                    </a:solidFill>
                  </a:tcPr>
                </a:tc>
                <a:tc>
                  <a:txBody>
                    <a:bodyPr/>
                    <a:lstStyle/>
                    <a:p>
                      <a:pPr algn="l" fontAlgn="ctr">
                        <a:buNone/>
                      </a:pPr>
                      <a:r>
                        <a:rPr lang="en-US" sz="2400" u="none" strike="noStrike" dirty="0">
                          <a:solidFill>
                            <a:srgbClr val="FFF56E"/>
                          </a:solidFill>
                          <a:effectLst/>
                          <a:latin typeface="Arial" panose="020B0604020202020204" pitchFamily="34" charset="0"/>
                          <a:cs typeface="Arial" panose="020B0604020202020204" pitchFamily="34" charset="0"/>
                        </a:rPr>
                        <a:t>The time complexity of an algorithm using a priori analysis is same for every system.</a:t>
                      </a:r>
                      <a:endParaRPr lang="en-US" sz="2400" b="0" i="0" u="none" strike="noStrike" dirty="0">
                        <a:solidFill>
                          <a:srgbClr val="FFF56E"/>
                        </a:solidFill>
                        <a:effectLst/>
                        <a:latin typeface="Arial" panose="020B0604020202020204" pitchFamily="34" charset="0"/>
                        <a:cs typeface="Arial" panose="020B0604020202020204" pitchFamily="34" charset="0"/>
                      </a:endParaRPr>
                    </a:p>
                  </a:txBody>
                  <a:tcPr anchor="ctr">
                    <a:solidFill>
                      <a:schemeClr val="tx1"/>
                    </a:solidFill>
                  </a:tcPr>
                </a:tc>
                <a:extLst>
                  <a:ext uri="{0D108BD9-81ED-4DB2-BD59-A6C34878D82A}">
                    <a16:rowId xmlns:a16="http://schemas.microsoft.com/office/drawing/2014/main" val="2446207530"/>
                  </a:ext>
                </a:extLst>
              </a:tr>
              <a:tr h="856433">
                <a:tc>
                  <a:txBody>
                    <a:bodyPr/>
                    <a:lstStyle/>
                    <a:p>
                      <a:pPr algn="l" fontAlgn="ctr">
                        <a:buNone/>
                      </a:pPr>
                      <a:r>
                        <a:rPr lang="en-US" sz="2400" u="none" strike="noStrike" dirty="0">
                          <a:solidFill>
                            <a:srgbClr val="FFF56E"/>
                          </a:solidFill>
                          <a:effectLst/>
                          <a:latin typeface="Arial" panose="020B0604020202020204" pitchFamily="34" charset="0"/>
                          <a:cs typeface="Arial" panose="020B0604020202020204" pitchFamily="34" charset="0"/>
                        </a:rPr>
                        <a:t>If the time taken by the program is less, then the credit will go to compiler and hardware.</a:t>
                      </a:r>
                      <a:endParaRPr lang="en-US" sz="2400" b="0" i="0" u="none" strike="noStrike" dirty="0">
                        <a:solidFill>
                          <a:srgbClr val="FFF56E"/>
                        </a:solidFill>
                        <a:effectLst/>
                        <a:latin typeface="Arial" panose="020B0604020202020204" pitchFamily="34" charset="0"/>
                        <a:cs typeface="Arial" panose="020B0604020202020204" pitchFamily="34" charset="0"/>
                      </a:endParaRPr>
                    </a:p>
                  </a:txBody>
                  <a:tcPr anchor="ctr">
                    <a:solidFill>
                      <a:schemeClr val="tx1"/>
                    </a:solidFill>
                  </a:tcPr>
                </a:tc>
                <a:tc>
                  <a:txBody>
                    <a:bodyPr/>
                    <a:lstStyle/>
                    <a:p>
                      <a:pPr algn="l" fontAlgn="ctr">
                        <a:buNone/>
                      </a:pPr>
                      <a:r>
                        <a:rPr lang="en-US" sz="2400" u="none" strike="noStrike" dirty="0">
                          <a:solidFill>
                            <a:srgbClr val="FFF56E"/>
                          </a:solidFill>
                          <a:effectLst/>
                          <a:latin typeface="Arial" panose="020B0604020202020204" pitchFamily="34" charset="0"/>
                          <a:cs typeface="Arial" panose="020B0604020202020204" pitchFamily="34" charset="0"/>
                        </a:rPr>
                        <a:t>If the algorithm running faster, credit goes to the programmer.</a:t>
                      </a:r>
                      <a:endParaRPr lang="en-US" sz="2400" b="0" i="0" u="none" strike="noStrike" dirty="0">
                        <a:solidFill>
                          <a:srgbClr val="FFF56E"/>
                        </a:solidFill>
                        <a:effectLst/>
                        <a:latin typeface="Arial" panose="020B0604020202020204" pitchFamily="34" charset="0"/>
                        <a:cs typeface="Arial" panose="020B0604020202020204" pitchFamily="34" charset="0"/>
                      </a:endParaRPr>
                    </a:p>
                  </a:txBody>
                  <a:tcPr anchor="ctr">
                    <a:solidFill>
                      <a:schemeClr val="tx1"/>
                    </a:solidFill>
                  </a:tcPr>
                </a:tc>
                <a:extLst>
                  <a:ext uri="{0D108BD9-81ED-4DB2-BD59-A6C34878D82A}">
                    <a16:rowId xmlns:a16="http://schemas.microsoft.com/office/drawing/2014/main" val="3581427346"/>
                  </a:ext>
                </a:extLst>
              </a:tr>
              <a:tr h="472330">
                <a:tc>
                  <a:txBody>
                    <a:bodyPr/>
                    <a:lstStyle/>
                    <a:p>
                      <a:pPr algn="l" fontAlgn="ctr">
                        <a:buNone/>
                      </a:pPr>
                      <a:r>
                        <a:rPr lang="en-US" sz="2400" u="none" strike="noStrike" dirty="0">
                          <a:solidFill>
                            <a:srgbClr val="FFF56E"/>
                          </a:solidFill>
                          <a:effectLst/>
                          <a:latin typeface="Arial" panose="020B0604020202020204" pitchFamily="34" charset="0"/>
                          <a:cs typeface="Arial" panose="020B0604020202020204" pitchFamily="34" charset="0"/>
                        </a:rPr>
                        <a:t>It is done after execution of an algorithm.</a:t>
                      </a:r>
                      <a:endParaRPr lang="en-US" sz="2400" b="0" i="0" u="none" strike="noStrike" dirty="0">
                        <a:solidFill>
                          <a:srgbClr val="FFF56E"/>
                        </a:solidFill>
                        <a:effectLst/>
                        <a:latin typeface="Arial" panose="020B0604020202020204" pitchFamily="34" charset="0"/>
                        <a:cs typeface="Arial" panose="020B0604020202020204" pitchFamily="34" charset="0"/>
                      </a:endParaRPr>
                    </a:p>
                  </a:txBody>
                  <a:tcPr anchor="ctr">
                    <a:solidFill>
                      <a:schemeClr val="tx1"/>
                    </a:solidFill>
                  </a:tcPr>
                </a:tc>
                <a:tc>
                  <a:txBody>
                    <a:bodyPr/>
                    <a:lstStyle/>
                    <a:p>
                      <a:pPr algn="l" fontAlgn="ctr">
                        <a:buNone/>
                      </a:pPr>
                      <a:r>
                        <a:rPr lang="en-US" sz="2400" u="none" strike="noStrike" dirty="0">
                          <a:solidFill>
                            <a:srgbClr val="FFF56E"/>
                          </a:solidFill>
                          <a:effectLst/>
                          <a:latin typeface="Arial" panose="020B0604020202020204" pitchFamily="34" charset="0"/>
                          <a:cs typeface="Arial" panose="020B0604020202020204" pitchFamily="34" charset="0"/>
                        </a:rPr>
                        <a:t>It is done before execution of an algorithm.</a:t>
                      </a:r>
                      <a:endParaRPr lang="en-US" sz="2400" b="0" i="0" u="none" strike="noStrike" dirty="0">
                        <a:solidFill>
                          <a:srgbClr val="FFF56E"/>
                        </a:solidFill>
                        <a:effectLst/>
                        <a:latin typeface="Arial" panose="020B0604020202020204" pitchFamily="34" charset="0"/>
                        <a:cs typeface="Arial" panose="020B0604020202020204" pitchFamily="34" charset="0"/>
                      </a:endParaRPr>
                    </a:p>
                  </a:txBody>
                  <a:tcPr anchor="ctr">
                    <a:solidFill>
                      <a:schemeClr val="tx1"/>
                    </a:solidFill>
                  </a:tcPr>
                </a:tc>
                <a:extLst>
                  <a:ext uri="{0D108BD9-81ED-4DB2-BD59-A6C34878D82A}">
                    <a16:rowId xmlns:a16="http://schemas.microsoft.com/office/drawing/2014/main" val="2443871431"/>
                  </a:ext>
                </a:extLst>
              </a:tr>
              <a:tr h="856433">
                <a:tc>
                  <a:txBody>
                    <a:bodyPr/>
                    <a:lstStyle/>
                    <a:p>
                      <a:pPr algn="l" fontAlgn="ctr">
                        <a:buNone/>
                      </a:pPr>
                      <a:r>
                        <a:rPr lang="en-US" sz="2400" u="none" strike="noStrike" dirty="0">
                          <a:solidFill>
                            <a:srgbClr val="FFF56E"/>
                          </a:solidFill>
                          <a:effectLst/>
                          <a:latin typeface="Arial" panose="020B0604020202020204" pitchFamily="34" charset="0"/>
                          <a:cs typeface="Arial" panose="020B0604020202020204" pitchFamily="34" charset="0"/>
                        </a:rPr>
                        <a:t>It is costlier than priori analysis because  of requirement of software and hardware for execution.</a:t>
                      </a:r>
                      <a:endParaRPr lang="en-US" sz="2400" b="0" i="0" u="none" strike="noStrike" dirty="0">
                        <a:solidFill>
                          <a:srgbClr val="FFF56E"/>
                        </a:solidFill>
                        <a:effectLst/>
                        <a:latin typeface="Arial" panose="020B0604020202020204" pitchFamily="34" charset="0"/>
                        <a:cs typeface="Arial" panose="020B0604020202020204" pitchFamily="34" charset="0"/>
                      </a:endParaRPr>
                    </a:p>
                  </a:txBody>
                  <a:tcPr anchor="ctr">
                    <a:solidFill>
                      <a:schemeClr val="tx1"/>
                    </a:solidFill>
                  </a:tcPr>
                </a:tc>
                <a:tc>
                  <a:txBody>
                    <a:bodyPr/>
                    <a:lstStyle/>
                    <a:p>
                      <a:pPr algn="l" fontAlgn="ctr">
                        <a:buNone/>
                      </a:pPr>
                      <a:r>
                        <a:rPr lang="en-US" sz="2400" u="none" strike="noStrike" dirty="0">
                          <a:solidFill>
                            <a:srgbClr val="FFF56E"/>
                          </a:solidFill>
                          <a:effectLst/>
                          <a:latin typeface="Arial" panose="020B0604020202020204" pitchFamily="34" charset="0"/>
                          <a:cs typeface="Arial" panose="020B0604020202020204" pitchFamily="34" charset="0"/>
                        </a:rPr>
                        <a:t>It is cheaper than Posteriori Analysis.</a:t>
                      </a:r>
                      <a:endParaRPr lang="en-US" sz="2400" b="0" i="0" u="none" strike="noStrike" dirty="0">
                        <a:solidFill>
                          <a:srgbClr val="FFF56E"/>
                        </a:solidFill>
                        <a:effectLst/>
                        <a:latin typeface="Arial" panose="020B0604020202020204" pitchFamily="34" charset="0"/>
                        <a:cs typeface="Arial" panose="020B0604020202020204" pitchFamily="34" charset="0"/>
                      </a:endParaRPr>
                    </a:p>
                  </a:txBody>
                  <a:tcPr anchor="ctr">
                    <a:solidFill>
                      <a:schemeClr val="tx1"/>
                    </a:solidFill>
                  </a:tcPr>
                </a:tc>
                <a:extLst>
                  <a:ext uri="{0D108BD9-81ED-4DB2-BD59-A6C34878D82A}">
                    <a16:rowId xmlns:a16="http://schemas.microsoft.com/office/drawing/2014/main" val="2894635956"/>
                  </a:ext>
                </a:extLst>
              </a:tr>
              <a:tr h="535269">
                <a:tc>
                  <a:txBody>
                    <a:bodyPr/>
                    <a:lstStyle/>
                    <a:p>
                      <a:pPr algn="l" fontAlgn="ctr">
                        <a:buNone/>
                      </a:pPr>
                      <a:r>
                        <a:rPr lang="en-US" sz="2400" u="none" strike="noStrike">
                          <a:solidFill>
                            <a:srgbClr val="FFF56E"/>
                          </a:solidFill>
                          <a:effectLst/>
                          <a:latin typeface="Arial" panose="020B0604020202020204" pitchFamily="34" charset="0"/>
                          <a:cs typeface="Arial" panose="020B0604020202020204" pitchFamily="34" charset="0"/>
                        </a:rPr>
                        <a:t>Maintenance Phase is required to tune the algorithm.</a:t>
                      </a:r>
                      <a:endParaRPr lang="en-US" sz="2400" b="0" i="0" u="none" strike="noStrike">
                        <a:solidFill>
                          <a:srgbClr val="FFF56E"/>
                        </a:solidFill>
                        <a:effectLst/>
                        <a:latin typeface="Arial" panose="020B0604020202020204" pitchFamily="34" charset="0"/>
                        <a:cs typeface="Arial" panose="020B0604020202020204" pitchFamily="34" charset="0"/>
                      </a:endParaRPr>
                    </a:p>
                  </a:txBody>
                  <a:tcPr anchor="ctr">
                    <a:solidFill>
                      <a:schemeClr val="tx1"/>
                    </a:solidFill>
                  </a:tcPr>
                </a:tc>
                <a:tc>
                  <a:txBody>
                    <a:bodyPr/>
                    <a:lstStyle/>
                    <a:p>
                      <a:pPr algn="l" fontAlgn="ctr">
                        <a:buNone/>
                      </a:pPr>
                      <a:r>
                        <a:rPr lang="en-US" sz="2400" u="none" strike="noStrike" dirty="0">
                          <a:solidFill>
                            <a:srgbClr val="FFF56E"/>
                          </a:solidFill>
                          <a:effectLst/>
                          <a:latin typeface="Arial" panose="020B0604020202020204" pitchFamily="34" charset="0"/>
                          <a:cs typeface="Arial" panose="020B0604020202020204" pitchFamily="34" charset="0"/>
                        </a:rPr>
                        <a:t>Maintenance Phase is not  required to tune the algorithm.</a:t>
                      </a:r>
                      <a:endParaRPr lang="en-US" sz="2400" b="0" i="0" u="none" strike="noStrike" dirty="0">
                        <a:solidFill>
                          <a:srgbClr val="FFF56E"/>
                        </a:solidFill>
                        <a:effectLst/>
                        <a:latin typeface="Arial" panose="020B0604020202020204" pitchFamily="34" charset="0"/>
                        <a:cs typeface="Arial" panose="020B0604020202020204" pitchFamily="34" charset="0"/>
                      </a:endParaRPr>
                    </a:p>
                  </a:txBody>
                  <a:tcPr anchor="ctr">
                    <a:solidFill>
                      <a:schemeClr val="tx1"/>
                    </a:solidFill>
                  </a:tcPr>
                </a:tc>
                <a:extLst>
                  <a:ext uri="{0D108BD9-81ED-4DB2-BD59-A6C34878D82A}">
                    <a16:rowId xmlns:a16="http://schemas.microsoft.com/office/drawing/2014/main" val="2446937298"/>
                  </a:ext>
                </a:extLst>
              </a:tr>
            </a:tbl>
          </a:graphicData>
        </a:graphic>
      </p:graphicFrame>
    </p:spTree>
    <p:extLst>
      <p:ext uri="{BB962C8B-B14F-4D97-AF65-F5344CB8AC3E}">
        <p14:creationId xmlns:p14="http://schemas.microsoft.com/office/powerpoint/2010/main" val="1730318705"/>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56E"/>
        </a:solidFill>
        <a:effectLst/>
      </p:bgPr>
    </p:bg>
    <p:spTree>
      <p:nvGrpSpPr>
        <p:cNvPr id="1" name="">
          <a:extLst>
            <a:ext uri="{FF2B5EF4-FFF2-40B4-BE49-F238E27FC236}">
              <a16:creationId xmlns:a16="http://schemas.microsoft.com/office/drawing/2014/main" id="{CD790B72-C277-9E0F-373A-2332417D4EB6}"/>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A21FF029-025F-B58D-9F54-5D92F3A3D21E}"/>
              </a:ext>
            </a:extLst>
          </p:cNvPr>
          <p:cNvSpPr txBox="1"/>
          <p:nvPr/>
        </p:nvSpPr>
        <p:spPr>
          <a:xfrm>
            <a:off x="762000" y="4610100"/>
            <a:ext cx="8682795" cy="2000932"/>
          </a:xfrm>
          <a:prstGeom prst="rect">
            <a:avLst/>
          </a:prstGeom>
        </p:spPr>
        <p:txBody>
          <a:bodyPr lIns="0" tIns="0" rIns="0" bIns="0" rtlCol="0" anchor="t">
            <a:spAutoFit/>
          </a:bodyPr>
          <a:lstStyle/>
          <a:p>
            <a:pPr algn="l">
              <a:lnSpc>
                <a:spcPts val="15000"/>
              </a:lnSpc>
            </a:pPr>
            <a:r>
              <a:rPr lang="en-US" sz="18000" b="1" dirty="0">
                <a:solidFill>
                  <a:srgbClr val="000000"/>
                </a:solidFill>
                <a:latin typeface="Heading Now 31-38 Bold"/>
                <a:ea typeface="Heading Now 31-38 Bold"/>
                <a:cs typeface="Heading Now 31-38 Bold"/>
                <a:sym typeface="Heading Now 31-38 Bold"/>
              </a:rPr>
              <a:t>PRELIMS</a:t>
            </a:r>
            <a:endParaRPr lang="en-US" sz="15000" b="1" dirty="0">
              <a:solidFill>
                <a:srgbClr val="000000"/>
              </a:solidFill>
              <a:latin typeface="Heading Now 31-38 Bold"/>
              <a:ea typeface="Heading Now 31-38 Bold"/>
              <a:cs typeface="Heading Now 31-38 Bold"/>
              <a:sym typeface="Heading Now 31-38 Bold"/>
            </a:endParaRPr>
          </a:p>
        </p:txBody>
      </p:sp>
      <p:sp>
        <p:nvSpPr>
          <p:cNvPr id="3" name="TextBox 3">
            <a:extLst>
              <a:ext uri="{FF2B5EF4-FFF2-40B4-BE49-F238E27FC236}">
                <a16:creationId xmlns:a16="http://schemas.microsoft.com/office/drawing/2014/main" id="{8D4254EA-F33C-D7CD-EDB9-D8B108053BD0}"/>
              </a:ext>
            </a:extLst>
          </p:cNvPr>
          <p:cNvSpPr txBox="1"/>
          <p:nvPr/>
        </p:nvSpPr>
        <p:spPr>
          <a:xfrm>
            <a:off x="6017798" y="4302804"/>
            <a:ext cx="11432013" cy="614592"/>
          </a:xfrm>
          <a:prstGeom prst="rect">
            <a:avLst/>
          </a:prstGeom>
        </p:spPr>
        <p:txBody>
          <a:bodyPr lIns="0" tIns="0" rIns="0" bIns="0" rtlCol="0" anchor="t">
            <a:spAutoFit/>
          </a:bodyPr>
          <a:lstStyle/>
          <a:p>
            <a:pPr algn="l">
              <a:lnSpc>
                <a:spcPts val="5059"/>
              </a:lnSpc>
              <a:spcBef>
                <a:spcPts val="600"/>
              </a:spcBef>
            </a:pPr>
            <a:r>
              <a:rPr lang="en-US" sz="4000" b="1" dirty="0">
                <a:solidFill>
                  <a:srgbClr val="000000"/>
                </a:solidFill>
                <a:latin typeface="Heading Now 31-38 Bold"/>
                <a:ea typeface="Heading Now 31-38 Bold"/>
                <a:cs typeface="Heading Now 31-38 Bold"/>
                <a:sym typeface="Heading Now 31-38 Bold"/>
              </a:rPr>
              <a:t>CHAPTER II:</a:t>
            </a:r>
          </a:p>
        </p:txBody>
      </p:sp>
      <p:sp>
        <p:nvSpPr>
          <p:cNvPr id="4" name="TextBox 3">
            <a:extLst>
              <a:ext uri="{FF2B5EF4-FFF2-40B4-BE49-F238E27FC236}">
                <a16:creationId xmlns:a16="http://schemas.microsoft.com/office/drawing/2014/main" id="{8D04E667-D416-FF0E-DF0A-D0161489229E}"/>
              </a:ext>
            </a:extLst>
          </p:cNvPr>
          <p:cNvSpPr txBox="1"/>
          <p:nvPr/>
        </p:nvSpPr>
        <p:spPr>
          <a:xfrm>
            <a:off x="6017798" y="5518923"/>
            <a:ext cx="11432013" cy="847155"/>
          </a:xfrm>
          <a:prstGeom prst="rect">
            <a:avLst/>
          </a:prstGeom>
        </p:spPr>
        <p:txBody>
          <a:bodyPr lIns="0" tIns="0" rIns="0" bIns="0" rtlCol="0" anchor="t">
            <a:spAutoFit/>
          </a:bodyPr>
          <a:lstStyle/>
          <a:p>
            <a:pPr algn="l">
              <a:lnSpc>
                <a:spcPts val="5059"/>
              </a:lnSpc>
            </a:pPr>
            <a:r>
              <a:rPr lang="en-US" sz="11500" b="1" dirty="0">
                <a:solidFill>
                  <a:srgbClr val="000000"/>
                </a:solidFill>
                <a:latin typeface="Heading Now 31-38 Bold"/>
                <a:ea typeface="Heading Now 31-38 Bold"/>
                <a:cs typeface="Heading Now 31-38 Bold"/>
                <a:sym typeface="Heading Now 31-38 Bold"/>
              </a:rPr>
              <a:t>TREES</a:t>
            </a:r>
          </a:p>
        </p:txBody>
      </p:sp>
      <p:sp>
        <p:nvSpPr>
          <p:cNvPr id="5" name="Rectangle 4">
            <a:extLst>
              <a:ext uri="{FF2B5EF4-FFF2-40B4-BE49-F238E27FC236}">
                <a16:creationId xmlns:a16="http://schemas.microsoft.com/office/drawing/2014/main" id="{AE237E81-37A1-C4ED-5932-98076256241E}"/>
              </a:ext>
            </a:extLst>
          </p:cNvPr>
          <p:cNvSpPr/>
          <p:nvPr/>
        </p:nvSpPr>
        <p:spPr>
          <a:xfrm>
            <a:off x="5715011" y="4149493"/>
            <a:ext cx="76200" cy="200093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3515987170"/>
      </p:ext>
    </p:extLst>
  </p:cSld>
  <p:clrMapOvr>
    <a:masterClrMapping/>
  </p:clrMapOvr>
  <p:transition spd="slow">
    <p:push dir="r"/>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6E3FE9B-83A4-7C7F-9B24-1FCA9FB60A88}"/>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6AE8F0F4-DE6D-0D51-72EE-1E4C9B5F4E26}"/>
              </a:ext>
            </a:extLst>
          </p:cNvPr>
          <p:cNvSpPr txBox="1"/>
          <p:nvPr/>
        </p:nvSpPr>
        <p:spPr>
          <a:xfrm>
            <a:off x="693420" y="2400300"/>
            <a:ext cx="16901160" cy="3077766"/>
          </a:xfrm>
          <a:prstGeom prst="rect">
            <a:avLst/>
          </a:prstGeom>
        </p:spPr>
        <p:txBody>
          <a:bodyPr wrap="square" lIns="0" tIns="0" rIns="0" bIns="0" rtlCol="0" anchor="t">
            <a:spAutoFit/>
          </a:bodyPr>
          <a:lstStyle/>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Node: The basic unit containing data.</a:t>
            </a:r>
          </a:p>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Root(Node): The top-most node (no parent).</a:t>
            </a:r>
          </a:p>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Leaf: A node with no children.</a:t>
            </a:r>
          </a:p>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Height: The number of edges on the longest path from the node to a leaf.</a:t>
            </a:r>
          </a:p>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Depth: The number of edges from the root to the node.</a:t>
            </a:r>
            <a:endParaRPr lang="en-US" sz="6600" b="1" dirty="0">
              <a:solidFill>
                <a:srgbClr val="FFF56E"/>
              </a:solidFill>
              <a:latin typeface="Bahnschrift" panose="020B0502040204020203" pitchFamily="34" charset="0"/>
              <a:ea typeface="Heading Now 31-38 Bold"/>
              <a:cs typeface="Heading Now 31-38 Bold"/>
              <a:sym typeface="Heading Now 31-38 Bold"/>
            </a:endParaRPr>
          </a:p>
        </p:txBody>
      </p:sp>
      <p:sp>
        <p:nvSpPr>
          <p:cNvPr id="3" name="Rectangle 2">
            <a:extLst>
              <a:ext uri="{FF2B5EF4-FFF2-40B4-BE49-F238E27FC236}">
                <a16:creationId xmlns:a16="http://schemas.microsoft.com/office/drawing/2014/main" id="{01B8BBFE-7EB2-1C82-B112-0F951D230728}"/>
              </a:ext>
            </a:extLst>
          </p:cNvPr>
          <p:cNvSpPr/>
          <p:nvPr/>
        </p:nvSpPr>
        <p:spPr>
          <a:xfrm>
            <a:off x="302787" y="190500"/>
            <a:ext cx="76200" cy="2000932"/>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TextBox 3">
            <a:extLst>
              <a:ext uri="{FF2B5EF4-FFF2-40B4-BE49-F238E27FC236}">
                <a16:creationId xmlns:a16="http://schemas.microsoft.com/office/drawing/2014/main" id="{7334590A-4862-1A49-C0C9-9214C2B24434}"/>
              </a:ext>
            </a:extLst>
          </p:cNvPr>
          <p:cNvSpPr txBox="1"/>
          <p:nvPr/>
        </p:nvSpPr>
        <p:spPr>
          <a:xfrm>
            <a:off x="502920" y="1726857"/>
            <a:ext cx="20271213" cy="847155"/>
          </a:xfrm>
          <a:prstGeom prst="rect">
            <a:avLst/>
          </a:prstGeom>
        </p:spPr>
        <p:txBody>
          <a:bodyPr wrap="square" lIns="0" tIns="0" rIns="0" bIns="0" rtlCol="0" anchor="t">
            <a:spAutoFit/>
          </a:bodyPr>
          <a:lstStyle/>
          <a:p>
            <a:pPr>
              <a:lnSpc>
                <a:spcPts val="5059"/>
              </a:lnSpc>
            </a:pPr>
            <a:r>
              <a:rPr lang="en-US" sz="11500" b="1" dirty="0">
                <a:solidFill>
                  <a:srgbClr val="FFF56E"/>
                </a:solidFill>
                <a:latin typeface="Heading Now 31-38 Bold"/>
                <a:ea typeface="Heading Now 31-38 Bold"/>
                <a:cs typeface="Heading Now 31-38 Bold"/>
                <a:sym typeface="Heading Now 31-38 Bold"/>
              </a:rPr>
              <a:t>TERMINOLOGIES</a:t>
            </a:r>
          </a:p>
        </p:txBody>
      </p:sp>
      <p:sp>
        <p:nvSpPr>
          <p:cNvPr id="12" name="Rectangle 11">
            <a:extLst>
              <a:ext uri="{FF2B5EF4-FFF2-40B4-BE49-F238E27FC236}">
                <a16:creationId xmlns:a16="http://schemas.microsoft.com/office/drawing/2014/main" id="{4049E9DE-96F1-F94C-F906-ED1A09593BE7}"/>
              </a:ext>
            </a:extLst>
          </p:cNvPr>
          <p:cNvSpPr/>
          <p:nvPr/>
        </p:nvSpPr>
        <p:spPr>
          <a:xfrm>
            <a:off x="378987" y="6386659"/>
            <a:ext cx="15775412" cy="271924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H"/>
          </a:p>
        </p:txBody>
      </p:sp>
      <p:pic>
        <p:nvPicPr>
          <p:cNvPr id="10" name="Picture 9">
            <a:extLst>
              <a:ext uri="{FF2B5EF4-FFF2-40B4-BE49-F238E27FC236}">
                <a16:creationId xmlns:a16="http://schemas.microsoft.com/office/drawing/2014/main" id="{2ED9FC78-150E-9090-417D-89CF6D926C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96800" y="342900"/>
            <a:ext cx="15117373" cy="16076924"/>
          </a:xfrm>
          <a:prstGeom prst="rect">
            <a:avLst/>
          </a:prstGeom>
        </p:spPr>
      </p:pic>
    </p:spTree>
    <p:extLst>
      <p:ext uri="{BB962C8B-B14F-4D97-AF65-F5344CB8AC3E}">
        <p14:creationId xmlns:p14="http://schemas.microsoft.com/office/powerpoint/2010/main" val="3260131277"/>
      </p:ext>
    </p:extLst>
  </p:cSld>
  <p:clrMapOvr>
    <a:masterClrMapping/>
  </p:clrMapOvr>
  <p:transition spd="med">
    <p:pull/>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71C27E3-517B-28E3-6961-6B12839EC60B}"/>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8A60BBF8-6B32-21F8-C91B-D193EC9E333B}"/>
              </a:ext>
            </a:extLst>
          </p:cNvPr>
          <p:cNvSpPr txBox="1"/>
          <p:nvPr/>
        </p:nvSpPr>
        <p:spPr>
          <a:xfrm>
            <a:off x="693420" y="2400300"/>
            <a:ext cx="16901160" cy="3077766"/>
          </a:xfrm>
          <a:prstGeom prst="rect">
            <a:avLst/>
          </a:prstGeom>
        </p:spPr>
        <p:txBody>
          <a:bodyPr wrap="square" lIns="0" tIns="0" rIns="0" bIns="0" rtlCol="0" anchor="t">
            <a:spAutoFit/>
          </a:bodyPr>
          <a:lstStyle/>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Node: The basic unit containing data.</a:t>
            </a:r>
          </a:p>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Root(Node): The top-most node (no parent).</a:t>
            </a:r>
          </a:p>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Leaf: A node with no children.</a:t>
            </a:r>
          </a:p>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Height: The number of edges on the longest path from the node to a leaf.</a:t>
            </a:r>
          </a:p>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Depth: The number of edges from the root to the node.</a:t>
            </a:r>
            <a:endParaRPr lang="en-US" sz="6600" b="1" dirty="0">
              <a:solidFill>
                <a:srgbClr val="FFF56E"/>
              </a:solidFill>
              <a:latin typeface="Bahnschrift" panose="020B0502040204020203" pitchFamily="34" charset="0"/>
              <a:ea typeface="Heading Now 31-38 Bold"/>
              <a:cs typeface="Heading Now 31-38 Bold"/>
              <a:sym typeface="Heading Now 31-38 Bold"/>
            </a:endParaRPr>
          </a:p>
        </p:txBody>
      </p:sp>
      <p:sp>
        <p:nvSpPr>
          <p:cNvPr id="2" name="Rectangle 1">
            <a:extLst>
              <a:ext uri="{FF2B5EF4-FFF2-40B4-BE49-F238E27FC236}">
                <a16:creationId xmlns:a16="http://schemas.microsoft.com/office/drawing/2014/main" id="{3503DB7A-8C77-AD15-7E66-66050D29C679}"/>
              </a:ext>
            </a:extLst>
          </p:cNvPr>
          <p:cNvSpPr/>
          <p:nvPr/>
        </p:nvSpPr>
        <p:spPr>
          <a:xfrm>
            <a:off x="693420" y="-2536818"/>
            <a:ext cx="15775412" cy="271924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8E66DE0A-D2B2-A89B-8AFA-3BE59685F47C}"/>
              </a:ext>
            </a:extLst>
          </p:cNvPr>
          <p:cNvSpPr/>
          <p:nvPr/>
        </p:nvSpPr>
        <p:spPr>
          <a:xfrm>
            <a:off x="302787" y="190500"/>
            <a:ext cx="76200" cy="2000932"/>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TextBox 3">
            <a:extLst>
              <a:ext uri="{FF2B5EF4-FFF2-40B4-BE49-F238E27FC236}">
                <a16:creationId xmlns:a16="http://schemas.microsoft.com/office/drawing/2014/main" id="{A04184B8-3398-B35D-DD1B-87E57ADD25EB}"/>
              </a:ext>
            </a:extLst>
          </p:cNvPr>
          <p:cNvSpPr txBox="1"/>
          <p:nvPr/>
        </p:nvSpPr>
        <p:spPr>
          <a:xfrm>
            <a:off x="502920" y="1726857"/>
            <a:ext cx="20271213" cy="847155"/>
          </a:xfrm>
          <a:prstGeom prst="rect">
            <a:avLst/>
          </a:prstGeom>
        </p:spPr>
        <p:txBody>
          <a:bodyPr wrap="square" lIns="0" tIns="0" rIns="0" bIns="0" rtlCol="0" anchor="t">
            <a:spAutoFit/>
          </a:bodyPr>
          <a:lstStyle/>
          <a:p>
            <a:pPr>
              <a:lnSpc>
                <a:spcPts val="5059"/>
              </a:lnSpc>
            </a:pPr>
            <a:r>
              <a:rPr lang="en-US" sz="11500" b="1" dirty="0">
                <a:solidFill>
                  <a:srgbClr val="FFF56E"/>
                </a:solidFill>
                <a:latin typeface="Heading Now 31-38 Bold"/>
                <a:ea typeface="Heading Now 31-38 Bold"/>
                <a:cs typeface="Heading Now 31-38 Bold"/>
                <a:sym typeface="Heading Now 31-38 Bold"/>
              </a:rPr>
              <a:t>TERMINOLOGIES</a:t>
            </a:r>
          </a:p>
        </p:txBody>
      </p:sp>
      <p:sp>
        <p:nvSpPr>
          <p:cNvPr id="12" name="Rectangle 11">
            <a:extLst>
              <a:ext uri="{FF2B5EF4-FFF2-40B4-BE49-F238E27FC236}">
                <a16:creationId xmlns:a16="http://schemas.microsoft.com/office/drawing/2014/main" id="{4B287730-8A0F-EDC6-4C33-F05E2D1420D9}"/>
              </a:ext>
            </a:extLst>
          </p:cNvPr>
          <p:cNvSpPr/>
          <p:nvPr/>
        </p:nvSpPr>
        <p:spPr>
          <a:xfrm>
            <a:off x="378987" y="2957658"/>
            <a:ext cx="15775412" cy="271924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H"/>
          </a:p>
        </p:txBody>
      </p:sp>
      <p:pic>
        <p:nvPicPr>
          <p:cNvPr id="10" name="Picture 9">
            <a:extLst>
              <a:ext uri="{FF2B5EF4-FFF2-40B4-BE49-F238E27FC236}">
                <a16:creationId xmlns:a16="http://schemas.microsoft.com/office/drawing/2014/main" id="{3146ECED-3168-CFEA-EDFB-A7F2E96769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0400" y="-1562100"/>
            <a:ext cx="15117373" cy="16076924"/>
          </a:xfrm>
          <a:prstGeom prst="rect">
            <a:avLst/>
          </a:prstGeom>
        </p:spPr>
      </p:pic>
      <p:sp>
        <p:nvSpPr>
          <p:cNvPr id="13" name="Arrow: Right 12">
            <a:extLst>
              <a:ext uri="{FF2B5EF4-FFF2-40B4-BE49-F238E27FC236}">
                <a16:creationId xmlns:a16="http://schemas.microsoft.com/office/drawing/2014/main" id="{92EB037D-B7FA-1279-FD27-597BCB41FC8C}"/>
              </a:ext>
            </a:extLst>
          </p:cNvPr>
          <p:cNvSpPr/>
          <p:nvPr/>
        </p:nvSpPr>
        <p:spPr>
          <a:xfrm>
            <a:off x="8686800" y="3347501"/>
            <a:ext cx="1219200" cy="567393"/>
          </a:xfrm>
          <a:prstGeom prst="rightArrow">
            <a:avLst>
              <a:gd name="adj1" fmla="val 50000"/>
              <a:gd name="adj2" fmla="val 76860"/>
            </a:avLst>
          </a:prstGeom>
          <a:solidFill>
            <a:srgbClr val="FFF56E"/>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32601620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B8BF771-2451-A9E9-C5D2-9598B2809DED}"/>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E9BAE486-CB9B-7A31-05F8-694716EA99F2}"/>
              </a:ext>
            </a:extLst>
          </p:cNvPr>
          <p:cNvSpPr txBox="1"/>
          <p:nvPr/>
        </p:nvSpPr>
        <p:spPr>
          <a:xfrm>
            <a:off x="693420" y="2506220"/>
            <a:ext cx="16901160" cy="3077766"/>
          </a:xfrm>
          <a:prstGeom prst="rect">
            <a:avLst/>
          </a:prstGeom>
        </p:spPr>
        <p:txBody>
          <a:bodyPr wrap="square" lIns="0" tIns="0" rIns="0" bIns="0" rtlCol="0" anchor="t">
            <a:spAutoFit/>
          </a:bodyPr>
          <a:lstStyle/>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Node: The basic unit containing data.</a:t>
            </a:r>
          </a:p>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Root(Node): The top-most node (no parent).</a:t>
            </a:r>
          </a:p>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Leaf: A node with no children.</a:t>
            </a:r>
          </a:p>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Height: The number of edges on the longest path from the node to a leaf.</a:t>
            </a:r>
          </a:p>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Depth: The number of edges from the root to the node.</a:t>
            </a:r>
            <a:endParaRPr lang="en-US" sz="6600" b="1" dirty="0">
              <a:solidFill>
                <a:srgbClr val="FFF56E"/>
              </a:solidFill>
              <a:latin typeface="Bahnschrift" panose="020B0502040204020203" pitchFamily="34" charset="0"/>
              <a:ea typeface="Heading Now 31-38 Bold"/>
              <a:cs typeface="Heading Now 31-38 Bold"/>
              <a:sym typeface="Heading Now 31-38 Bold"/>
            </a:endParaRPr>
          </a:p>
        </p:txBody>
      </p:sp>
      <p:sp>
        <p:nvSpPr>
          <p:cNvPr id="2" name="Rectangle 1">
            <a:extLst>
              <a:ext uri="{FF2B5EF4-FFF2-40B4-BE49-F238E27FC236}">
                <a16:creationId xmlns:a16="http://schemas.microsoft.com/office/drawing/2014/main" id="{234932A9-4F59-9FE8-65F6-126651E8F5D9}"/>
              </a:ext>
            </a:extLst>
          </p:cNvPr>
          <p:cNvSpPr/>
          <p:nvPr/>
        </p:nvSpPr>
        <p:spPr>
          <a:xfrm>
            <a:off x="548640" y="367236"/>
            <a:ext cx="15775412" cy="271924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8F62E11B-8CE3-9914-A1E1-24C5803597FE}"/>
              </a:ext>
            </a:extLst>
          </p:cNvPr>
          <p:cNvSpPr/>
          <p:nvPr/>
        </p:nvSpPr>
        <p:spPr>
          <a:xfrm>
            <a:off x="302787" y="190500"/>
            <a:ext cx="76200" cy="2000932"/>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TextBox 3">
            <a:extLst>
              <a:ext uri="{FF2B5EF4-FFF2-40B4-BE49-F238E27FC236}">
                <a16:creationId xmlns:a16="http://schemas.microsoft.com/office/drawing/2014/main" id="{943B9F69-C9B7-F3E5-5EEF-7824A1ACB605}"/>
              </a:ext>
            </a:extLst>
          </p:cNvPr>
          <p:cNvSpPr txBox="1"/>
          <p:nvPr/>
        </p:nvSpPr>
        <p:spPr>
          <a:xfrm>
            <a:off x="502920" y="1726857"/>
            <a:ext cx="20271213" cy="847155"/>
          </a:xfrm>
          <a:prstGeom prst="rect">
            <a:avLst/>
          </a:prstGeom>
        </p:spPr>
        <p:txBody>
          <a:bodyPr wrap="square" lIns="0" tIns="0" rIns="0" bIns="0" rtlCol="0" anchor="t">
            <a:spAutoFit/>
          </a:bodyPr>
          <a:lstStyle/>
          <a:p>
            <a:pPr>
              <a:lnSpc>
                <a:spcPts val="5059"/>
              </a:lnSpc>
            </a:pPr>
            <a:r>
              <a:rPr lang="en-US" sz="11500" b="1" dirty="0">
                <a:solidFill>
                  <a:srgbClr val="FFF56E"/>
                </a:solidFill>
                <a:latin typeface="Heading Now 31-38 Bold"/>
                <a:ea typeface="Heading Now 31-38 Bold"/>
                <a:cs typeface="Heading Now 31-38 Bold"/>
                <a:sym typeface="Heading Now 31-38 Bold"/>
              </a:rPr>
              <a:t>TERMINOLOGIES</a:t>
            </a:r>
          </a:p>
        </p:txBody>
      </p:sp>
      <p:sp>
        <p:nvSpPr>
          <p:cNvPr id="12" name="Rectangle 11">
            <a:extLst>
              <a:ext uri="{FF2B5EF4-FFF2-40B4-BE49-F238E27FC236}">
                <a16:creationId xmlns:a16="http://schemas.microsoft.com/office/drawing/2014/main" id="{E00CF8EE-E54E-BA9C-E810-87320585E1D1}"/>
              </a:ext>
            </a:extLst>
          </p:cNvPr>
          <p:cNvSpPr/>
          <p:nvPr/>
        </p:nvSpPr>
        <p:spPr>
          <a:xfrm>
            <a:off x="363747" y="3695700"/>
            <a:ext cx="15775412" cy="271924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H"/>
          </a:p>
        </p:txBody>
      </p:sp>
      <p:pic>
        <p:nvPicPr>
          <p:cNvPr id="10" name="Picture 9">
            <a:extLst>
              <a:ext uri="{FF2B5EF4-FFF2-40B4-BE49-F238E27FC236}">
                <a16:creationId xmlns:a16="http://schemas.microsoft.com/office/drawing/2014/main" id="{B2846567-50CA-6D3C-034B-3BB45911BF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0200" y="1881302"/>
            <a:ext cx="15117373" cy="16076924"/>
          </a:xfrm>
          <a:prstGeom prst="rect">
            <a:avLst/>
          </a:prstGeom>
        </p:spPr>
      </p:pic>
      <p:sp>
        <p:nvSpPr>
          <p:cNvPr id="13" name="Arrow: Right 12">
            <a:extLst>
              <a:ext uri="{FF2B5EF4-FFF2-40B4-BE49-F238E27FC236}">
                <a16:creationId xmlns:a16="http://schemas.microsoft.com/office/drawing/2014/main" id="{B739D111-E0DD-324D-3E09-91140B0ACA16}"/>
              </a:ext>
            </a:extLst>
          </p:cNvPr>
          <p:cNvSpPr/>
          <p:nvPr/>
        </p:nvSpPr>
        <p:spPr>
          <a:xfrm rot="10800000">
            <a:off x="14173200" y="3305623"/>
            <a:ext cx="1219200" cy="567393"/>
          </a:xfrm>
          <a:prstGeom prst="rightArrow">
            <a:avLst>
              <a:gd name="adj1" fmla="val 50000"/>
              <a:gd name="adj2" fmla="val 76860"/>
            </a:avLst>
          </a:prstGeom>
          <a:solidFill>
            <a:srgbClr val="FFF56E"/>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32848326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17D5DE4-BA59-0BB6-CAF1-82A4131A2682}"/>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475287EC-5E7D-CFA3-4770-28281D94F615}"/>
              </a:ext>
            </a:extLst>
          </p:cNvPr>
          <p:cNvSpPr txBox="1"/>
          <p:nvPr/>
        </p:nvSpPr>
        <p:spPr>
          <a:xfrm>
            <a:off x="693420" y="2506220"/>
            <a:ext cx="16901160" cy="3077766"/>
          </a:xfrm>
          <a:prstGeom prst="rect">
            <a:avLst/>
          </a:prstGeom>
        </p:spPr>
        <p:txBody>
          <a:bodyPr wrap="square" lIns="0" tIns="0" rIns="0" bIns="0" rtlCol="0" anchor="t">
            <a:spAutoFit/>
          </a:bodyPr>
          <a:lstStyle/>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Node: The basic unit containing data.</a:t>
            </a:r>
          </a:p>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Root(Node): The top-most node (no parent).</a:t>
            </a:r>
          </a:p>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Leaf: A node with no children.</a:t>
            </a:r>
          </a:p>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Height: The number of edges on the longest path from the node to a leaf.</a:t>
            </a:r>
          </a:p>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Depth: The number of edges from the root to the node.</a:t>
            </a:r>
            <a:endParaRPr lang="en-US" sz="6600" b="1" dirty="0">
              <a:solidFill>
                <a:srgbClr val="FFF56E"/>
              </a:solidFill>
              <a:latin typeface="Bahnschrift" panose="020B0502040204020203" pitchFamily="34" charset="0"/>
              <a:ea typeface="Heading Now 31-38 Bold"/>
              <a:cs typeface="Heading Now 31-38 Bold"/>
              <a:sym typeface="Heading Now 31-38 Bold"/>
            </a:endParaRPr>
          </a:p>
        </p:txBody>
      </p:sp>
      <p:sp>
        <p:nvSpPr>
          <p:cNvPr id="2" name="Rectangle 1">
            <a:extLst>
              <a:ext uri="{FF2B5EF4-FFF2-40B4-BE49-F238E27FC236}">
                <a16:creationId xmlns:a16="http://schemas.microsoft.com/office/drawing/2014/main" id="{71B4D4CF-27F6-F052-C909-D2B694F655BD}"/>
              </a:ext>
            </a:extLst>
          </p:cNvPr>
          <p:cNvSpPr/>
          <p:nvPr/>
        </p:nvSpPr>
        <p:spPr>
          <a:xfrm>
            <a:off x="416380" y="1069377"/>
            <a:ext cx="15775412" cy="271924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3DF1093C-4C7F-46D9-E5C4-D6C822161FAB}"/>
              </a:ext>
            </a:extLst>
          </p:cNvPr>
          <p:cNvSpPr/>
          <p:nvPr/>
        </p:nvSpPr>
        <p:spPr>
          <a:xfrm>
            <a:off x="302787" y="190500"/>
            <a:ext cx="76200" cy="2000932"/>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TextBox 3">
            <a:extLst>
              <a:ext uri="{FF2B5EF4-FFF2-40B4-BE49-F238E27FC236}">
                <a16:creationId xmlns:a16="http://schemas.microsoft.com/office/drawing/2014/main" id="{55A3EBCD-A0B9-1345-4182-8EFA70B1D4E5}"/>
              </a:ext>
            </a:extLst>
          </p:cNvPr>
          <p:cNvSpPr txBox="1"/>
          <p:nvPr/>
        </p:nvSpPr>
        <p:spPr>
          <a:xfrm>
            <a:off x="502920" y="1726857"/>
            <a:ext cx="20271213" cy="847155"/>
          </a:xfrm>
          <a:prstGeom prst="rect">
            <a:avLst/>
          </a:prstGeom>
        </p:spPr>
        <p:txBody>
          <a:bodyPr wrap="square" lIns="0" tIns="0" rIns="0" bIns="0" rtlCol="0" anchor="t">
            <a:spAutoFit/>
          </a:bodyPr>
          <a:lstStyle/>
          <a:p>
            <a:pPr>
              <a:lnSpc>
                <a:spcPts val="5059"/>
              </a:lnSpc>
            </a:pPr>
            <a:r>
              <a:rPr lang="en-US" sz="11500" b="1" dirty="0">
                <a:solidFill>
                  <a:srgbClr val="FFF56E"/>
                </a:solidFill>
                <a:latin typeface="Heading Now 31-38 Bold"/>
                <a:ea typeface="Heading Now 31-38 Bold"/>
                <a:cs typeface="Heading Now 31-38 Bold"/>
                <a:sym typeface="Heading Now 31-38 Bold"/>
              </a:rPr>
              <a:t>TERMINOLOGIES</a:t>
            </a:r>
          </a:p>
        </p:txBody>
      </p:sp>
      <p:sp>
        <p:nvSpPr>
          <p:cNvPr id="12" name="Rectangle 11">
            <a:extLst>
              <a:ext uri="{FF2B5EF4-FFF2-40B4-BE49-F238E27FC236}">
                <a16:creationId xmlns:a16="http://schemas.microsoft.com/office/drawing/2014/main" id="{364A3355-63DA-273A-8A08-D6EEA7B1A51A}"/>
              </a:ext>
            </a:extLst>
          </p:cNvPr>
          <p:cNvSpPr/>
          <p:nvPr/>
        </p:nvSpPr>
        <p:spPr>
          <a:xfrm>
            <a:off x="378987" y="4299690"/>
            <a:ext cx="15775412" cy="271924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H"/>
          </a:p>
        </p:txBody>
      </p:sp>
      <p:pic>
        <p:nvPicPr>
          <p:cNvPr id="10" name="Picture 9">
            <a:extLst>
              <a:ext uri="{FF2B5EF4-FFF2-40B4-BE49-F238E27FC236}">
                <a16:creationId xmlns:a16="http://schemas.microsoft.com/office/drawing/2014/main" id="{71804A24-CCB6-93BA-27DC-915212A65F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24113" y="-2894962"/>
            <a:ext cx="15117373" cy="16076924"/>
          </a:xfrm>
          <a:prstGeom prst="rect">
            <a:avLst/>
          </a:prstGeom>
        </p:spPr>
      </p:pic>
      <p:sp>
        <p:nvSpPr>
          <p:cNvPr id="13" name="Arrow: Right 12">
            <a:extLst>
              <a:ext uri="{FF2B5EF4-FFF2-40B4-BE49-F238E27FC236}">
                <a16:creationId xmlns:a16="http://schemas.microsoft.com/office/drawing/2014/main" id="{F07640E2-301C-42D4-8F00-7D8675B97A26}"/>
              </a:ext>
            </a:extLst>
          </p:cNvPr>
          <p:cNvSpPr/>
          <p:nvPr/>
        </p:nvSpPr>
        <p:spPr>
          <a:xfrm rot="20700000">
            <a:off x="6614513" y="6692578"/>
            <a:ext cx="1219200" cy="567393"/>
          </a:xfrm>
          <a:prstGeom prst="rightArrow">
            <a:avLst>
              <a:gd name="adj1" fmla="val 50000"/>
              <a:gd name="adj2" fmla="val 76860"/>
            </a:avLst>
          </a:prstGeom>
          <a:solidFill>
            <a:srgbClr val="FFF56E"/>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35317510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2E6F9C0-60F6-F118-0F7A-A717CAD2BCBB}"/>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7EA81512-66AB-5890-7B4D-CE0B42237410}"/>
              </a:ext>
            </a:extLst>
          </p:cNvPr>
          <p:cNvSpPr txBox="1"/>
          <p:nvPr/>
        </p:nvSpPr>
        <p:spPr>
          <a:xfrm>
            <a:off x="693420" y="1790700"/>
            <a:ext cx="16901160" cy="4339650"/>
          </a:xfrm>
          <a:prstGeom prst="rect">
            <a:avLst/>
          </a:prstGeom>
        </p:spPr>
        <p:txBody>
          <a:bodyPr wrap="square" lIns="0" tIns="0" rIns="0" bIns="0" rtlCol="0" anchor="t">
            <a:spAutoFit/>
          </a:bodyPr>
          <a:lstStyle/>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Node: The basic unit containing data.</a:t>
            </a:r>
          </a:p>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Root(Node): The top-most node (no parent).</a:t>
            </a:r>
          </a:p>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Leaf: A node with no children.</a:t>
            </a:r>
          </a:p>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Height: The number of edges on the </a:t>
            </a:r>
          </a:p>
          <a:p>
            <a:pPr>
              <a:spcBef>
                <a:spcPts val="600"/>
              </a:spcBef>
            </a:pPr>
            <a:r>
              <a:rPr lang="en-US" sz="3600" dirty="0">
                <a:solidFill>
                  <a:srgbClr val="FFF56E"/>
                </a:solidFill>
                <a:latin typeface="Bahnschrift" panose="020B0502040204020203" pitchFamily="34" charset="0"/>
              </a:rPr>
              <a:t>longest path from the node to a leaf.</a:t>
            </a:r>
          </a:p>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Depth: The number of edges from the </a:t>
            </a:r>
          </a:p>
          <a:p>
            <a:pPr>
              <a:spcBef>
                <a:spcPts val="600"/>
              </a:spcBef>
            </a:pPr>
            <a:r>
              <a:rPr lang="en-US" sz="3600" dirty="0">
                <a:solidFill>
                  <a:srgbClr val="FFF56E"/>
                </a:solidFill>
                <a:latin typeface="Bahnschrift" panose="020B0502040204020203" pitchFamily="34" charset="0"/>
              </a:rPr>
              <a:t>root to the node.</a:t>
            </a:r>
            <a:endParaRPr lang="en-US" sz="6600" b="1" dirty="0">
              <a:solidFill>
                <a:srgbClr val="FFF56E"/>
              </a:solidFill>
              <a:latin typeface="Bahnschrift" panose="020B0502040204020203" pitchFamily="34" charset="0"/>
              <a:ea typeface="Heading Now 31-38 Bold"/>
              <a:cs typeface="Heading Now 31-38 Bold"/>
              <a:sym typeface="Heading Now 31-38 Bold"/>
            </a:endParaRPr>
          </a:p>
        </p:txBody>
      </p:sp>
      <p:sp>
        <p:nvSpPr>
          <p:cNvPr id="2" name="Rectangle 1">
            <a:extLst>
              <a:ext uri="{FF2B5EF4-FFF2-40B4-BE49-F238E27FC236}">
                <a16:creationId xmlns:a16="http://schemas.microsoft.com/office/drawing/2014/main" id="{4199FFAD-2754-A14B-F0DB-92842838444B}"/>
              </a:ext>
            </a:extLst>
          </p:cNvPr>
          <p:cNvSpPr/>
          <p:nvPr/>
        </p:nvSpPr>
        <p:spPr>
          <a:xfrm>
            <a:off x="416380" y="-647699"/>
            <a:ext cx="15775412" cy="443631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23F261B6-7C9C-E23F-F6DF-D7EE0F55FF7C}"/>
              </a:ext>
            </a:extLst>
          </p:cNvPr>
          <p:cNvSpPr/>
          <p:nvPr/>
        </p:nvSpPr>
        <p:spPr>
          <a:xfrm>
            <a:off x="302787" y="190500"/>
            <a:ext cx="76200" cy="2000932"/>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TextBox 3">
            <a:extLst>
              <a:ext uri="{FF2B5EF4-FFF2-40B4-BE49-F238E27FC236}">
                <a16:creationId xmlns:a16="http://schemas.microsoft.com/office/drawing/2014/main" id="{C62F1C17-A5FD-1FDF-D723-A0CD8475D8C8}"/>
              </a:ext>
            </a:extLst>
          </p:cNvPr>
          <p:cNvSpPr txBox="1"/>
          <p:nvPr/>
        </p:nvSpPr>
        <p:spPr>
          <a:xfrm>
            <a:off x="502920" y="1726857"/>
            <a:ext cx="20271213" cy="847155"/>
          </a:xfrm>
          <a:prstGeom prst="rect">
            <a:avLst/>
          </a:prstGeom>
        </p:spPr>
        <p:txBody>
          <a:bodyPr wrap="square" lIns="0" tIns="0" rIns="0" bIns="0" rtlCol="0" anchor="t">
            <a:spAutoFit/>
          </a:bodyPr>
          <a:lstStyle/>
          <a:p>
            <a:pPr>
              <a:lnSpc>
                <a:spcPts val="5059"/>
              </a:lnSpc>
            </a:pPr>
            <a:r>
              <a:rPr lang="en-US" sz="11500" b="1" dirty="0">
                <a:solidFill>
                  <a:srgbClr val="FFF56E"/>
                </a:solidFill>
                <a:latin typeface="Heading Now 31-38 Bold"/>
                <a:ea typeface="Heading Now 31-38 Bold"/>
                <a:cs typeface="Heading Now 31-38 Bold"/>
                <a:sym typeface="Heading Now 31-38 Bold"/>
              </a:rPr>
              <a:t>TERMINOLOGIES</a:t>
            </a:r>
          </a:p>
        </p:txBody>
      </p:sp>
      <p:sp>
        <p:nvSpPr>
          <p:cNvPr id="12" name="Rectangle 11">
            <a:extLst>
              <a:ext uri="{FF2B5EF4-FFF2-40B4-BE49-F238E27FC236}">
                <a16:creationId xmlns:a16="http://schemas.microsoft.com/office/drawing/2014/main" id="{975E9D09-E239-B016-D53D-E076E8689A13}"/>
              </a:ext>
            </a:extLst>
          </p:cNvPr>
          <p:cNvSpPr/>
          <p:nvPr/>
        </p:nvSpPr>
        <p:spPr>
          <a:xfrm>
            <a:off x="533400" y="4989335"/>
            <a:ext cx="15775412" cy="271924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H"/>
          </a:p>
        </p:txBody>
      </p:sp>
      <p:pic>
        <p:nvPicPr>
          <p:cNvPr id="10" name="Picture 9">
            <a:extLst>
              <a:ext uri="{FF2B5EF4-FFF2-40B4-BE49-F238E27FC236}">
                <a16:creationId xmlns:a16="http://schemas.microsoft.com/office/drawing/2014/main" id="{5729B359-C190-FD82-5F5A-54FBC3436D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35240" y="-155953"/>
            <a:ext cx="10500360" cy="11166853"/>
          </a:xfrm>
          <a:prstGeom prst="rect">
            <a:avLst/>
          </a:prstGeom>
        </p:spPr>
      </p:pic>
      <p:cxnSp>
        <p:nvCxnSpPr>
          <p:cNvPr id="16" name="Straight Connector 15">
            <a:extLst>
              <a:ext uri="{FF2B5EF4-FFF2-40B4-BE49-F238E27FC236}">
                <a16:creationId xmlns:a16="http://schemas.microsoft.com/office/drawing/2014/main" id="{BA05ECDC-8BA4-F1D2-7A84-B72116D6078C}"/>
              </a:ext>
            </a:extLst>
          </p:cNvPr>
          <p:cNvCxnSpPr>
            <a:cxnSpLocks/>
          </p:cNvCxnSpPr>
          <p:nvPr/>
        </p:nvCxnSpPr>
        <p:spPr>
          <a:xfrm flipV="1">
            <a:off x="15697200" y="6896100"/>
            <a:ext cx="535412" cy="152400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BF4FF5F-CB3C-AFB5-2A3D-C8EC177240BC}"/>
              </a:ext>
            </a:extLst>
          </p:cNvPr>
          <p:cNvCxnSpPr>
            <a:cxnSpLocks/>
          </p:cNvCxnSpPr>
          <p:nvPr/>
        </p:nvCxnSpPr>
        <p:spPr>
          <a:xfrm>
            <a:off x="15011400" y="4446098"/>
            <a:ext cx="1034019" cy="1387451"/>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1EEE25E-63BB-75FE-1755-840BCF31381D}"/>
              </a:ext>
            </a:extLst>
          </p:cNvPr>
          <p:cNvCxnSpPr>
            <a:cxnSpLocks/>
          </p:cNvCxnSpPr>
          <p:nvPr/>
        </p:nvCxnSpPr>
        <p:spPr>
          <a:xfrm>
            <a:off x="13030200" y="1790700"/>
            <a:ext cx="914400" cy="121920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TextBox 3">
            <a:extLst>
              <a:ext uri="{FF2B5EF4-FFF2-40B4-BE49-F238E27FC236}">
                <a16:creationId xmlns:a16="http://schemas.microsoft.com/office/drawing/2014/main" id="{81775CE9-88B3-A8E4-FE62-EA4A8030A64A}"/>
              </a:ext>
            </a:extLst>
          </p:cNvPr>
          <p:cNvSpPr txBox="1"/>
          <p:nvPr/>
        </p:nvSpPr>
        <p:spPr>
          <a:xfrm>
            <a:off x="16700236" y="9105900"/>
            <a:ext cx="1435364" cy="369332"/>
          </a:xfrm>
          <a:prstGeom prst="rect">
            <a:avLst/>
          </a:prstGeom>
        </p:spPr>
        <p:txBody>
          <a:bodyPr wrap="square" lIns="0" tIns="0" rIns="0" bIns="0" rtlCol="0" anchor="t">
            <a:spAutoFit/>
          </a:bodyPr>
          <a:lstStyle/>
          <a:p>
            <a:pPr>
              <a:spcBef>
                <a:spcPts val="600"/>
              </a:spcBef>
            </a:pPr>
            <a:r>
              <a:rPr lang="en-US" sz="2400" i="1" dirty="0">
                <a:solidFill>
                  <a:srgbClr val="FFF56E"/>
                </a:solidFill>
                <a:latin typeface="Bahnschrift" panose="020B0502040204020203" pitchFamily="34" charset="0"/>
                <a:ea typeface="Heading Now 31-38 Bold"/>
                <a:cs typeface="Heading Now 31-38 Bold"/>
                <a:sym typeface="Heading Now 31-38 Bold"/>
              </a:rPr>
              <a:t>Height: 0</a:t>
            </a:r>
            <a:endParaRPr lang="en-US" sz="4800" i="1" dirty="0">
              <a:solidFill>
                <a:srgbClr val="FFF56E"/>
              </a:solidFill>
              <a:latin typeface="Bahnschrift" panose="020B0502040204020203" pitchFamily="34" charset="0"/>
              <a:ea typeface="Heading Now 31-38 Bold"/>
              <a:cs typeface="Heading Now 31-38 Bold"/>
              <a:sym typeface="Heading Now 31-38 Bold"/>
            </a:endParaRPr>
          </a:p>
        </p:txBody>
      </p:sp>
      <p:sp>
        <p:nvSpPr>
          <p:cNvPr id="31" name="TextBox 3">
            <a:extLst>
              <a:ext uri="{FF2B5EF4-FFF2-40B4-BE49-F238E27FC236}">
                <a16:creationId xmlns:a16="http://schemas.microsoft.com/office/drawing/2014/main" id="{F78AC210-D793-BE95-10A3-4A206C7E47A8}"/>
              </a:ext>
            </a:extLst>
          </p:cNvPr>
          <p:cNvSpPr txBox="1"/>
          <p:nvPr/>
        </p:nvSpPr>
        <p:spPr>
          <a:xfrm>
            <a:off x="14630400" y="6194193"/>
            <a:ext cx="1239096" cy="369332"/>
          </a:xfrm>
          <a:prstGeom prst="rect">
            <a:avLst/>
          </a:prstGeom>
        </p:spPr>
        <p:txBody>
          <a:bodyPr wrap="square" lIns="0" tIns="0" rIns="0" bIns="0" rtlCol="0" anchor="t">
            <a:spAutoFit/>
          </a:bodyPr>
          <a:lstStyle/>
          <a:p>
            <a:pPr>
              <a:spcBef>
                <a:spcPts val="600"/>
              </a:spcBef>
            </a:pPr>
            <a:r>
              <a:rPr lang="en-US" sz="2400" i="1" dirty="0">
                <a:solidFill>
                  <a:srgbClr val="FFF56E"/>
                </a:solidFill>
                <a:latin typeface="Bahnschrift" panose="020B0502040204020203" pitchFamily="34" charset="0"/>
                <a:ea typeface="Heading Now 31-38 Bold"/>
                <a:cs typeface="Heading Now 31-38 Bold"/>
                <a:sym typeface="Heading Now 31-38 Bold"/>
              </a:rPr>
              <a:t>Height: 1</a:t>
            </a:r>
            <a:endParaRPr lang="en-US" sz="4800" i="1" dirty="0">
              <a:solidFill>
                <a:srgbClr val="FFF56E"/>
              </a:solidFill>
              <a:latin typeface="Bahnschrift" panose="020B0502040204020203" pitchFamily="34" charset="0"/>
              <a:ea typeface="Heading Now 31-38 Bold"/>
              <a:cs typeface="Heading Now 31-38 Bold"/>
              <a:sym typeface="Heading Now 31-38 Bold"/>
            </a:endParaRPr>
          </a:p>
        </p:txBody>
      </p:sp>
      <p:sp>
        <p:nvSpPr>
          <p:cNvPr id="32" name="TextBox 3">
            <a:extLst>
              <a:ext uri="{FF2B5EF4-FFF2-40B4-BE49-F238E27FC236}">
                <a16:creationId xmlns:a16="http://schemas.microsoft.com/office/drawing/2014/main" id="{74891738-A2F1-F965-E351-42C811CDE7F4}"/>
              </a:ext>
            </a:extLst>
          </p:cNvPr>
          <p:cNvSpPr txBox="1"/>
          <p:nvPr/>
        </p:nvSpPr>
        <p:spPr>
          <a:xfrm>
            <a:off x="15528409" y="3400908"/>
            <a:ext cx="1239096" cy="369332"/>
          </a:xfrm>
          <a:prstGeom prst="rect">
            <a:avLst/>
          </a:prstGeom>
        </p:spPr>
        <p:txBody>
          <a:bodyPr wrap="square" lIns="0" tIns="0" rIns="0" bIns="0" rtlCol="0" anchor="t">
            <a:spAutoFit/>
          </a:bodyPr>
          <a:lstStyle/>
          <a:p>
            <a:pPr>
              <a:spcBef>
                <a:spcPts val="600"/>
              </a:spcBef>
            </a:pPr>
            <a:r>
              <a:rPr lang="en-US" sz="2400" i="1" dirty="0">
                <a:solidFill>
                  <a:srgbClr val="FFF56E"/>
                </a:solidFill>
                <a:latin typeface="Bahnschrift" panose="020B0502040204020203" pitchFamily="34" charset="0"/>
                <a:ea typeface="Heading Now 31-38 Bold"/>
                <a:cs typeface="Heading Now 31-38 Bold"/>
                <a:sym typeface="Heading Now 31-38 Bold"/>
              </a:rPr>
              <a:t>Height: 2</a:t>
            </a:r>
            <a:endParaRPr lang="en-US" sz="4800" i="1" dirty="0">
              <a:solidFill>
                <a:srgbClr val="FFF56E"/>
              </a:solidFill>
              <a:latin typeface="Bahnschrift" panose="020B0502040204020203" pitchFamily="34" charset="0"/>
              <a:ea typeface="Heading Now 31-38 Bold"/>
              <a:cs typeface="Heading Now 31-38 Bold"/>
              <a:sym typeface="Heading Now 31-38 Bold"/>
            </a:endParaRPr>
          </a:p>
        </p:txBody>
      </p:sp>
      <p:sp>
        <p:nvSpPr>
          <p:cNvPr id="33" name="TextBox 3">
            <a:extLst>
              <a:ext uri="{FF2B5EF4-FFF2-40B4-BE49-F238E27FC236}">
                <a16:creationId xmlns:a16="http://schemas.microsoft.com/office/drawing/2014/main" id="{F77A8D5A-29F3-F268-6456-D73508A56CB2}"/>
              </a:ext>
            </a:extLst>
          </p:cNvPr>
          <p:cNvSpPr txBox="1"/>
          <p:nvPr/>
        </p:nvSpPr>
        <p:spPr>
          <a:xfrm>
            <a:off x="13487400" y="937146"/>
            <a:ext cx="1239096" cy="369332"/>
          </a:xfrm>
          <a:prstGeom prst="rect">
            <a:avLst/>
          </a:prstGeom>
        </p:spPr>
        <p:txBody>
          <a:bodyPr wrap="square" lIns="0" tIns="0" rIns="0" bIns="0" rtlCol="0" anchor="t">
            <a:spAutoFit/>
          </a:bodyPr>
          <a:lstStyle/>
          <a:p>
            <a:pPr>
              <a:spcBef>
                <a:spcPts val="600"/>
              </a:spcBef>
            </a:pPr>
            <a:r>
              <a:rPr lang="en-US" sz="2400" i="1" dirty="0">
                <a:solidFill>
                  <a:srgbClr val="FFF56E"/>
                </a:solidFill>
                <a:latin typeface="Bahnschrift" panose="020B0502040204020203" pitchFamily="34" charset="0"/>
                <a:ea typeface="Heading Now 31-38 Bold"/>
                <a:cs typeface="Heading Now 31-38 Bold"/>
                <a:sym typeface="Heading Now 31-38 Bold"/>
              </a:rPr>
              <a:t>Height: 3</a:t>
            </a:r>
            <a:endParaRPr lang="en-US" sz="4800" i="1" dirty="0">
              <a:solidFill>
                <a:srgbClr val="FFF56E"/>
              </a:solidFill>
              <a:latin typeface="Bahnschrift" panose="020B0502040204020203" pitchFamily="34" charset="0"/>
              <a:ea typeface="Heading Now 31-38 Bold"/>
              <a:cs typeface="Heading Now 31-38 Bold"/>
              <a:sym typeface="Heading Now 31-38 Bold"/>
            </a:endParaRPr>
          </a:p>
        </p:txBody>
      </p:sp>
    </p:spTree>
    <p:extLst>
      <p:ext uri="{BB962C8B-B14F-4D97-AF65-F5344CB8AC3E}">
        <p14:creationId xmlns:p14="http://schemas.microsoft.com/office/powerpoint/2010/main" val="33501230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down)">
                                      <p:cBhvr>
                                        <p:cTn id="7" dur="500"/>
                                        <p:tgtEl>
                                          <p:spTgt spid="30"/>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down)">
                                      <p:cBhvr>
                                        <p:cTn id="11" dur="500"/>
                                        <p:tgtEl>
                                          <p:spTgt spid="16"/>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wipe(down)">
                                      <p:cBhvr>
                                        <p:cTn id="15" dur="500"/>
                                        <p:tgtEl>
                                          <p:spTgt spid="31"/>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wipe(down)">
                                      <p:cBhvr>
                                        <p:cTn id="19" dur="500"/>
                                        <p:tgtEl>
                                          <p:spTgt spid="22"/>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wipe(down)">
                                      <p:cBhvr>
                                        <p:cTn id="23" dur="500"/>
                                        <p:tgtEl>
                                          <p:spTgt spid="32"/>
                                        </p:tgtEl>
                                      </p:cBhvr>
                                    </p:animEffect>
                                  </p:childTnLst>
                                </p:cTn>
                              </p:par>
                            </p:childTnLst>
                          </p:cTn>
                        </p:par>
                        <p:par>
                          <p:cTn id="24" fill="hold">
                            <p:stCondLst>
                              <p:cond delay="2500"/>
                            </p:stCondLst>
                            <p:childTnLst>
                              <p:par>
                                <p:cTn id="25" presetID="22" presetClass="entr" presetSubtype="4" fill="hold"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down)">
                                      <p:cBhvr>
                                        <p:cTn id="27" dur="500"/>
                                        <p:tgtEl>
                                          <p:spTgt spid="26"/>
                                        </p:tgtEl>
                                      </p:cBhvr>
                                    </p:animEffect>
                                  </p:childTnLst>
                                </p:cTn>
                              </p:par>
                            </p:childTnLst>
                          </p:cTn>
                        </p:par>
                        <p:par>
                          <p:cTn id="28" fill="hold">
                            <p:stCondLst>
                              <p:cond delay="3000"/>
                            </p:stCondLst>
                            <p:childTnLst>
                              <p:par>
                                <p:cTn id="29" presetID="22" presetClass="entr" presetSubtype="4" fill="hold" grpId="0" nodeType="after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wipe(down)">
                                      <p:cBhvr>
                                        <p:cTn id="3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2" grpId="0"/>
      <p:bldP spid="33" grpId="0"/>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4E11E85-3056-8504-1EF8-F0756C036A49}"/>
            </a:ext>
          </a:extLst>
        </p:cNvPr>
        <p:cNvGrpSpPr/>
        <p:nvPr/>
      </p:nvGrpSpPr>
      <p:grpSpPr>
        <a:xfrm>
          <a:off x="0" y="0"/>
          <a:ext cx="0" cy="0"/>
          <a:chOff x="0" y="0"/>
          <a:chExt cx="0" cy="0"/>
        </a:xfrm>
      </p:grpSpPr>
      <p:sp>
        <p:nvSpPr>
          <p:cNvPr id="7" name="TextBox 3">
            <a:extLst>
              <a:ext uri="{FF2B5EF4-FFF2-40B4-BE49-F238E27FC236}">
                <a16:creationId xmlns:a16="http://schemas.microsoft.com/office/drawing/2014/main" id="{DC86FF59-5D77-DEE9-A4D7-50146AC65CCB}"/>
              </a:ext>
            </a:extLst>
          </p:cNvPr>
          <p:cNvSpPr txBox="1"/>
          <p:nvPr/>
        </p:nvSpPr>
        <p:spPr>
          <a:xfrm>
            <a:off x="693420" y="-571501"/>
            <a:ext cx="16901160" cy="4339650"/>
          </a:xfrm>
          <a:prstGeom prst="rect">
            <a:avLst/>
          </a:prstGeom>
        </p:spPr>
        <p:txBody>
          <a:bodyPr wrap="square" lIns="0" tIns="0" rIns="0" bIns="0" rtlCol="0" anchor="t">
            <a:spAutoFit/>
          </a:bodyPr>
          <a:lstStyle/>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Node: The basic unit containing data.</a:t>
            </a:r>
          </a:p>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Root(Node): The top-most node (no parent).</a:t>
            </a:r>
          </a:p>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Leaf: A node with no children.</a:t>
            </a:r>
          </a:p>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Height: The number of edges on the </a:t>
            </a:r>
          </a:p>
          <a:p>
            <a:pPr>
              <a:spcBef>
                <a:spcPts val="600"/>
              </a:spcBef>
            </a:pPr>
            <a:r>
              <a:rPr lang="en-US" sz="3600" dirty="0">
                <a:solidFill>
                  <a:srgbClr val="FFF56E"/>
                </a:solidFill>
                <a:latin typeface="Bahnschrift" panose="020B0502040204020203" pitchFamily="34" charset="0"/>
              </a:rPr>
              <a:t>longest path from the node to a leaf.</a:t>
            </a:r>
          </a:p>
          <a:p>
            <a:pPr marL="571500" indent="-571500">
              <a:spcBef>
                <a:spcPts val="600"/>
              </a:spcBef>
              <a:buFont typeface="Arial" panose="020B0604020202020204" pitchFamily="34" charset="0"/>
              <a:buChar char="•"/>
            </a:pPr>
            <a:r>
              <a:rPr lang="en-US" sz="3600" dirty="0">
                <a:solidFill>
                  <a:srgbClr val="FFF56E"/>
                </a:solidFill>
                <a:latin typeface="Bahnschrift" panose="020B0502040204020203" pitchFamily="34" charset="0"/>
              </a:rPr>
              <a:t>Depth: The number of edges from the </a:t>
            </a:r>
          </a:p>
          <a:p>
            <a:pPr>
              <a:spcBef>
                <a:spcPts val="600"/>
              </a:spcBef>
            </a:pPr>
            <a:r>
              <a:rPr lang="en-US" sz="3600" dirty="0">
                <a:solidFill>
                  <a:srgbClr val="FFF56E"/>
                </a:solidFill>
                <a:latin typeface="Bahnschrift" panose="020B0502040204020203" pitchFamily="34" charset="0"/>
              </a:rPr>
              <a:t>root to the node.</a:t>
            </a:r>
            <a:endParaRPr lang="en-US" sz="6600" b="1" dirty="0">
              <a:solidFill>
                <a:srgbClr val="FFF56E"/>
              </a:solidFill>
              <a:latin typeface="Bahnschrift" panose="020B0502040204020203" pitchFamily="34" charset="0"/>
              <a:ea typeface="Heading Now 31-38 Bold"/>
              <a:cs typeface="Heading Now 31-38 Bold"/>
              <a:sym typeface="Heading Now 31-38 Bold"/>
            </a:endParaRPr>
          </a:p>
        </p:txBody>
      </p:sp>
      <p:sp>
        <p:nvSpPr>
          <p:cNvPr id="2" name="Rectangle 1">
            <a:extLst>
              <a:ext uri="{FF2B5EF4-FFF2-40B4-BE49-F238E27FC236}">
                <a16:creationId xmlns:a16="http://schemas.microsoft.com/office/drawing/2014/main" id="{860949EA-53FC-CA86-90BA-2FFACB1BE089}"/>
              </a:ext>
            </a:extLst>
          </p:cNvPr>
          <p:cNvSpPr/>
          <p:nvPr/>
        </p:nvSpPr>
        <p:spPr>
          <a:xfrm>
            <a:off x="416380" y="-1790700"/>
            <a:ext cx="15775412" cy="443631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H"/>
          </a:p>
        </p:txBody>
      </p:sp>
      <p:sp>
        <p:nvSpPr>
          <p:cNvPr id="3" name="Rectangle 2">
            <a:extLst>
              <a:ext uri="{FF2B5EF4-FFF2-40B4-BE49-F238E27FC236}">
                <a16:creationId xmlns:a16="http://schemas.microsoft.com/office/drawing/2014/main" id="{21B4C091-3A40-EC1C-47EE-5ABB89D7D0B1}"/>
              </a:ext>
            </a:extLst>
          </p:cNvPr>
          <p:cNvSpPr/>
          <p:nvPr/>
        </p:nvSpPr>
        <p:spPr>
          <a:xfrm>
            <a:off x="302787" y="190500"/>
            <a:ext cx="76200" cy="2000932"/>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TextBox 3">
            <a:extLst>
              <a:ext uri="{FF2B5EF4-FFF2-40B4-BE49-F238E27FC236}">
                <a16:creationId xmlns:a16="http://schemas.microsoft.com/office/drawing/2014/main" id="{44C41498-9E81-90F8-EB97-8C8869F03CD7}"/>
              </a:ext>
            </a:extLst>
          </p:cNvPr>
          <p:cNvSpPr txBox="1"/>
          <p:nvPr/>
        </p:nvSpPr>
        <p:spPr>
          <a:xfrm>
            <a:off x="502920" y="1726857"/>
            <a:ext cx="20271213" cy="847155"/>
          </a:xfrm>
          <a:prstGeom prst="rect">
            <a:avLst/>
          </a:prstGeom>
        </p:spPr>
        <p:txBody>
          <a:bodyPr wrap="square" lIns="0" tIns="0" rIns="0" bIns="0" rtlCol="0" anchor="t">
            <a:spAutoFit/>
          </a:bodyPr>
          <a:lstStyle/>
          <a:p>
            <a:pPr>
              <a:lnSpc>
                <a:spcPts val="5059"/>
              </a:lnSpc>
            </a:pPr>
            <a:r>
              <a:rPr lang="en-US" sz="11500" b="1" dirty="0">
                <a:solidFill>
                  <a:srgbClr val="FFF56E"/>
                </a:solidFill>
                <a:latin typeface="Heading Now 31-38 Bold"/>
                <a:ea typeface="Heading Now 31-38 Bold"/>
                <a:cs typeface="Heading Now 31-38 Bold"/>
                <a:sym typeface="Heading Now 31-38 Bold"/>
              </a:rPr>
              <a:t>TERMINOLOGIES</a:t>
            </a:r>
          </a:p>
        </p:txBody>
      </p:sp>
      <p:sp>
        <p:nvSpPr>
          <p:cNvPr id="12" name="Rectangle 11">
            <a:extLst>
              <a:ext uri="{FF2B5EF4-FFF2-40B4-BE49-F238E27FC236}">
                <a16:creationId xmlns:a16="http://schemas.microsoft.com/office/drawing/2014/main" id="{CB92141A-62A8-874F-4BDD-DC8BC9F859F1}"/>
              </a:ext>
            </a:extLst>
          </p:cNvPr>
          <p:cNvSpPr/>
          <p:nvPr/>
        </p:nvSpPr>
        <p:spPr>
          <a:xfrm>
            <a:off x="533400" y="3846334"/>
            <a:ext cx="15775412" cy="271924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H"/>
          </a:p>
        </p:txBody>
      </p:sp>
      <p:pic>
        <p:nvPicPr>
          <p:cNvPr id="10" name="Picture 9">
            <a:extLst>
              <a:ext uri="{FF2B5EF4-FFF2-40B4-BE49-F238E27FC236}">
                <a16:creationId xmlns:a16="http://schemas.microsoft.com/office/drawing/2014/main" id="{C380CA8A-8094-4C65-31F3-5940410F5C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35240" y="-155953"/>
            <a:ext cx="10500360" cy="11166853"/>
          </a:xfrm>
          <a:prstGeom prst="rect">
            <a:avLst/>
          </a:prstGeom>
        </p:spPr>
      </p:pic>
      <p:cxnSp>
        <p:nvCxnSpPr>
          <p:cNvPr id="16" name="Straight Connector 15">
            <a:extLst>
              <a:ext uri="{FF2B5EF4-FFF2-40B4-BE49-F238E27FC236}">
                <a16:creationId xmlns:a16="http://schemas.microsoft.com/office/drawing/2014/main" id="{24AD84AD-604C-279E-20D9-643C59812CB0}"/>
              </a:ext>
            </a:extLst>
          </p:cNvPr>
          <p:cNvCxnSpPr>
            <a:cxnSpLocks/>
          </p:cNvCxnSpPr>
          <p:nvPr/>
        </p:nvCxnSpPr>
        <p:spPr>
          <a:xfrm flipV="1">
            <a:off x="16078200" y="7124700"/>
            <a:ext cx="457200" cy="137160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438D4A6-5805-2D79-4539-0295C06E1481}"/>
              </a:ext>
            </a:extLst>
          </p:cNvPr>
          <p:cNvCxnSpPr>
            <a:cxnSpLocks/>
          </p:cNvCxnSpPr>
          <p:nvPr/>
        </p:nvCxnSpPr>
        <p:spPr>
          <a:xfrm>
            <a:off x="15240000" y="4183697"/>
            <a:ext cx="1066800" cy="1348760"/>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7A5A768-D5C8-06C6-CE92-0F4965773E22}"/>
              </a:ext>
            </a:extLst>
          </p:cNvPr>
          <p:cNvCxnSpPr>
            <a:cxnSpLocks/>
          </p:cNvCxnSpPr>
          <p:nvPr/>
        </p:nvCxnSpPr>
        <p:spPr>
          <a:xfrm>
            <a:off x="13335000" y="1562100"/>
            <a:ext cx="990600" cy="125917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sp>
        <p:nvSpPr>
          <p:cNvPr id="30" name="TextBox 3">
            <a:extLst>
              <a:ext uri="{FF2B5EF4-FFF2-40B4-BE49-F238E27FC236}">
                <a16:creationId xmlns:a16="http://schemas.microsoft.com/office/drawing/2014/main" id="{0438B63E-25B8-6768-687D-A740D6EC4F15}"/>
              </a:ext>
            </a:extLst>
          </p:cNvPr>
          <p:cNvSpPr txBox="1"/>
          <p:nvPr/>
        </p:nvSpPr>
        <p:spPr>
          <a:xfrm>
            <a:off x="16700236" y="9105900"/>
            <a:ext cx="1435364" cy="369332"/>
          </a:xfrm>
          <a:prstGeom prst="rect">
            <a:avLst/>
          </a:prstGeom>
        </p:spPr>
        <p:txBody>
          <a:bodyPr wrap="square" lIns="0" tIns="0" rIns="0" bIns="0" rtlCol="0" anchor="t">
            <a:spAutoFit/>
          </a:bodyPr>
          <a:lstStyle/>
          <a:p>
            <a:pPr>
              <a:spcBef>
                <a:spcPts val="600"/>
              </a:spcBef>
            </a:pPr>
            <a:r>
              <a:rPr lang="en-US" sz="2400" i="1" dirty="0">
                <a:solidFill>
                  <a:srgbClr val="FFF56E"/>
                </a:solidFill>
                <a:latin typeface="Bahnschrift" panose="020B0502040204020203" pitchFamily="34" charset="0"/>
                <a:ea typeface="Heading Now 31-38 Bold"/>
                <a:cs typeface="Heading Now 31-38 Bold"/>
                <a:sym typeface="Heading Now 31-38 Bold"/>
              </a:rPr>
              <a:t>Depth: 3 </a:t>
            </a:r>
            <a:endParaRPr lang="en-US" sz="4800" i="1" dirty="0">
              <a:solidFill>
                <a:srgbClr val="FFF56E"/>
              </a:solidFill>
              <a:latin typeface="Bahnschrift" panose="020B0502040204020203" pitchFamily="34" charset="0"/>
              <a:ea typeface="Heading Now 31-38 Bold"/>
              <a:cs typeface="Heading Now 31-38 Bold"/>
              <a:sym typeface="Heading Now 31-38 Bold"/>
            </a:endParaRPr>
          </a:p>
        </p:txBody>
      </p:sp>
      <p:sp>
        <p:nvSpPr>
          <p:cNvPr id="31" name="TextBox 3">
            <a:extLst>
              <a:ext uri="{FF2B5EF4-FFF2-40B4-BE49-F238E27FC236}">
                <a16:creationId xmlns:a16="http://schemas.microsoft.com/office/drawing/2014/main" id="{DF1D05EE-9482-3C83-5B43-32CF9D25FE2B}"/>
              </a:ext>
            </a:extLst>
          </p:cNvPr>
          <p:cNvSpPr txBox="1"/>
          <p:nvPr/>
        </p:nvSpPr>
        <p:spPr>
          <a:xfrm>
            <a:off x="14630400" y="6194193"/>
            <a:ext cx="1239096" cy="369332"/>
          </a:xfrm>
          <a:prstGeom prst="rect">
            <a:avLst/>
          </a:prstGeom>
        </p:spPr>
        <p:txBody>
          <a:bodyPr wrap="square" lIns="0" tIns="0" rIns="0" bIns="0" rtlCol="0" anchor="t">
            <a:spAutoFit/>
          </a:bodyPr>
          <a:lstStyle/>
          <a:p>
            <a:pPr>
              <a:spcBef>
                <a:spcPts val="600"/>
              </a:spcBef>
            </a:pPr>
            <a:r>
              <a:rPr lang="en-US" sz="2400" i="1" dirty="0">
                <a:solidFill>
                  <a:srgbClr val="FFF56E"/>
                </a:solidFill>
                <a:latin typeface="Bahnschrift" panose="020B0502040204020203" pitchFamily="34" charset="0"/>
                <a:ea typeface="Heading Now 31-38 Bold"/>
                <a:cs typeface="Heading Now 31-38 Bold"/>
                <a:sym typeface="Heading Now 31-38 Bold"/>
              </a:rPr>
              <a:t>Depth: 2</a:t>
            </a:r>
            <a:endParaRPr lang="en-US" sz="4800" i="1" dirty="0">
              <a:solidFill>
                <a:srgbClr val="FFF56E"/>
              </a:solidFill>
              <a:latin typeface="Bahnschrift" panose="020B0502040204020203" pitchFamily="34" charset="0"/>
              <a:ea typeface="Heading Now 31-38 Bold"/>
              <a:cs typeface="Heading Now 31-38 Bold"/>
              <a:sym typeface="Heading Now 31-38 Bold"/>
            </a:endParaRPr>
          </a:p>
        </p:txBody>
      </p:sp>
      <p:sp>
        <p:nvSpPr>
          <p:cNvPr id="32" name="TextBox 3">
            <a:extLst>
              <a:ext uri="{FF2B5EF4-FFF2-40B4-BE49-F238E27FC236}">
                <a16:creationId xmlns:a16="http://schemas.microsoft.com/office/drawing/2014/main" id="{1D562423-CF13-6524-07E5-93DE989EBBF7}"/>
              </a:ext>
            </a:extLst>
          </p:cNvPr>
          <p:cNvSpPr txBox="1"/>
          <p:nvPr/>
        </p:nvSpPr>
        <p:spPr>
          <a:xfrm>
            <a:off x="15528409" y="3400908"/>
            <a:ext cx="1239096" cy="369332"/>
          </a:xfrm>
          <a:prstGeom prst="rect">
            <a:avLst/>
          </a:prstGeom>
        </p:spPr>
        <p:txBody>
          <a:bodyPr wrap="square" lIns="0" tIns="0" rIns="0" bIns="0" rtlCol="0" anchor="t">
            <a:spAutoFit/>
          </a:bodyPr>
          <a:lstStyle/>
          <a:p>
            <a:pPr>
              <a:spcBef>
                <a:spcPts val="600"/>
              </a:spcBef>
            </a:pPr>
            <a:r>
              <a:rPr lang="en-US" sz="2400" i="1" dirty="0">
                <a:solidFill>
                  <a:srgbClr val="FFF56E"/>
                </a:solidFill>
                <a:latin typeface="Bahnschrift" panose="020B0502040204020203" pitchFamily="34" charset="0"/>
                <a:ea typeface="Heading Now 31-38 Bold"/>
                <a:cs typeface="Heading Now 31-38 Bold"/>
                <a:sym typeface="Heading Now 31-38 Bold"/>
              </a:rPr>
              <a:t>Depth: 1</a:t>
            </a:r>
            <a:endParaRPr lang="en-US" sz="4800" i="1" dirty="0">
              <a:solidFill>
                <a:srgbClr val="FFF56E"/>
              </a:solidFill>
              <a:latin typeface="Bahnschrift" panose="020B0502040204020203" pitchFamily="34" charset="0"/>
              <a:ea typeface="Heading Now 31-38 Bold"/>
              <a:cs typeface="Heading Now 31-38 Bold"/>
              <a:sym typeface="Heading Now 31-38 Bold"/>
            </a:endParaRPr>
          </a:p>
        </p:txBody>
      </p:sp>
      <p:sp>
        <p:nvSpPr>
          <p:cNvPr id="33" name="TextBox 3">
            <a:extLst>
              <a:ext uri="{FF2B5EF4-FFF2-40B4-BE49-F238E27FC236}">
                <a16:creationId xmlns:a16="http://schemas.microsoft.com/office/drawing/2014/main" id="{30ED52CA-2E09-8509-69D1-D77A0F2D0B1D}"/>
              </a:ext>
            </a:extLst>
          </p:cNvPr>
          <p:cNvSpPr txBox="1"/>
          <p:nvPr/>
        </p:nvSpPr>
        <p:spPr>
          <a:xfrm>
            <a:off x="13487400" y="937146"/>
            <a:ext cx="1239096" cy="369332"/>
          </a:xfrm>
          <a:prstGeom prst="rect">
            <a:avLst/>
          </a:prstGeom>
        </p:spPr>
        <p:txBody>
          <a:bodyPr wrap="square" lIns="0" tIns="0" rIns="0" bIns="0" rtlCol="0" anchor="t">
            <a:spAutoFit/>
          </a:bodyPr>
          <a:lstStyle/>
          <a:p>
            <a:pPr>
              <a:spcBef>
                <a:spcPts val="600"/>
              </a:spcBef>
            </a:pPr>
            <a:r>
              <a:rPr lang="en-US" sz="2400" i="1" dirty="0">
                <a:solidFill>
                  <a:srgbClr val="FFF56E"/>
                </a:solidFill>
                <a:latin typeface="Bahnschrift" panose="020B0502040204020203" pitchFamily="34" charset="0"/>
                <a:ea typeface="Heading Now 31-38 Bold"/>
                <a:cs typeface="Heading Now 31-38 Bold"/>
                <a:sym typeface="Heading Now 31-38 Bold"/>
              </a:rPr>
              <a:t>Depth: 0</a:t>
            </a:r>
            <a:endParaRPr lang="en-US" sz="4800" i="1" dirty="0">
              <a:solidFill>
                <a:srgbClr val="FFF56E"/>
              </a:solidFill>
              <a:latin typeface="Bahnschrift" panose="020B0502040204020203" pitchFamily="34" charset="0"/>
              <a:ea typeface="Heading Now 31-38 Bold"/>
              <a:cs typeface="Heading Now 31-38 Bold"/>
              <a:sym typeface="Heading Now 31-38 Bold"/>
            </a:endParaRPr>
          </a:p>
        </p:txBody>
      </p:sp>
    </p:spTree>
    <p:extLst>
      <p:ext uri="{BB962C8B-B14F-4D97-AF65-F5344CB8AC3E}">
        <p14:creationId xmlns:p14="http://schemas.microsoft.com/office/powerpoint/2010/main" val="29050635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up)">
                                      <p:cBhvr>
                                        <p:cTn id="7" dur="500"/>
                                        <p:tgtEl>
                                          <p:spTgt spid="33"/>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wipe(up)">
                                      <p:cBhvr>
                                        <p:cTn id="11" dur="500"/>
                                        <p:tgtEl>
                                          <p:spTgt spid="26"/>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wipe(up)">
                                      <p:cBhvr>
                                        <p:cTn id="15" dur="500"/>
                                        <p:tgtEl>
                                          <p:spTgt spid="32"/>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wipe(up)">
                                      <p:cBhvr>
                                        <p:cTn id="19" dur="500"/>
                                        <p:tgtEl>
                                          <p:spTgt spid="22"/>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wipe(up)">
                                      <p:cBhvr>
                                        <p:cTn id="23" dur="500"/>
                                        <p:tgtEl>
                                          <p:spTgt spid="31"/>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up)">
                                      <p:cBhvr>
                                        <p:cTn id="27" dur="500"/>
                                        <p:tgtEl>
                                          <p:spTgt spid="16"/>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wipe(up)">
                                      <p:cBhvr>
                                        <p:cTn id="3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2" grpId="0"/>
      <p:bldP spid="33" grpId="0"/>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EBA2651-54F2-8A64-BE70-E4C442E72B8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4B51EA6-2261-299D-9365-2A6C1305F04D}"/>
              </a:ext>
            </a:extLst>
          </p:cNvPr>
          <p:cNvSpPr/>
          <p:nvPr/>
        </p:nvSpPr>
        <p:spPr>
          <a:xfrm>
            <a:off x="302787" y="190500"/>
            <a:ext cx="76200" cy="2000932"/>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TextBox 3">
            <a:extLst>
              <a:ext uri="{FF2B5EF4-FFF2-40B4-BE49-F238E27FC236}">
                <a16:creationId xmlns:a16="http://schemas.microsoft.com/office/drawing/2014/main" id="{7FE498EF-E80B-CA64-6ECF-9B51A9553583}"/>
              </a:ext>
            </a:extLst>
          </p:cNvPr>
          <p:cNvSpPr txBox="1"/>
          <p:nvPr/>
        </p:nvSpPr>
        <p:spPr>
          <a:xfrm>
            <a:off x="502920" y="800100"/>
            <a:ext cx="20271213" cy="847155"/>
          </a:xfrm>
          <a:prstGeom prst="rect">
            <a:avLst/>
          </a:prstGeom>
        </p:spPr>
        <p:txBody>
          <a:bodyPr wrap="square" lIns="0" tIns="0" rIns="0" bIns="0" rtlCol="0" anchor="t">
            <a:spAutoFit/>
          </a:bodyPr>
          <a:lstStyle/>
          <a:p>
            <a:pPr>
              <a:lnSpc>
                <a:spcPts val="5059"/>
              </a:lnSpc>
            </a:pPr>
            <a:r>
              <a:rPr lang="en-US" sz="11500" b="1" dirty="0">
                <a:solidFill>
                  <a:srgbClr val="FFF56E"/>
                </a:solidFill>
                <a:latin typeface="Heading Now 31-38 Bold"/>
                <a:ea typeface="Heading Now 31-38 Bold"/>
                <a:cs typeface="Heading Now 31-38 Bold"/>
                <a:sym typeface="Heading Now 31-38 Bold"/>
              </a:rPr>
              <a:t>TERMINOLOGIES</a:t>
            </a:r>
          </a:p>
        </p:txBody>
      </p:sp>
      <p:sp>
        <p:nvSpPr>
          <p:cNvPr id="6" name="TextBox 3">
            <a:extLst>
              <a:ext uri="{FF2B5EF4-FFF2-40B4-BE49-F238E27FC236}">
                <a16:creationId xmlns:a16="http://schemas.microsoft.com/office/drawing/2014/main" id="{F397425B-1ED4-7196-3CE6-CC2CC2240C99}"/>
              </a:ext>
            </a:extLst>
          </p:cNvPr>
          <p:cNvSpPr txBox="1"/>
          <p:nvPr/>
        </p:nvSpPr>
        <p:spPr>
          <a:xfrm>
            <a:off x="8818756" y="3238500"/>
            <a:ext cx="8755380" cy="1015663"/>
          </a:xfrm>
          <a:prstGeom prst="rect">
            <a:avLst/>
          </a:prstGeom>
        </p:spPr>
        <p:txBody>
          <a:bodyPr wrap="square" lIns="0" tIns="0" rIns="0" bIns="0" rtlCol="0" anchor="t">
            <a:spAutoFit/>
          </a:bodyPr>
          <a:lstStyle/>
          <a:p>
            <a:pPr>
              <a:spcBef>
                <a:spcPts val="600"/>
              </a:spcBef>
            </a:pPr>
            <a:r>
              <a:rPr lang="en-US" sz="6600" b="1" dirty="0">
                <a:solidFill>
                  <a:srgbClr val="FFF56E"/>
                </a:solidFill>
                <a:latin typeface="Bahnschrift" panose="020B0502040204020203" pitchFamily="34" charset="0"/>
                <a:ea typeface="Heading Now 31-38 Bold"/>
                <a:cs typeface="Heading Now 31-38 Bold"/>
                <a:sym typeface="Heading Now 31-38 Bold"/>
              </a:rPr>
              <a:t>BINARY SEARCH TREE</a:t>
            </a:r>
          </a:p>
        </p:txBody>
      </p:sp>
      <p:sp>
        <p:nvSpPr>
          <p:cNvPr id="8" name="TextBox 3">
            <a:extLst>
              <a:ext uri="{FF2B5EF4-FFF2-40B4-BE49-F238E27FC236}">
                <a16:creationId xmlns:a16="http://schemas.microsoft.com/office/drawing/2014/main" id="{1D3600AB-575A-6AB6-1957-51EE408540BB}"/>
              </a:ext>
            </a:extLst>
          </p:cNvPr>
          <p:cNvSpPr txBox="1"/>
          <p:nvPr/>
        </p:nvSpPr>
        <p:spPr>
          <a:xfrm>
            <a:off x="8849236" y="4660999"/>
            <a:ext cx="8394048" cy="2616101"/>
          </a:xfrm>
          <a:prstGeom prst="rect">
            <a:avLst/>
          </a:prstGeom>
        </p:spPr>
        <p:txBody>
          <a:bodyPr wrap="square" lIns="0" tIns="0" rIns="0" bIns="0" rtlCol="0" anchor="t">
            <a:spAutoFit/>
          </a:bodyPr>
          <a:lstStyle/>
          <a:p>
            <a:pPr>
              <a:spcBef>
                <a:spcPts val="600"/>
              </a:spcBef>
            </a:pPr>
            <a:r>
              <a:rPr lang="en-US" sz="3200" dirty="0">
                <a:solidFill>
                  <a:srgbClr val="FFF56E"/>
                </a:solidFill>
                <a:latin typeface="Bahnschrift" panose="020B0502040204020203" pitchFamily="34" charset="0"/>
                <a:ea typeface="Heading Now 31-38 Bold"/>
                <a:cs typeface="Heading Now 31-38 Bold"/>
                <a:sym typeface="Heading Now 31-38 Bold"/>
              </a:rPr>
              <a:t>A </a:t>
            </a:r>
            <a:r>
              <a:rPr lang="en-US" sz="3200" b="1" i="1" dirty="0">
                <a:solidFill>
                  <a:srgbClr val="FFF56E"/>
                </a:solidFill>
                <a:latin typeface="Bahnschrift" panose="020B0502040204020203" pitchFamily="34" charset="0"/>
                <a:ea typeface="Heading Now 31-38 Bold"/>
                <a:cs typeface="Heading Now 31-38 Bold"/>
                <a:sym typeface="Heading Now 31-38 Bold"/>
              </a:rPr>
              <a:t>BST</a:t>
            </a:r>
            <a:r>
              <a:rPr lang="en-US" sz="3200" dirty="0">
                <a:solidFill>
                  <a:srgbClr val="FFF56E"/>
                </a:solidFill>
                <a:latin typeface="Bahnschrift" panose="020B0502040204020203" pitchFamily="34" charset="0"/>
                <a:ea typeface="Heading Now 31-38 Bold"/>
                <a:cs typeface="Heading Now 31-38 Bold"/>
                <a:sym typeface="Heading Now 31-38 Bold"/>
              </a:rPr>
              <a:t> is a specialized binary tree where:</a:t>
            </a:r>
          </a:p>
          <a:p>
            <a:pPr marL="857250" indent="-857250">
              <a:spcBef>
                <a:spcPts val="600"/>
              </a:spcBef>
              <a:buFont typeface="Arial" panose="020B0604020202020204" pitchFamily="34" charset="0"/>
              <a:buChar char="•"/>
            </a:pPr>
            <a:r>
              <a:rPr lang="en-US" sz="3200" dirty="0">
                <a:solidFill>
                  <a:srgbClr val="FFF56E"/>
                </a:solidFill>
                <a:latin typeface="Bahnschrift" panose="020B0502040204020203" pitchFamily="34" charset="0"/>
                <a:ea typeface="Heading Now 31-38 Bold"/>
                <a:cs typeface="Heading Now 31-38 Bold"/>
                <a:sym typeface="Heading Now 31-38 Bold"/>
              </a:rPr>
              <a:t>The Left Subtree contains only nodes with keys less than the parent node.</a:t>
            </a:r>
          </a:p>
          <a:p>
            <a:pPr marL="857250" indent="-857250">
              <a:spcBef>
                <a:spcPts val="600"/>
              </a:spcBef>
              <a:buFont typeface="Arial" panose="020B0604020202020204" pitchFamily="34" charset="0"/>
              <a:buChar char="•"/>
            </a:pPr>
            <a:r>
              <a:rPr lang="en-US" sz="3200" dirty="0">
                <a:solidFill>
                  <a:srgbClr val="FFF56E"/>
                </a:solidFill>
                <a:latin typeface="Bahnschrift" panose="020B0502040204020203" pitchFamily="34" charset="0"/>
                <a:ea typeface="Heading Now 31-38 Bold"/>
                <a:cs typeface="Heading Now 31-38 Bold"/>
                <a:sym typeface="Heading Now 31-38 Bold"/>
              </a:rPr>
              <a:t>The Right Subtree contains only nodes with keys greater than the parent node.</a:t>
            </a:r>
          </a:p>
        </p:txBody>
      </p:sp>
      <p:sp>
        <p:nvSpPr>
          <p:cNvPr id="9" name="Rectangle 8">
            <a:extLst>
              <a:ext uri="{FF2B5EF4-FFF2-40B4-BE49-F238E27FC236}">
                <a16:creationId xmlns:a16="http://schemas.microsoft.com/office/drawing/2014/main" id="{453A0639-2C94-58DB-7BD0-71E6B0CFF2C3}"/>
              </a:ext>
            </a:extLst>
          </p:cNvPr>
          <p:cNvSpPr/>
          <p:nvPr/>
        </p:nvSpPr>
        <p:spPr>
          <a:xfrm>
            <a:off x="8849235" y="4381500"/>
            <a:ext cx="8363569" cy="67655"/>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2" name="Picture 1">
            <a:extLst>
              <a:ext uri="{FF2B5EF4-FFF2-40B4-BE49-F238E27FC236}">
                <a16:creationId xmlns:a16="http://schemas.microsoft.com/office/drawing/2014/main" id="{2D43B905-99F1-6167-BEEB-6C24DDDE3B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1647254"/>
            <a:ext cx="11269634" cy="8449245"/>
          </a:xfrm>
          <a:prstGeom prst="rect">
            <a:avLst/>
          </a:prstGeom>
        </p:spPr>
      </p:pic>
    </p:spTree>
    <p:extLst>
      <p:ext uri="{BB962C8B-B14F-4D97-AF65-F5344CB8AC3E}">
        <p14:creationId xmlns:p14="http://schemas.microsoft.com/office/powerpoint/2010/main" val="23815615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BDE4305-5391-2BD4-0B57-01C4703562E0}"/>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6723C071-F396-92F6-A150-88A227253C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14527" y="1790002"/>
            <a:ext cx="18701927" cy="14021498"/>
          </a:xfrm>
          <a:prstGeom prst="rect">
            <a:avLst/>
          </a:prstGeom>
        </p:spPr>
      </p:pic>
      <p:sp>
        <p:nvSpPr>
          <p:cNvPr id="3" name="Rectangle 2">
            <a:extLst>
              <a:ext uri="{FF2B5EF4-FFF2-40B4-BE49-F238E27FC236}">
                <a16:creationId xmlns:a16="http://schemas.microsoft.com/office/drawing/2014/main" id="{F2C3090B-1907-C532-D2BA-9B41A4993ADD}"/>
              </a:ext>
            </a:extLst>
          </p:cNvPr>
          <p:cNvSpPr/>
          <p:nvPr/>
        </p:nvSpPr>
        <p:spPr>
          <a:xfrm>
            <a:off x="302787" y="190500"/>
            <a:ext cx="76200" cy="2000932"/>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TextBox 3">
            <a:extLst>
              <a:ext uri="{FF2B5EF4-FFF2-40B4-BE49-F238E27FC236}">
                <a16:creationId xmlns:a16="http://schemas.microsoft.com/office/drawing/2014/main" id="{3A60C348-DFD7-33D8-A895-496936D681C1}"/>
              </a:ext>
            </a:extLst>
          </p:cNvPr>
          <p:cNvSpPr txBox="1"/>
          <p:nvPr/>
        </p:nvSpPr>
        <p:spPr>
          <a:xfrm>
            <a:off x="6934200" y="3314700"/>
            <a:ext cx="8394048" cy="2462213"/>
          </a:xfrm>
          <a:prstGeom prst="rect">
            <a:avLst/>
          </a:prstGeom>
        </p:spPr>
        <p:txBody>
          <a:bodyPr wrap="square" lIns="0" tIns="0" rIns="0" bIns="0" rtlCol="0" anchor="t">
            <a:spAutoFit/>
          </a:bodyPr>
          <a:lstStyle/>
          <a:p>
            <a:pPr marL="457200" indent="-457200">
              <a:spcBef>
                <a:spcPts val="600"/>
              </a:spcBef>
              <a:buFont typeface="Wingdings" panose="05000000000000000000" pitchFamily="2" charset="2"/>
              <a:buChar char="Ø"/>
            </a:pPr>
            <a:r>
              <a:rPr lang="en-US" sz="3200" dirty="0">
                <a:solidFill>
                  <a:srgbClr val="FFF56E"/>
                </a:solidFill>
                <a:latin typeface="Bahnschrift" panose="020B0502040204020203" pitchFamily="34" charset="0"/>
                <a:ea typeface="Heading Now 31-38 Bold"/>
                <a:cs typeface="Heading Now 31-38 Bold"/>
                <a:sym typeface="Heading Now 31-38 Bold"/>
              </a:rPr>
              <a:t>Insertion: Adding a new node to the tree. In a Binary Search Tree (BST), we compare the new value to the root: if it’s smaller, we go left; if larger, we go right. This continues until we find an empty spot.</a:t>
            </a:r>
          </a:p>
        </p:txBody>
      </p:sp>
      <p:sp>
        <p:nvSpPr>
          <p:cNvPr id="10" name="TextBox 3">
            <a:extLst>
              <a:ext uri="{FF2B5EF4-FFF2-40B4-BE49-F238E27FC236}">
                <a16:creationId xmlns:a16="http://schemas.microsoft.com/office/drawing/2014/main" id="{B82DEAAF-28FE-D954-BC1F-85ACD086A682}"/>
              </a:ext>
            </a:extLst>
          </p:cNvPr>
          <p:cNvSpPr txBox="1"/>
          <p:nvPr/>
        </p:nvSpPr>
        <p:spPr>
          <a:xfrm>
            <a:off x="6934200" y="3314700"/>
            <a:ext cx="8394048" cy="2462213"/>
          </a:xfrm>
          <a:prstGeom prst="rect">
            <a:avLst/>
          </a:prstGeom>
        </p:spPr>
        <p:txBody>
          <a:bodyPr wrap="square" lIns="0" tIns="0" rIns="0" bIns="0" rtlCol="0" anchor="t">
            <a:spAutoFit/>
          </a:bodyPr>
          <a:lstStyle/>
          <a:p>
            <a:pPr marL="457200" indent="-457200">
              <a:spcBef>
                <a:spcPts val="600"/>
              </a:spcBef>
              <a:buFont typeface="Wingdings" panose="05000000000000000000" pitchFamily="2" charset="2"/>
              <a:buChar char="Ø"/>
            </a:pPr>
            <a:r>
              <a:rPr lang="en-US" sz="3200" dirty="0">
                <a:solidFill>
                  <a:srgbClr val="FFF56E"/>
                </a:solidFill>
                <a:latin typeface="Bahnschrift" panose="020B0502040204020203" pitchFamily="34" charset="0"/>
                <a:ea typeface="Heading Now 31-38 Bold"/>
                <a:cs typeface="Heading Now 31-38 Bold"/>
                <a:sym typeface="Heading Now 31-38 Bold"/>
              </a:rPr>
              <a:t>Insertion: Adding a new node to the tree. In a Binary Search Tree (BST), we compare the new value to the root: </a:t>
            </a:r>
            <a:r>
              <a:rPr lang="en-US" sz="3200" dirty="0">
                <a:solidFill>
                  <a:srgbClr val="FF0000"/>
                </a:solidFill>
                <a:latin typeface="Bahnschrift" panose="020B0502040204020203" pitchFamily="34" charset="0"/>
                <a:ea typeface="Heading Now 31-38 Bold"/>
                <a:cs typeface="Heading Now 31-38 Bold"/>
                <a:sym typeface="Heading Now 31-38 Bold"/>
              </a:rPr>
              <a:t>if it’s smaller, we </a:t>
            </a:r>
            <a:r>
              <a:rPr lang="en-US" sz="3200" dirty="0">
                <a:solidFill>
                  <a:srgbClr val="FFF56E"/>
                </a:solidFill>
                <a:latin typeface="Bahnschrift" panose="020B0502040204020203" pitchFamily="34" charset="0"/>
                <a:ea typeface="Heading Now 31-38 Bold"/>
                <a:cs typeface="Heading Now 31-38 Bold"/>
                <a:sym typeface="Heading Now 31-38 Bold"/>
              </a:rPr>
              <a:t>go left; if larger, we go right. This continues until we find an empty spot.</a:t>
            </a:r>
          </a:p>
        </p:txBody>
      </p:sp>
      <p:sp>
        <p:nvSpPr>
          <p:cNvPr id="11" name="TextBox 3">
            <a:extLst>
              <a:ext uri="{FF2B5EF4-FFF2-40B4-BE49-F238E27FC236}">
                <a16:creationId xmlns:a16="http://schemas.microsoft.com/office/drawing/2014/main" id="{BBCC722F-90D2-F75C-317F-E3F1C8244C9D}"/>
              </a:ext>
            </a:extLst>
          </p:cNvPr>
          <p:cNvSpPr txBox="1"/>
          <p:nvPr/>
        </p:nvSpPr>
        <p:spPr>
          <a:xfrm>
            <a:off x="6934201" y="3313747"/>
            <a:ext cx="8394048" cy="2462213"/>
          </a:xfrm>
          <a:prstGeom prst="rect">
            <a:avLst/>
          </a:prstGeom>
        </p:spPr>
        <p:txBody>
          <a:bodyPr wrap="square" lIns="0" tIns="0" rIns="0" bIns="0" rtlCol="0" anchor="t">
            <a:spAutoFit/>
          </a:bodyPr>
          <a:lstStyle/>
          <a:p>
            <a:pPr marL="457200" indent="-457200">
              <a:spcBef>
                <a:spcPts val="600"/>
              </a:spcBef>
              <a:buFont typeface="Wingdings" panose="05000000000000000000" pitchFamily="2" charset="2"/>
              <a:buChar char="Ø"/>
            </a:pPr>
            <a:r>
              <a:rPr lang="en-US" sz="3200" dirty="0">
                <a:solidFill>
                  <a:srgbClr val="FFF56E"/>
                </a:solidFill>
                <a:latin typeface="Bahnschrift" panose="020B0502040204020203" pitchFamily="34" charset="0"/>
                <a:ea typeface="Heading Now 31-38 Bold"/>
                <a:cs typeface="Heading Now 31-38 Bold"/>
                <a:sym typeface="Heading Now 31-38 Bold"/>
              </a:rPr>
              <a:t>Insertion: Adding a new node to the tree. In a Binary Search Tree (BST), we compare the new value to the root: </a:t>
            </a:r>
            <a:r>
              <a:rPr lang="en-US" sz="3200" dirty="0">
                <a:solidFill>
                  <a:srgbClr val="FF0000"/>
                </a:solidFill>
                <a:latin typeface="Bahnschrift" panose="020B0502040204020203" pitchFamily="34" charset="0"/>
                <a:ea typeface="Heading Now 31-38 Bold"/>
                <a:cs typeface="Heading Now 31-38 Bold"/>
                <a:sym typeface="Heading Now 31-38 Bold"/>
              </a:rPr>
              <a:t>if it’s smaller, we go left</a:t>
            </a:r>
            <a:r>
              <a:rPr lang="en-US" sz="3200" dirty="0">
                <a:solidFill>
                  <a:srgbClr val="FFF56E"/>
                </a:solidFill>
                <a:latin typeface="Bahnschrift" panose="020B0502040204020203" pitchFamily="34" charset="0"/>
                <a:ea typeface="Heading Now 31-38 Bold"/>
                <a:cs typeface="Heading Now 31-38 Bold"/>
                <a:sym typeface="Heading Now 31-38 Bold"/>
              </a:rPr>
              <a:t>; if larger, we go right. This continues until we find an empty spot.</a:t>
            </a:r>
          </a:p>
        </p:txBody>
      </p:sp>
      <p:sp>
        <p:nvSpPr>
          <p:cNvPr id="12" name="TextBox 3">
            <a:extLst>
              <a:ext uri="{FF2B5EF4-FFF2-40B4-BE49-F238E27FC236}">
                <a16:creationId xmlns:a16="http://schemas.microsoft.com/office/drawing/2014/main" id="{39278518-102C-5CC5-CE66-CFA5001DCF01}"/>
              </a:ext>
            </a:extLst>
          </p:cNvPr>
          <p:cNvSpPr txBox="1"/>
          <p:nvPr/>
        </p:nvSpPr>
        <p:spPr>
          <a:xfrm>
            <a:off x="6934200" y="3315653"/>
            <a:ext cx="8394048" cy="2462213"/>
          </a:xfrm>
          <a:prstGeom prst="rect">
            <a:avLst/>
          </a:prstGeom>
        </p:spPr>
        <p:txBody>
          <a:bodyPr wrap="square" lIns="0" tIns="0" rIns="0" bIns="0" rtlCol="0" anchor="t">
            <a:spAutoFit/>
          </a:bodyPr>
          <a:lstStyle/>
          <a:p>
            <a:pPr marL="457200" indent="-457200">
              <a:spcBef>
                <a:spcPts val="600"/>
              </a:spcBef>
              <a:buFont typeface="Wingdings" panose="05000000000000000000" pitchFamily="2" charset="2"/>
              <a:buChar char="Ø"/>
            </a:pPr>
            <a:r>
              <a:rPr lang="en-US" sz="3200" dirty="0">
                <a:solidFill>
                  <a:srgbClr val="FFF56E"/>
                </a:solidFill>
                <a:latin typeface="Bahnschrift" panose="020B0502040204020203" pitchFamily="34" charset="0"/>
                <a:ea typeface="Heading Now 31-38 Bold"/>
                <a:cs typeface="Heading Now 31-38 Bold"/>
                <a:sym typeface="Heading Now 31-38 Bold"/>
              </a:rPr>
              <a:t>Insertion: Adding a new node to the tree. In a Binary Search Tree (BST), we compare the new value to the root: </a:t>
            </a:r>
            <a:r>
              <a:rPr lang="en-US" sz="3200" dirty="0">
                <a:solidFill>
                  <a:srgbClr val="FF0000"/>
                </a:solidFill>
                <a:latin typeface="Bahnschrift" panose="020B0502040204020203" pitchFamily="34" charset="0"/>
                <a:ea typeface="Heading Now 31-38 Bold"/>
                <a:cs typeface="Heading Now 31-38 Bold"/>
                <a:sym typeface="Heading Now 31-38 Bold"/>
              </a:rPr>
              <a:t>if it’s smaller, we go left</a:t>
            </a:r>
            <a:r>
              <a:rPr lang="en-US" sz="3200" dirty="0">
                <a:solidFill>
                  <a:srgbClr val="FFF56E"/>
                </a:solidFill>
                <a:latin typeface="Bahnschrift" panose="020B0502040204020203" pitchFamily="34" charset="0"/>
                <a:ea typeface="Heading Now 31-38 Bold"/>
                <a:cs typeface="Heading Now 31-38 Bold"/>
                <a:sym typeface="Heading Now 31-38 Bold"/>
              </a:rPr>
              <a:t>; </a:t>
            </a:r>
            <a:r>
              <a:rPr lang="en-US" sz="3200" dirty="0">
                <a:solidFill>
                  <a:srgbClr val="FF0000"/>
                </a:solidFill>
                <a:latin typeface="Bahnschrift" panose="020B0502040204020203" pitchFamily="34" charset="0"/>
                <a:ea typeface="Heading Now 31-38 Bold"/>
                <a:cs typeface="Heading Now 31-38 Bold"/>
                <a:sym typeface="Heading Now 31-38 Bold"/>
              </a:rPr>
              <a:t>if larger, we go right</a:t>
            </a:r>
            <a:r>
              <a:rPr lang="en-US" sz="3200" dirty="0">
                <a:solidFill>
                  <a:srgbClr val="FFF56E"/>
                </a:solidFill>
                <a:latin typeface="Bahnschrift" panose="020B0502040204020203" pitchFamily="34" charset="0"/>
                <a:ea typeface="Heading Now 31-38 Bold"/>
                <a:cs typeface="Heading Now 31-38 Bold"/>
                <a:sym typeface="Heading Now 31-38 Bold"/>
              </a:rPr>
              <a:t>. This continues until we find an empty spot.</a:t>
            </a:r>
          </a:p>
        </p:txBody>
      </p:sp>
      <p:sp>
        <p:nvSpPr>
          <p:cNvPr id="16" name="Arrow: Down 15">
            <a:extLst>
              <a:ext uri="{FF2B5EF4-FFF2-40B4-BE49-F238E27FC236}">
                <a16:creationId xmlns:a16="http://schemas.microsoft.com/office/drawing/2014/main" id="{FEDBE189-9524-06F4-CDDE-71B6BA91F217}"/>
              </a:ext>
            </a:extLst>
          </p:cNvPr>
          <p:cNvSpPr/>
          <p:nvPr/>
        </p:nvSpPr>
        <p:spPr>
          <a:xfrm rot="6300000">
            <a:off x="3341966" y="6144628"/>
            <a:ext cx="990600" cy="199989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7" name="Arrow: Down 16">
            <a:extLst>
              <a:ext uri="{FF2B5EF4-FFF2-40B4-BE49-F238E27FC236}">
                <a16:creationId xmlns:a16="http://schemas.microsoft.com/office/drawing/2014/main" id="{30646F1A-6F33-F8F6-7F79-7D137798E871}"/>
              </a:ext>
            </a:extLst>
          </p:cNvPr>
          <p:cNvSpPr/>
          <p:nvPr/>
        </p:nvSpPr>
        <p:spPr>
          <a:xfrm rot="6300000">
            <a:off x="8371190" y="5825889"/>
            <a:ext cx="990600" cy="199989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8" name="TextBox 17">
            <a:extLst>
              <a:ext uri="{FF2B5EF4-FFF2-40B4-BE49-F238E27FC236}">
                <a16:creationId xmlns:a16="http://schemas.microsoft.com/office/drawing/2014/main" id="{30D73389-DAD5-3874-4ADD-DC9F8F92CD4C}"/>
              </a:ext>
            </a:extLst>
          </p:cNvPr>
          <p:cNvSpPr txBox="1"/>
          <p:nvPr/>
        </p:nvSpPr>
        <p:spPr>
          <a:xfrm>
            <a:off x="502920" y="800100"/>
            <a:ext cx="20271213" cy="1501180"/>
          </a:xfrm>
          <a:prstGeom prst="rect">
            <a:avLst/>
          </a:prstGeom>
        </p:spPr>
        <p:txBody>
          <a:bodyPr wrap="square" lIns="0" tIns="0" rIns="0" bIns="0" rtlCol="0" anchor="t">
            <a:spAutoFit/>
          </a:bodyPr>
          <a:lstStyle/>
          <a:p>
            <a:pPr>
              <a:lnSpc>
                <a:spcPts val="5059"/>
              </a:lnSpc>
            </a:pPr>
            <a:r>
              <a:rPr lang="en-US" sz="11500" b="1" dirty="0">
                <a:solidFill>
                  <a:srgbClr val="FFF56E"/>
                </a:solidFill>
                <a:latin typeface="Heading Now 31-38 Bold"/>
                <a:ea typeface="Heading Now 31-38 Bold"/>
                <a:cs typeface="Heading Now 31-38 Bold"/>
                <a:sym typeface="Heading Now 31-38 Bold"/>
              </a:rPr>
              <a:t>BINARY SEARCH TREE</a:t>
            </a:r>
          </a:p>
          <a:p>
            <a:pPr>
              <a:lnSpc>
                <a:spcPts val="5059"/>
              </a:lnSpc>
            </a:pPr>
            <a:endParaRPr lang="en-US" sz="11500" b="1" dirty="0">
              <a:solidFill>
                <a:srgbClr val="FFF56E"/>
              </a:solidFill>
              <a:latin typeface="Heading Now 31-38 Bold"/>
              <a:ea typeface="Heading Now 31-38 Bold"/>
              <a:cs typeface="Heading Now 31-38 Bold"/>
              <a:sym typeface="Heading Now 31-38 Bold"/>
            </a:endParaRPr>
          </a:p>
        </p:txBody>
      </p:sp>
      <p:sp>
        <p:nvSpPr>
          <p:cNvPr id="19" name="Rectangle 18">
            <a:extLst>
              <a:ext uri="{FF2B5EF4-FFF2-40B4-BE49-F238E27FC236}">
                <a16:creationId xmlns:a16="http://schemas.microsoft.com/office/drawing/2014/main" id="{C8F89B5B-B2AA-722E-4183-BB19B57ACF8C}"/>
              </a:ext>
            </a:extLst>
          </p:cNvPr>
          <p:cNvSpPr/>
          <p:nvPr/>
        </p:nvSpPr>
        <p:spPr>
          <a:xfrm>
            <a:off x="502920" y="1409700"/>
            <a:ext cx="8363569" cy="67655"/>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20" name="TextBox 3">
            <a:extLst>
              <a:ext uri="{FF2B5EF4-FFF2-40B4-BE49-F238E27FC236}">
                <a16:creationId xmlns:a16="http://schemas.microsoft.com/office/drawing/2014/main" id="{337C8F46-7226-CC22-6557-2EFC76A6E748}"/>
              </a:ext>
            </a:extLst>
          </p:cNvPr>
          <p:cNvSpPr txBox="1"/>
          <p:nvPr/>
        </p:nvSpPr>
        <p:spPr>
          <a:xfrm>
            <a:off x="502920" y="1494471"/>
            <a:ext cx="5059679" cy="677108"/>
          </a:xfrm>
          <a:prstGeom prst="rect">
            <a:avLst/>
          </a:prstGeom>
        </p:spPr>
        <p:txBody>
          <a:bodyPr wrap="square" lIns="0" tIns="0" rIns="0" bIns="0" rtlCol="0" anchor="t">
            <a:spAutoFit/>
          </a:bodyPr>
          <a:lstStyle/>
          <a:p>
            <a:pPr>
              <a:spcBef>
                <a:spcPts val="600"/>
              </a:spcBef>
            </a:pPr>
            <a:r>
              <a:rPr lang="en-US" sz="4400" i="1" dirty="0">
                <a:solidFill>
                  <a:srgbClr val="FFF56E"/>
                </a:solidFill>
                <a:latin typeface="Bahnschrift" panose="020B0502040204020203" pitchFamily="34" charset="0"/>
                <a:ea typeface="Heading Now 31-38 Bold"/>
                <a:cs typeface="Heading Now 31-38 Bold"/>
                <a:sym typeface="Heading Now 31-38 Bold"/>
              </a:rPr>
              <a:t>BASIC OPERATIONS</a:t>
            </a:r>
          </a:p>
        </p:txBody>
      </p:sp>
      <p:sp>
        <p:nvSpPr>
          <p:cNvPr id="22" name="Oval 21">
            <a:extLst>
              <a:ext uri="{FF2B5EF4-FFF2-40B4-BE49-F238E27FC236}">
                <a16:creationId xmlns:a16="http://schemas.microsoft.com/office/drawing/2014/main" id="{52408CA0-395C-E4EA-EEBD-A49F2D087DF3}"/>
              </a:ext>
            </a:extLst>
          </p:cNvPr>
          <p:cNvSpPr/>
          <p:nvPr/>
        </p:nvSpPr>
        <p:spPr>
          <a:xfrm>
            <a:off x="3131201" y="2297470"/>
            <a:ext cx="2069449" cy="2093584"/>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30078872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heel(1)">
                                      <p:cBhvr>
                                        <p:cTn id="7" dur="20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left)">
                                      <p:cBhvr>
                                        <p:cTn id="20" dur="5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left)">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6" grpId="0" animBg="1"/>
      <p:bldP spid="17" grpId="0" animBg="1"/>
      <p:bldP spid="2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C0D5D4F-56EE-518B-3CF8-6EE53975D93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EC51EF0-D81C-6453-4DC3-9AE26ACBC742}"/>
              </a:ext>
            </a:extLst>
          </p:cNvPr>
          <p:cNvSpPr/>
          <p:nvPr/>
        </p:nvSpPr>
        <p:spPr>
          <a:xfrm>
            <a:off x="302787" y="190500"/>
            <a:ext cx="76200" cy="2000932"/>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TextBox 3">
            <a:extLst>
              <a:ext uri="{FF2B5EF4-FFF2-40B4-BE49-F238E27FC236}">
                <a16:creationId xmlns:a16="http://schemas.microsoft.com/office/drawing/2014/main" id="{04A1B442-3F02-9478-6755-7865A5A60F4D}"/>
              </a:ext>
            </a:extLst>
          </p:cNvPr>
          <p:cNvSpPr txBox="1"/>
          <p:nvPr/>
        </p:nvSpPr>
        <p:spPr>
          <a:xfrm>
            <a:off x="1017889" y="3162139"/>
            <a:ext cx="15697200" cy="3924151"/>
          </a:xfrm>
          <a:prstGeom prst="rect">
            <a:avLst/>
          </a:prstGeom>
        </p:spPr>
        <p:txBody>
          <a:bodyPr wrap="square" lIns="0" tIns="0" rIns="0" bIns="0" rtlCol="0" anchor="t">
            <a:spAutoFit/>
          </a:bodyPr>
          <a:lstStyle/>
          <a:p>
            <a:pPr marL="571500" indent="-571500">
              <a:spcBef>
                <a:spcPts val="600"/>
              </a:spcBef>
              <a:buFont typeface="Wingdings" panose="05000000000000000000" pitchFamily="2" charset="2"/>
              <a:buChar char="Ø"/>
            </a:pPr>
            <a:r>
              <a:rPr lang="en-US" sz="4000" dirty="0">
                <a:solidFill>
                  <a:srgbClr val="FFF56E"/>
                </a:solidFill>
                <a:latin typeface="Bahnschrift" panose="020B0502040204020203" pitchFamily="34" charset="0"/>
                <a:ea typeface="Heading Now 31-38 Bold"/>
                <a:cs typeface="Heading Now 31-38 Bold"/>
                <a:sym typeface="Heading Now 31-38 Bold"/>
              </a:rPr>
              <a:t>Deletion: Removing a node. This is the trickiest part because you have to "patch" the hole.</a:t>
            </a:r>
          </a:p>
          <a:p>
            <a:pPr marL="1249363" indent="-517525">
              <a:spcBef>
                <a:spcPts val="600"/>
              </a:spcBef>
              <a:buFont typeface="Arial" panose="020B0604020202020204" pitchFamily="34" charset="0"/>
              <a:buChar char="•"/>
            </a:pPr>
            <a:r>
              <a:rPr lang="en-US" sz="4000" dirty="0">
                <a:solidFill>
                  <a:srgbClr val="FFF56E"/>
                </a:solidFill>
                <a:latin typeface="Bahnschrift" panose="020B0502040204020203" pitchFamily="34" charset="0"/>
                <a:ea typeface="Heading Now 31-38 Bold"/>
                <a:cs typeface="Heading Now 31-38 Bold"/>
                <a:sym typeface="Heading Now 31-38 Bold"/>
              </a:rPr>
              <a:t>Leaf node: Just remove it.</a:t>
            </a:r>
          </a:p>
          <a:p>
            <a:pPr marL="1249363" indent="-517525">
              <a:spcBef>
                <a:spcPts val="600"/>
              </a:spcBef>
              <a:buFont typeface="Arial" panose="020B0604020202020204" pitchFamily="34" charset="0"/>
              <a:buChar char="•"/>
            </a:pPr>
            <a:r>
              <a:rPr lang="en-US" sz="4000" dirty="0">
                <a:solidFill>
                  <a:srgbClr val="FFF56E"/>
                </a:solidFill>
                <a:latin typeface="Bahnschrift" panose="020B0502040204020203" pitchFamily="34" charset="0"/>
                <a:ea typeface="Heading Now 31-38 Bold"/>
                <a:cs typeface="Heading Now 31-38 Bold"/>
                <a:sym typeface="Heading Now 31-38 Bold"/>
              </a:rPr>
              <a:t>One child: The child moves up to take the parent's place.</a:t>
            </a:r>
          </a:p>
          <a:p>
            <a:pPr marL="1249363" indent="-517525">
              <a:spcBef>
                <a:spcPts val="600"/>
              </a:spcBef>
              <a:buFont typeface="Arial" panose="020B0604020202020204" pitchFamily="34" charset="0"/>
              <a:buChar char="•"/>
            </a:pPr>
            <a:r>
              <a:rPr lang="en-US" sz="4000" dirty="0">
                <a:solidFill>
                  <a:srgbClr val="FFF56E"/>
                </a:solidFill>
                <a:latin typeface="Bahnschrift" panose="020B0502040204020203" pitchFamily="34" charset="0"/>
                <a:ea typeface="Heading Now 31-38 Bold"/>
                <a:cs typeface="Heading Now 31-38 Bold"/>
                <a:sym typeface="Heading Now 31-38 Bold"/>
              </a:rPr>
              <a:t>Two children: You usually replace the node with its in-order successor (the smallest value in the right subtree).</a:t>
            </a:r>
          </a:p>
        </p:txBody>
      </p:sp>
      <p:sp>
        <p:nvSpPr>
          <p:cNvPr id="7" name="TextBox 6">
            <a:extLst>
              <a:ext uri="{FF2B5EF4-FFF2-40B4-BE49-F238E27FC236}">
                <a16:creationId xmlns:a16="http://schemas.microsoft.com/office/drawing/2014/main" id="{BBB7A7D8-5886-0C4F-1167-0D3537CCF021}"/>
              </a:ext>
            </a:extLst>
          </p:cNvPr>
          <p:cNvSpPr txBox="1"/>
          <p:nvPr/>
        </p:nvSpPr>
        <p:spPr>
          <a:xfrm>
            <a:off x="502920" y="800100"/>
            <a:ext cx="20271213" cy="1501180"/>
          </a:xfrm>
          <a:prstGeom prst="rect">
            <a:avLst/>
          </a:prstGeom>
        </p:spPr>
        <p:txBody>
          <a:bodyPr wrap="square" lIns="0" tIns="0" rIns="0" bIns="0" rtlCol="0" anchor="t">
            <a:spAutoFit/>
          </a:bodyPr>
          <a:lstStyle/>
          <a:p>
            <a:pPr>
              <a:lnSpc>
                <a:spcPts val="5059"/>
              </a:lnSpc>
            </a:pPr>
            <a:r>
              <a:rPr lang="en-US" sz="11500" b="1" dirty="0">
                <a:solidFill>
                  <a:srgbClr val="FFF56E"/>
                </a:solidFill>
                <a:latin typeface="Heading Now 31-38 Bold"/>
                <a:ea typeface="Heading Now 31-38 Bold"/>
                <a:cs typeface="Heading Now 31-38 Bold"/>
                <a:sym typeface="Heading Now 31-38 Bold"/>
              </a:rPr>
              <a:t>BINARY SEARCH TREE</a:t>
            </a:r>
          </a:p>
          <a:p>
            <a:pPr>
              <a:lnSpc>
                <a:spcPts val="5059"/>
              </a:lnSpc>
            </a:pPr>
            <a:endParaRPr lang="en-US" sz="11500" b="1" dirty="0">
              <a:solidFill>
                <a:srgbClr val="FFF56E"/>
              </a:solidFill>
              <a:latin typeface="Heading Now 31-38 Bold"/>
              <a:ea typeface="Heading Now 31-38 Bold"/>
              <a:cs typeface="Heading Now 31-38 Bold"/>
              <a:sym typeface="Heading Now 31-38 Bold"/>
            </a:endParaRPr>
          </a:p>
        </p:txBody>
      </p:sp>
      <p:sp>
        <p:nvSpPr>
          <p:cNvPr id="10" name="Rectangle 9">
            <a:extLst>
              <a:ext uri="{FF2B5EF4-FFF2-40B4-BE49-F238E27FC236}">
                <a16:creationId xmlns:a16="http://schemas.microsoft.com/office/drawing/2014/main" id="{B9098744-CA71-A5ED-6749-75B543EBDBC3}"/>
              </a:ext>
            </a:extLst>
          </p:cNvPr>
          <p:cNvSpPr/>
          <p:nvPr/>
        </p:nvSpPr>
        <p:spPr>
          <a:xfrm>
            <a:off x="502920" y="1409700"/>
            <a:ext cx="8363569" cy="67655"/>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1" name="TextBox 3">
            <a:extLst>
              <a:ext uri="{FF2B5EF4-FFF2-40B4-BE49-F238E27FC236}">
                <a16:creationId xmlns:a16="http://schemas.microsoft.com/office/drawing/2014/main" id="{8FD44A9B-9A40-435C-28FE-E06EB063CD03}"/>
              </a:ext>
            </a:extLst>
          </p:cNvPr>
          <p:cNvSpPr txBox="1"/>
          <p:nvPr/>
        </p:nvSpPr>
        <p:spPr>
          <a:xfrm>
            <a:off x="502920" y="1494471"/>
            <a:ext cx="5059679" cy="677108"/>
          </a:xfrm>
          <a:prstGeom prst="rect">
            <a:avLst/>
          </a:prstGeom>
        </p:spPr>
        <p:txBody>
          <a:bodyPr wrap="square" lIns="0" tIns="0" rIns="0" bIns="0" rtlCol="0" anchor="t">
            <a:spAutoFit/>
          </a:bodyPr>
          <a:lstStyle/>
          <a:p>
            <a:pPr>
              <a:spcBef>
                <a:spcPts val="600"/>
              </a:spcBef>
            </a:pPr>
            <a:r>
              <a:rPr lang="en-US" sz="4400" i="1" dirty="0">
                <a:solidFill>
                  <a:srgbClr val="FFF56E"/>
                </a:solidFill>
                <a:latin typeface="Bahnschrift" panose="020B0502040204020203" pitchFamily="34" charset="0"/>
                <a:ea typeface="Heading Now 31-38 Bold"/>
                <a:cs typeface="Heading Now 31-38 Bold"/>
                <a:sym typeface="Heading Now 31-38 Bold"/>
              </a:rPr>
              <a:t>BASIC OPERATIONS</a:t>
            </a:r>
          </a:p>
        </p:txBody>
      </p:sp>
      <p:pic>
        <p:nvPicPr>
          <p:cNvPr id="12" name="Picture 11">
            <a:extLst>
              <a:ext uri="{FF2B5EF4-FFF2-40B4-BE49-F238E27FC236}">
                <a16:creationId xmlns:a16="http://schemas.microsoft.com/office/drawing/2014/main" id="{0CD6A4C6-5A9E-DD30-DDEE-4ABD194E1D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99708" y="1866551"/>
            <a:ext cx="18701927" cy="14021498"/>
          </a:xfrm>
          <a:prstGeom prst="rect">
            <a:avLst/>
          </a:prstGeom>
        </p:spPr>
      </p:pic>
    </p:spTree>
    <p:extLst>
      <p:ext uri="{BB962C8B-B14F-4D97-AF65-F5344CB8AC3E}">
        <p14:creationId xmlns:p14="http://schemas.microsoft.com/office/powerpoint/2010/main" val="34772304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82C1022-61A0-34F4-7B6A-26069035881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6A67E9D-1390-6206-8F3A-55A1AA25AF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7000" y="-2933700"/>
            <a:ext cx="38530635" cy="28887784"/>
          </a:xfrm>
          <a:prstGeom prst="rect">
            <a:avLst/>
          </a:prstGeom>
        </p:spPr>
      </p:pic>
      <p:sp>
        <p:nvSpPr>
          <p:cNvPr id="3" name="Rectangle 2">
            <a:extLst>
              <a:ext uri="{FF2B5EF4-FFF2-40B4-BE49-F238E27FC236}">
                <a16:creationId xmlns:a16="http://schemas.microsoft.com/office/drawing/2014/main" id="{2AA4DD7C-0491-A285-448F-09D221D34054}"/>
              </a:ext>
            </a:extLst>
          </p:cNvPr>
          <p:cNvSpPr/>
          <p:nvPr/>
        </p:nvSpPr>
        <p:spPr>
          <a:xfrm>
            <a:off x="302787" y="190500"/>
            <a:ext cx="76200" cy="2000932"/>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TextBox 3">
            <a:extLst>
              <a:ext uri="{FF2B5EF4-FFF2-40B4-BE49-F238E27FC236}">
                <a16:creationId xmlns:a16="http://schemas.microsoft.com/office/drawing/2014/main" id="{34A2E8E3-A30F-18BD-657D-E21531D4CFB1}"/>
              </a:ext>
            </a:extLst>
          </p:cNvPr>
          <p:cNvSpPr txBox="1"/>
          <p:nvPr/>
        </p:nvSpPr>
        <p:spPr>
          <a:xfrm>
            <a:off x="1017889" y="2597616"/>
            <a:ext cx="6525911" cy="4616648"/>
          </a:xfrm>
          <a:prstGeom prst="rect">
            <a:avLst/>
          </a:prstGeom>
        </p:spPr>
        <p:txBody>
          <a:bodyPr wrap="square" lIns="0" tIns="0" rIns="0" bIns="0" rtlCol="0" anchor="t">
            <a:spAutoFit/>
          </a:bodyPr>
          <a:lstStyle/>
          <a:p>
            <a:pPr marL="571500" indent="-571500">
              <a:spcBef>
                <a:spcPts val="600"/>
              </a:spcBef>
              <a:buFont typeface="Wingdings" panose="05000000000000000000" pitchFamily="2" charset="2"/>
              <a:buChar char="Ø"/>
            </a:pPr>
            <a:r>
              <a:rPr lang="en-US" sz="4000" dirty="0">
                <a:solidFill>
                  <a:srgbClr val="FFF56E"/>
                </a:solidFill>
                <a:latin typeface="Bahnschrift" panose="020B0502040204020203" pitchFamily="34" charset="0"/>
                <a:ea typeface="Heading Now 31-38 Bold"/>
                <a:cs typeface="Heading Now 31-38 Bold"/>
                <a:sym typeface="Heading Now 31-38 Bold"/>
              </a:rPr>
              <a:t>Traversal: The process of visiting every node in the tree exactly once.</a:t>
            </a:r>
          </a:p>
          <a:p>
            <a:pPr marL="1028700" lvl="1" indent="-571500">
              <a:spcBef>
                <a:spcPts val="600"/>
              </a:spcBef>
              <a:buFont typeface="Wingdings" panose="05000000000000000000" pitchFamily="2" charset="2"/>
              <a:buChar char="§"/>
            </a:pPr>
            <a:r>
              <a:rPr lang="en-US" sz="4000" dirty="0">
                <a:solidFill>
                  <a:srgbClr val="FFF56E"/>
                </a:solidFill>
                <a:latin typeface="Bahnschrift" panose="020B0502040204020203" pitchFamily="34" charset="0"/>
                <a:ea typeface="Heading Now 31-38 Bold"/>
                <a:cs typeface="Heading Now 31-38 Bold"/>
                <a:sym typeface="Heading Now 31-38 Bold"/>
              </a:rPr>
              <a:t>Pre-Order</a:t>
            </a:r>
          </a:p>
          <a:p>
            <a:pPr marL="1028700" lvl="1" indent="-571500">
              <a:spcBef>
                <a:spcPts val="600"/>
              </a:spcBef>
              <a:buFont typeface="Wingdings" panose="05000000000000000000" pitchFamily="2" charset="2"/>
              <a:buChar char="§"/>
            </a:pPr>
            <a:r>
              <a:rPr lang="en-US" sz="4000" dirty="0">
                <a:solidFill>
                  <a:srgbClr val="FFF56E"/>
                </a:solidFill>
                <a:latin typeface="Bahnschrift" panose="020B0502040204020203" pitchFamily="34" charset="0"/>
                <a:ea typeface="Heading Now 31-38 Bold"/>
                <a:cs typeface="Heading Now 31-38 Bold"/>
                <a:sym typeface="Heading Now 31-38 Bold"/>
              </a:rPr>
              <a:t>In-Order</a:t>
            </a:r>
          </a:p>
          <a:p>
            <a:pPr marL="1028700" lvl="1" indent="-571500">
              <a:spcBef>
                <a:spcPts val="600"/>
              </a:spcBef>
              <a:buFont typeface="Wingdings" panose="05000000000000000000" pitchFamily="2" charset="2"/>
              <a:buChar char="§"/>
            </a:pPr>
            <a:r>
              <a:rPr lang="en-US" sz="4000" dirty="0">
                <a:solidFill>
                  <a:srgbClr val="FFF56E"/>
                </a:solidFill>
                <a:latin typeface="Bahnschrift" panose="020B0502040204020203" pitchFamily="34" charset="0"/>
                <a:ea typeface="Heading Now 31-38 Bold"/>
                <a:cs typeface="Heading Now 31-38 Bold"/>
                <a:sym typeface="Heading Now 31-38 Bold"/>
              </a:rPr>
              <a:t>Post-Order</a:t>
            </a:r>
          </a:p>
          <a:p>
            <a:pPr marL="1028700" lvl="1" indent="-571500">
              <a:spcBef>
                <a:spcPts val="600"/>
              </a:spcBef>
              <a:buFont typeface="Wingdings" panose="05000000000000000000" pitchFamily="2" charset="2"/>
              <a:buChar char="§"/>
            </a:pPr>
            <a:r>
              <a:rPr lang="en-US" sz="4000" dirty="0">
                <a:solidFill>
                  <a:srgbClr val="FFF56E"/>
                </a:solidFill>
                <a:latin typeface="Bahnschrift" panose="020B0502040204020203" pitchFamily="34" charset="0"/>
                <a:ea typeface="Heading Now 31-38 Bold"/>
                <a:cs typeface="Heading Now 31-38 Bold"/>
                <a:sym typeface="Heading Now 31-38 Bold"/>
              </a:rPr>
              <a:t>Level-Order</a:t>
            </a:r>
          </a:p>
        </p:txBody>
      </p:sp>
      <p:sp>
        <p:nvSpPr>
          <p:cNvPr id="7" name="TextBox 6">
            <a:extLst>
              <a:ext uri="{FF2B5EF4-FFF2-40B4-BE49-F238E27FC236}">
                <a16:creationId xmlns:a16="http://schemas.microsoft.com/office/drawing/2014/main" id="{33D81AAB-8CD2-D90A-E3FC-6FA0323691FF}"/>
              </a:ext>
            </a:extLst>
          </p:cNvPr>
          <p:cNvSpPr txBox="1"/>
          <p:nvPr/>
        </p:nvSpPr>
        <p:spPr>
          <a:xfrm>
            <a:off x="502920" y="800100"/>
            <a:ext cx="20271213" cy="1501180"/>
          </a:xfrm>
          <a:prstGeom prst="rect">
            <a:avLst/>
          </a:prstGeom>
        </p:spPr>
        <p:txBody>
          <a:bodyPr wrap="square" lIns="0" tIns="0" rIns="0" bIns="0" rtlCol="0" anchor="t">
            <a:spAutoFit/>
          </a:bodyPr>
          <a:lstStyle/>
          <a:p>
            <a:pPr>
              <a:lnSpc>
                <a:spcPts val="5059"/>
              </a:lnSpc>
            </a:pPr>
            <a:r>
              <a:rPr lang="en-US" sz="11500" b="1" dirty="0">
                <a:solidFill>
                  <a:srgbClr val="FFF56E"/>
                </a:solidFill>
                <a:latin typeface="Heading Now 31-38 Bold"/>
                <a:ea typeface="Heading Now 31-38 Bold"/>
                <a:cs typeface="Heading Now 31-38 Bold"/>
                <a:sym typeface="Heading Now 31-38 Bold"/>
              </a:rPr>
              <a:t>BINARY SEARCH TREE</a:t>
            </a:r>
          </a:p>
          <a:p>
            <a:pPr>
              <a:lnSpc>
                <a:spcPts val="5059"/>
              </a:lnSpc>
            </a:pPr>
            <a:endParaRPr lang="en-US" sz="11500" b="1" dirty="0">
              <a:solidFill>
                <a:srgbClr val="FFF56E"/>
              </a:solidFill>
              <a:latin typeface="Heading Now 31-38 Bold"/>
              <a:ea typeface="Heading Now 31-38 Bold"/>
              <a:cs typeface="Heading Now 31-38 Bold"/>
              <a:sym typeface="Heading Now 31-38 Bold"/>
            </a:endParaRPr>
          </a:p>
        </p:txBody>
      </p:sp>
      <p:sp>
        <p:nvSpPr>
          <p:cNvPr id="10" name="Rectangle 9">
            <a:extLst>
              <a:ext uri="{FF2B5EF4-FFF2-40B4-BE49-F238E27FC236}">
                <a16:creationId xmlns:a16="http://schemas.microsoft.com/office/drawing/2014/main" id="{CA49B83C-4CCA-D852-1DF3-F5B41956F630}"/>
              </a:ext>
            </a:extLst>
          </p:cNvPr>
          <p:cNvSpPr/>
          <p:nvPr/>
        </p:nvSpPr>
        <p:spPr>
          <a:xfrm>
            <a:off x="502920" y="1409700"/>
            <a:ext cx="8363569" cy="67655"/>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1" name="TextBox 3">
            <a:extLst>
              <a:ext uri="{FF2B5EF4-FFF2-40B4-BE49-F238E27FC236}">
                <a16:creationId xmlns:a16="http://schemas.microsoft.com/office/drawing/2014/main" id="{649BA18D-5835-F2EE-52A4-F248F302E13C}"/>
              </a:ext>
            </a:extLst>
          </p:cNvPr>
          <p:cNvSpPr txBox="1"/>
          <p:nvPr/>
        </p:nvSpPr>
        <p:spPr>
          <a:xfrm>
            <a:off x="502920" y="1494471"/>
            <a:ext cx="5059679" cy="677108"/>
          </a:xfrm>
          <a:prstGeom prst="rect">
            <a:avLst/>
          </a:prstGeom>
        </p:spPr>
        <p:txBody>
          <a:bodyPr wrap="square" lIns="0" tIns="0" rIns="0" bIns="0" rtlCol="0" anchor="t">
            <a:spAutoFit/>
          </a:bodyPr>
          <a:lstStyle/>
          <a:p>
            <a:pPr>
              <a:spcBef>
                <a:spcPts val="600"/>
              </a:spcBef>
            </a:pPr>
            <a:r>
              <a:rPr lang="en-US" sz="4400" i="1" dirty="0">
                <a:solidFill>
                  <a:srgbClr val="FFF56E"/>
                </a:solidFill>
                <a:latin typeface="Bahnschrift" panose="020B0502040204020203" pitchFamily="34" charset="0"/>
                <a:ea typeface="Heading Now 31-38 Bold"/>
                <a:cs typeface="Heading Now 31-38 Bold"/>
                <a:sym typeface="Heading Now 31-38 Bold"/>
              </a:rPr>
              <a:t>BASIC OPERATIONS</a:t>
            </a:r>
          </a:p>
        </p:txBody>
      </p:sp>
    </p:spTree>
    <p:extLst>
      <p:ext uri="{BB962C8B-B14F-4D97-AF65-F5344CB8AC3E}">
        <p14:creationId xmlns:p14="http://schemas.microsoft.com/office/powerpoint/2010/main" val="5853180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fade">
                                      <p:cBhvr>
                                        <p:cTn id="27"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07A756A-25E8-3832-2361-EAEB27A4CD7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2655223-3CC4-0BB5-4D20-A81A43A2772E}"/>
              </a:ext>
            </a:extLst>
          </p:cNvPr>
          <p:cNvSpPr/>
          <p:nvPr/>
        </p:nvSpPr>
        <p:spPr>
          <a:xfrm>
            <a:off x="302787" y="190500"/>
            <a:ext cx="76200" cy="2000932"/>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8" name="TextBox 3">
            <a:extLst>
              <a:ext uri="{FF2B5EF4-FFF2-40B4-BE49-F238E27FC236}">
                <a16:creationId xmlns:a16="http://schemas.microsoft.com/office/drawing/2014/main" id="{E3105C1F-F161-16FE-B910-8826CE018625}"/>
              </a:ext>
            </a:extLst>
          </p:cNvPr>
          <p:cNvSpPr txBox="1"/>
          <p:nvPr/>
        </p:nvSpPr>
        <p:spPr>
          <a:xfrm>
            <a:off x="502920" y="2910880"/>
            <a:ext cx="6525911" cy="6001643"/>
          </a:xfrm>
          <a:prstGeom prst="rect">
            <a:avLst/>
          </a:prstGeom>
        </p:spPr>
        <p:txBody>
          <a:bodyPr wrap="square" lIns="0" tIns="0" rIns="0" bIns="0" rtlCol="0" anchor="t">
            <a:spAutoFit/>
          </a:bodyPr>
          <a:lstStyle/>
          <a:p>
            <a:pPr lvl="1">
              <a:spcBef>
                <a:spcPts val="600"/>
              </a:spcBef>
            </a:pPr>
            <a:r>
              <a:rPr lang="en-US" sz="4000" dirty="0">
                <a:solidFill>
                  <a:srgbClr val="FFF56E"/>
                </a:solidFill>
                <a:latin typeface="Bahnschrift" panose="020B0502040204020203" pitchFamily="34" charset="0"/>
                <a:ea typeface="Heading Now 31-38 Bold"/>
                <a:cs typeface="Heading Now 31-38 Bold"/>
                <a:sym typeface="Heading Now 31-38 Bold"/>
              </a:rPr>
              <a:t>Assignment:</a:t>
            </a:r>
          </a:p>
          <a:p>
            <a:pPr lvl="1">
              <a:spcBef>
                <a:spcPts val="600"/>
              </a:spcBef>
            </a:pPr>
            <a:r>
              <a:rPr lang="en-US" sz="4000" dirty="0">
                <a:solidFill>
                  <a:srgbClr val="FFF56E"/>
                </a:solidFill>
                <a:latin typeface="Bahnschrift" panose="020B0502040204020203" pitchFamily="34" charset="0"/>
                <a:ea typeface="Heading Now 31-38 Bold"/>
                <a:cs typeface="Heading Now 31-38 Bold"/>
                <a:sym typeface="Heading Now 31-38 Bold"/>
              </a:rPr>
              <a:t>List the nodes in the order they are visited for each of these traversals:</a:t>
            </a:r>
          </a:p>
          <a:p>
            <a:pPr marL="1028700" lvl="1" indent="-571500">
              <a:spcBef>
                <a:spcPts val="600"/>
              </a:spcBef>
              <a:buFont typeface="Wingdings" panose="05000000000000000000" pitchFamily="2" charset="2"/>
              <a:buChar char="§"/>
            </a:pPr>
            <a:r>
              <a:rPr lang="en-US" sz="4000" dirty="0">
                <a:solidFill>
                  <a:srgbClr val="FFF56E"/>
                </a:solidFill>
                <a:latin typeface="Bahnschrift" panose="020B0502040204020203" pitchFamily="34" charset="0"/>
                <a:ea typeface="Heading Now 31-38 Bold"/>
                <a:cs typeface="Heading Now 31-38 Bold"/>
                <a:sym typeface="Heading Now 31-38 Bold"/>
              </a:rPr>
              <a:t>In-Order</a:t>
            </a:r>
          </a:p>
          <a:p>
            <a:pPr marL="1028700" lvl="1" indent="-571500">
              <a:spcBef>
                <a:spcPts val="600"/>
              </a:spcBef>
              <a:buFont typeface="Wingdings" panose="05000000000000000000" pitchFamily="2" charset="2"/>
              <a:buChar char="§"/>
            </a:pPr>
            <a:r>
              <a:rPr lang="en-US" sz="4000" dirty="0">
                <a:solidFill>
                  <a:srgbClr val="FFF56E"/>
                </a:solidFill>
                <a:latin typeface="Bahnschrift" panose="020B0502040204020203" pitchFamily="34" charset="0"/>
                <a:ea typeface="Heading Now 31-38 Bold"/>
                <a:cs typeface="Heading Now 31-38 Bold"/>
                <a:sym typeface="Heading Now 31-38 Bold"/>
              </a:rPr>
              <a:t>Pre-Order</a:t>
            </a:r>
          </a:p>
          <a:p>
            <a:pPr marL="1028700" lvl="1" indent="-571500">
              <a:spcBef>
                <a:spcPts val="600"/>
              </a:spcBef>
              <a:buFont typeface="Wingdings" panose="05000000000000000000" pitchFamily="2" charset="2"/>
              <a:buChar char="§"/>
            </a:pPr>
            <a:r>
              <a:rPr lang="en-US" sz="4000" dirty="0">
                <a:solidFill>
                  <a:srgbClr val="FFF56E"/>
                </a:solidFill>
                <a:latin typeface="Bahnschrift" panose="020B0502040204020203" pitchFamily="34" charset="0"/>
                <a:ea typeface="Heading Now 31-38 Bold"/>
                <a:cs typeface="Heading Now 31-38 Bold"/>
                <a:sym typeface="Heading Now 31-38 Bold"/>
              </a:rPr>
              <a:t>Post-Order</a:t>
            </a:r>
          </a:p>
          <a:p>
            <a:pPr marL="1028700" lvl="1" indent="-571500">
              <a:spcBef>
                <a:spcPts val="600"/>
              </a:spcBef>
              <a:buFont typeface="Wingdings" panose="05000000000000000000" pitchFamily="2" charset="2"/>
              <a:buChar char="§"/>
            </a:pPr>
            <a:r>
              <a:rPr lang="en-US" sz="4000" dirty="0">
                <a:solidFill>
                  <a:srgbClr val="FFF56E"/>
                </a:solidFill>
                <a:latin typeface="Bahnschrift" panose="020B0502040204020203" pitchFamily="34" charset="0"/>
                <a:ea typeface="Heading Now 31-38 Bold"/>
                <a:cs typeface="Heading Now 31-38 Bold"/>
                <a:sym typeface="Heading Now 31-38 Bold"/>
              </a:rPr>
              <a:t>Level-Order</a:t>
            </a:r>
          </a:p>
          <a:p>
            <a:pPr lvl="1">
              <a:spcBef>
                <a:spcPts val="600"/>
              </a:spcBef>
            </a:pPr>
            <a:endParaRPr lang="en-US" sz="4000" dirty="0">
              <a:solidFill>
                <a:srgbClr val="FFF56E"/>
              </a:solidFill>
              <a:latin typeface="Bahnschrift" panose="020B0502040204020203" pitchFamily="34" charset="0"/>
              <a:ea typeface="Heading Now 31-38 Bold"/>
              <a:cs typeface="Heading Now 31-38 Bold"/>
              <a:sym typeface="Heading Now 31-38 Bold"/>
            </a:endParaRPr>
          </a:p>
        </p:txBody>
      </p:sp>
      <p:sp>
        <p:nvSpPr>
          <p:cNvPr id="7" name="TextBox 6">
            <a:extLst>
              <a:ext uri="{FF2B5EF4-FFF2-40B4-BE49-F238E27FC236}">
                <a16:creationId xmlns:a16="http://schemas.microsoft.com/office/drawing/2014/main" id="{69763FBF-4107-2B2C-39E5-9BBD73597162}"/>
              </a:ext>
            </a:extLst>
          </p:cNvPr>
          <p:cNvSpPr txBox="1"/>
          <p:nvPr/>
        </p:nvSpPr>
        <p:spPr>
          <a:xfrm>
            <a:off x="502920" y="800100"/>
            <a:ext cx="20271213" cy="1501180"/>
          </a:xfrm>
          <a:prstGeom prst="rect">
            <a:avLst/>
          </a:prstGeom>
        </p:spPr>
        <p:txBody>
          <a:bodyPr wrap="square" lIns="0" tIns="0" rIns="0" bIns="0" rtlCol="0" anchor="t">
            <a:spAutoFit/>
          </a:bodyPr>
          <a:lstStyle/>
          <a:p>
            <a:pPr>
              <a:lnSpc>
                <a:spcPts val="5059"/>
              </a:lnSpc>
            </a:pPr>
            <a:r>
              <a:rPr lang="en-US" sz="11500" b="1" dirty="0">
                <a:solidFill>
                  <a:srgbClr val="FFF56E"/>
                </a:solidFill>
                <a:latin typeface="Heading Now 31-38 Bold"/>
                <a:ea typeface="Heading Now 31-38 Bold"/>
                <a:cs typeface="Heading Now 31-38 Bold"/>
                <a:sym typeface="Heading Now 31-38 Bold"/>
              </a:rPr>
              <a:t>BINARY SEARCH TREE</a:t>
            </a:r>
          </a:p>
          <a:p>
            <a:pPr>
              <a:lnSpc>
                <a:spcPts val="5059"/>
              </a:lnSpc>
            </a:pPr>
            <a:endParaRPr lang="en-US" sz="11500" b="1" dirty="0">
              <a:solidFill>
                <a:srgbClr val="FFF56E"/>
              </a:solidFill>
              <a:latin typeface="Heading Now 31-38 Bold"/>
              <a:ea typeface="Heading Now 31-38 Bold"/>
              <a:cs typeface="Heading Now 31-38 Bold"/>
              <a:sym typeface="Heading Now 31-38 Bold"/>
            </a:endParaRPr>
          </a:p>
        </p:txBody>
      </p:sp>
      <p:sp>
        <p:nvSpPr>
          <p:cNvPr id="10" name="Rectangle 9">
            <a:extLst>
              <a:ext uri="{FF2B5EF4-FFF2-40B4-BE49-F238E27FC236}">
                <a16:creationId xmlns:a16="http://schemas.microsoft.com/office/drawing/2014/main" id="{CD3BF3E0-A396-72D6-3348-250FF2E1B710}"/>
              </a:ext>
            </a:extLst>
          </p:cNvPr>
          <p:cNvSpPr/>
          <p:nvPr/>
        </p:nvSpPr>
        <p:spPr>
          <a:xfrm>
            <a:off x="502920" y="1409700"/>
            <a:ext cx="8363569" cy="67655"/>
          </a:xfrm>
          <a:prstGeom prst="rect">
            <a:avLst/>
          </a:prstGeom>
          <a:solidFill>
            <a:srgbClr val="FFF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1" name="TextBox 3">
            <a:extLst>
              <a:ext uri="{FF2B5EF4-FFF2-40B4-BE49-F238E27FC236}">
                <a16:creationId xmlns:a16="http://schemas.microsoft.com/office/drawing/2014/main" id="{B03CB01B-4EEE-CB24-2DE1-4A8E0F2BBCA8}"/>
              </a:ext>
            </a:extLst>
          </p:cNvPr>
          <p:cNvSpPr txBox="1"/>
          <p:nvPr/>
        </p:nvSpPr>
        <p:spPr>
          <a:xfrm>
            <a:off x="502920" y="1494471"/>
            <a:ext cx="5059679" cy="677108"/>
          </a:xfrm>
          <a:prstGeom prst="rect">
            <a:avLst/>
          </a:prstGeom>
        </p:spPr>
        <p:txBody>
          <a:bodyPr wrap="square" lIns="0" tIns="0" rIns="0" bIns="0" rtlCol="0" anchor="t">
            <a:spAutoFit/>
          </a:bodyPr>
          <a:lstStyle/>
          <a:p>
            <a:pPr>
              <a:spcBef>
                <a:spcPts val="600"/>
              </a:spcBef>
            </a:pPr>
            <a:r>
              <a:rPr lang="en-US" sz="4400" i="1" dirty="0">
                <a:solidFill>
                  <a:srgbClr val="FFF56E"/>
                </a:solidFill>
                <a:latin typeface="Bahnschrift" panose="020B0502040204020203" pitchFamily="34" charset="0"/>
                <a:ea typeface="Heading Now 31-38 Bold"/>
                <a:cs typeface="Heading Now 31-38 Bold"/>
                <a:sym typeface="Heading Now 31-38 Bold"/>
              </a:rPr>
              <a:t>BASIC OPERATIONS</a:t>
            </a:r>
          </a:p>
        </p:txBody>
      </p:sp>
      <p:pic>
        <p:nvPicPr>
          <p:cNvPr id="2" name="Picture 1">
            <a:extLst>
              <a:ext uri="{FF2B5EF4-FFF2-40B4-BE49-F238E27FC236}">
                <a16:creationId xmlns:a16="http://schemas.microsoft.com/office/drawing/2014/main" id="{A226E5CB-7594-D712-4532-7245B66B1A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7800" y="76200"/>
            <a:ext cx="13517567" cy="10134600"/>
          </a:xfrm>
          <a:prstGeom prst="rect">
            <a:avLst/>
          </a:prstGeom>
        </p:spPr>
      </p:pic>
    </p:spTree>
    <p:extLst>
      <p:ext uri="{BB962C8B-B14F-4D97-AF65-F5344CB8AC3E}">
        <p14:creationId xmlns:p14="http://schemas.microsoft.com/office/powerpoint/2010/main" val="9619541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500"/>
                                        <p:tgtEl>
                                          <p:spTgt spid="8">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500"/>
                                        <p:tgtEl>
                                          <p:spTgt spid="8">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xEl>
                                              <p:pRg st="3" end="3"/>
                                            </p:txEl>
                                          </p:spTgt>
                                        </p:tgtEl>
                                        <p:attrNameLst>
                                          <p:attrName>style.visibility</p:attrName>
                                        </p:attrNameLst>
                                      </p:cBhvr>
                                      <p:to>
                                        <p:strVal val="visible"/>
                                      </p:to>
                                    </p:set>
                                    <p:animEffect transition="in" filter="fade">
                                      <p:cBhvr>
                                        <p:cTn id="16" dur="500"/>
                                        <p:tgtEl>
                                          <p:spTgt spid="8">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Effect transition="in" filter="fade">
                                      <p:cBhvr>
                                        <p:cTn id="19" dur="500"/>
                                        <p:tgtEl>
                                          <p:spTgt spid="8">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xEl>
                                              <p:pRg st="5" end="5"/>
                                            </p:txEl>
                                          </p:spTgt>
                                        </p:tgtEl>
                                        <p:attrNameLst>
                                          <p:attrName>style.visibility</p:attrName>
                                        </p:attrNameLst>
                                      </p:cBhvr>
                                      <p:to>
                                        <p:strVal val="visible"/>
                                      </p:to>
                                    </p:set>
                                    <p:animEffect transition="in" filter="fade">
                                      <p:cBhvr>
                                        <p:cTn id="22"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5809</TotalTime>
  <Words>3386</Words>
  <Application>Microsoft Office PowerPoint</Application>
  <PresentationFormat>Custom</PresentationFormat>
  <Paragraphs>263</Paragraphs>
  <Slides>47</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47</vt:i4>
      </vt:variant>
    </vt:vector>
  </HeadingPairs>
  <TitlesOfParts>
    <vt:vector size="56" baseType="lpstr">
      <vt:lpstr>Arial</vt:lpstr>
      <vt:lpstr>Calibri</vt:lpstr>
      <vt:lpstr>Wingdings</vt:lpstr>
      <vt:lpstr>Cambria Math</vt:lpstr>
      <vt:lpstr>Heading Now 31-38 Bold</vt:lpstr>
      <vt:lpstr>Aptos</vt:lpstr>
      <vt:lpstr>Courier New</vt:lpstr>
      <vt:lpstr>Bahnschrift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Algorithms &amp; Complexity</dc:title>
  <cp:lastModifiedBy>Arvin Louise Biasbas</cp:lastModifiedBy>
  <cp:revision>63</cp:revision>
  <dcterms:created xsi:type="dcterms:W3CDTF">2006-08-16T00:00:00Z</dcterms:created>
  <dcterms:modified xsi:type="dcterms:W3CDTF">2026-02-06T02:27:33Z</dcterms:modified>
  <dc:identifier>DAG_yNh5B18</dc:identifier>
</cp:coreProperties>
</file>